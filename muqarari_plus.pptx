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0" r:id="rId3"/>
    <p:sldId id="257" r:id="rId4"/>
    <p:sldId id="258" r:id="rId5"/>
    <p:sldId id="271" r:id="rId6"/>
    <p:sldId id="259" r:id="rId7"/>
    <p:sldId id="260" r:id="rId8"/>
    <p:sldId id="273" r:id="rId9"/>
    <p:sldId id="261" r:id="rId10"/>
    <p:sldId id="262" r:id="rId11"/>
    <p:sldId id="263" r:id="rId12"/>
    <p:sldId id="264" r:id="rId13"/>
    <p:sldId id="265" r:id="rId14"/>
    <p:sldId id="266" r:id="rId15"/>
    <p:sldId id="269" r:id="rId16"/>
    <p:sldId id="274"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77"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826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EECC-E62A-8D37-D724-345D309E7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E4151-34B7-99B7-41B8-2D77793E2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6F566-BC8D-A0AE-67F2-B30DBF9CAD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28E7AB-9ACD-ED08-B05A-54450EE4236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43353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0BA6A-F420-09E8-183B-C86B6FCDB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8B3A5-D1EE-6CE8-3E40-60F928F77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1E81C-7B78-3D75-0107-4A9DA5D86D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3315D2-D560-5C36-4042-C34ACD21ABB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10253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B72B1-E1FF-E241-4B85-04BAD8FCE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C1D8F-CF72-B391-76DA-D86CA44A3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43B19-F19D-550A-CEC6-7A66CB0D2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A666B-E7AF-34B1-0EFC-FA705DF0A5C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05031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58B8-1DD4-0BFA-0B5E-AE091306A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99A07-DFCC-6767-8166-A2884AB1B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E7094-CC65-6CC4-DA4B-5B798CE49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DDEAAB-147E-7317-9B70-EA924525CDB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43458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6565"/>
            <a:ext cx="9144000" cy="73152"/>
          </a:xfrm>
          <a:prstGeom prst="rect">
            <a:avLst/>
          </a:prstGeom>
          <a:solidFill>
            <a:srgbClr val="00B4D8"/>
          </a:solidFill>
          <a:ln w="12700">
            <a:solidFill>
              <a:srgbClr val="00B4D8"/>
            </a:solidFill>
            <a:prstDash val="solid"/>
          </a:ln>
        </p:spPr>
        <p:txBody>
          <a:bodyPr/>
          <a:lstStyle/>
          <a:p>
            <a:endParaRPr lang="ar-SA">
              <a:latin typeface="Montserrat-Arabic" panose="00000500000000000000" pitchFamily="2" charset="-78"/>
              <a:cs typeface="Montserrat-Arabic" panose="00000500000000000000" pitchFamily="2" charset="-78"/>
            </a:endParaRPr>
          </a:p>
        </p:txBody>
      </p:sp>
      <p:sp>
        <p:nvSpPr>
          <p:cNvPr id="3" name="Text 1"/>
          <p:cNvSpPr/>
          <p:nvPr/>
        </p:nvSpPr>
        <p:spPr>
          <a:xfrm>
            <a:off x="457200" y="843827"/>
            <a:ext cx="8229600" cy="960120"/>
          </a:xfrm>
          <a:prstGeom prst="rect">
            <a:avLst/>
          </a:prstGeom>
          <a:noFill/>
          <a:ln/>
        </p:spPr>
        <p:txBody>
          <a:bodyPr wrap="square" lIns="0" tIns="0" rIns="0" bIns="0" rtlCol="0" anchor="ctr"/>
          <a:lstStyle/>
          <a:p>
            <a:pPr marL="0" indent="0" algn="ctr" rtl="1">
              <a:buNone/>
            </a:pPr>
            <a:r>
              <a:rPr lang="en-US" sz="5200" b="1" dirty="0">
                <a:solidFill>
                  <a:srgbClr val="FFFFFF"/>
                </a:solidFill>
                <a:latin typeface="Montserrat-Arabic" panose="00000500000000000000" pitchFamily="2" charset="-78"/>
                <a:ea typeface="Arial" pitchFamily="34" charset="-122"/>
                <a:cs typeface="Montserrat-Arabic" panose="00000500000000000000" pitchFamily="2" charset="-78"/>
              </a:rPr>
              <a:t>لماذا أدرس هذا المقرر؟</a:t>
            </a:r>
            <a:endParaRPr lang="en-US" sz="5200" dirty="0">
              <a:latin typeface="Montserrat-Arabic" panose="00000500000000000000" pitchFamily="2" charset="-78"/>
              <a:cs typeface="Montserrat-Arabic" panose="00000500000000000000" pitchFamily="2" charset="-78"/>
            </a:endParaRPr>
          </a:p>
        </p:txBody>
      </p:sp>
      <p:sp>
        <p:nvSpPr>
          <p:cNvPr id="4" name="Text 2"/>
          <p:cNvSpPr/>
          <p:nvPr/>
        </p:nvSpPr>
        <p:spPr>
          <a:xfrm>
            <a:off x="457200" y="1803947"/>
            <a:ext cx="8229600" cy="749808"/>
          </a:xfrm>
          <a:prstGeom prst="rect">
            <a:avLst/>
          </a:prstGeom>
          <a:noFill/>
          <a:ln/>
        </p:spPr>
        <p:txBody>
          <a:bodyPr wrap="square" lIns="0" tIns="0" rIns="0" bIns="0" rtlCol="0" anchor="ctr"/>
          <a:lstStyle/>
          <a:p>
            <a:pPr marL="0" indent="0" algn="ctr" rtl="1">
              <a:buNone/>
            </a:pPr>
            <a:r>
              <a:rPr lang="en-US" sz="4200" b="1" dirty="0">
                <a:solidFill>
                  <a:srgbClr val="00B4D8"/>
                </a:solidFill>
                <a:latin typeface="Montserrat-Arabic" panose="00000500000000000000" pitchFamily="2" charset="-78"/>
                <a:ea typeface="Arial" pitchFamily="34" charset="-122"/>
                <a:cs typeface="Montserrat-Arabic" panose="00000500000000000000" pitchFamily="2" charset="-78"/>
              </a:rPr>
              <a:t>وكيف سيفيدني في وظيفتي؟</a:t>
            </a:r>
            <a:endParaRPr lang="en-US" sz="4200" dirty="0">
              <a:latin typeface="Montserrat-Arabic" panose="00000500000000000000" pitchFamily="2" charset="-78"/>
              <a:cs typeface="Montserrat-Arabic" panose="00000500000000000000" pitchFamily="2" charset="-78"/>
            </a:endParaRPr>
          </a:p>
        </p:txBody>
      </p:sp>
      <p:sp>
        <p:nvSpPr>
          <p:cNvPr id="5" name="Shape 3"/>
          <p:cNvSpPr/>
          <p:nvPr/>
        </p:nvSpPr>
        <p:spPr>
          <a:xfrm>
            <a:off x="3749040" y="2663483"/>
            <a:ext cx="1645920" cy="50292"/>
          </a:xfrm>
          <a:prstGeom prst="rect">
            <a:avLst/>
          </a:prstGeom>
          <a:solidFill>
            <a:srgbClr val="F5A623"/>
          </a:solidFill>
          <a:ln w="12700">
            <a:solidFill>
              <a:srgbClr val="F5A623"/>
            </a:solidFill>
            <a:prstDash val="solid"/>
          </a:ln>
        </p:spPr>
        <p:txBody>
          <a:bodyPr/>
          <a:lstStyle/>
          <a:p>
            <a:endParaRPr lang="ar-SA">
              <a:latin typeface="Montserrat-Arabic" panose="00000500000000000000" pitchFamily="2" charset="-78"/>
              <a:cs typeface="Montserrat-Arabic" panose="00000500000000000000" pitchFamily="2" charset="-78"/>
            </a:endParaRPr>
          </a:p>
        </p:txBody>
      </p:sp>
      <p:sp>
        <p:nvSpPr>
          <p:cNvPr id="6" name="Text 4"/>
          <p:cNvSpPr/>
          <p:nvPr/>
        </p:nvSpPr>
        <p:spPr>
          <a:xfrm>
            <a:off x="457200" y="2814359"/>
            <a:ext cx="8229600" cy="457200"/>
          </a:xfrm>
          <a:prstGeom prst="rect">
            <a:avLst/>
          </a:prstGeom>
          <a:noFill/>
          <a:ln/>
        </p:spPr>
        <p:txBody>
          <a:bodyPr wrap="square" lIns="0" tIns="0" rIns="0" bIns="0" rtlCol="0" anchor="ctr"/>
          <a:lstStyle/>
          <a:p>
            <a:pPr marL="0" indent="0" algn="ctr" rtl="1">
              <a:buNone/>
            </a:pPr>
            <a:r>
              <a:rPr lang="en-US" sz="2000" dirty="0">
                <a:solidFill>
                  <a:srgbClr val="90B4CE"/>
                </a:solidFill>
                <a:latin typeface="Montserrat-Arabic" panose="00000500000000000000" pitchFamily="2" charset="-78"/>
                <a:ea typeface="Arial" pitchFamily="34" charset="-122"/>
                <a:cs typeface="Montserrat-Arabic" panose="00000500000000000000" pitchFamily="2" charset="-78"/>
              </a:rPr>
              <a:t>هذا السؤال يُقتل فيه شغف آلاف الطلاب يومياً</a:t>
            </a:r>
            <a:endParaRPr lang="en-US" sz="2000" dirty="0">
              <a:latin typeface="Montserrat-Arabic" panose="00000500000000000000" pitchFamily="2" charset="-78"/>
              <a:cs typeface="Montserrat-Arabic" panose="00000500000000000000" pitchFamily="2" charset="-78"/>
            </a:endParaRPr>
          </a:p>
        </p:txBody>
      </p:sp>
      <p:sp>
        <p:nvSpPr>
          <p:cNvPr id="22" name="Text 20"/>
          <p:cNvSpPr/>
          <p:nvPr/>
        </p:nvSpPr>
        <p:spPr>
          <a:xfrm>
            <a:off x="320040" y="4473385"/>
            <a:ext cx="8229600" cy="274320"/>
          </a:xfrm>
          <a:prstGeom prst="rect">
            <a:avLst/>
          </a:prstGeom>
          <a:noFill/>
          <a:ln/>
        </p:spPr>
        <p:txBody>
          <a:bodyPr wrap="square" lIns="0" tIns="0" rIns="0" bIns="0" rtlCol="0" anchor="ctr"/>
          <a:lstStyle/>
          <a:p>
            <a:pPr marL="0" indent="0" algn="ctr" rtl="1">
              <a:buNone/>
            </a:pPr>
            <a:r>
              <a:rPr lang="en-US" sz="1400" dirty="0">
                <a:solidFill>
                  <a:srgbClr val="F5A623"/>
                </a:solidFill>
                <a:latin typeface="Montserrat-Arabic" panose="00000500000000000000" pitchFamily="2" charset="-78"/>
                <a:ea typeface="Arial" pitchFamily="34" charset="-122"/>
                <a:cs typeface="Montserrat-Arabic" panose="00000500000000000000" pitchFamily="2" charset="-78"/>
              </a:rPr>
              <a:t>جامعات المملكة تنتظر الإجابة...</a:t>
            </a:r>
            <a:endParaRPr lang="en-US" sz="1400" dirty="0">
              <a:latin typeface="Montserrat-Arabic" panose="00000500000000000000" pitchFamily="2" charset="-78"/>
              <a:cs typeface="Montserrat-Arabic" panose="00000500000000000000" pitchFamily="2" charset="-78"/>
            </a:endParaRPr>
          </a:p>
        </p:txBody>
      </p:sp>
      <p:sp>
        <p:nvSpPr>
          <p:cNvPr id="23" name="Shape 21"/>
          <p:cNvSpPr/>
          <p:nvPr/>
        </p:nvSpPr>
        <p:spPr>
          <a:xfrm>
            <a:off x="0" y="5063783"/>
            <a:ext cx="9144000" cy="73152"/>
          </a:xfrm>
          <a:prstGeom prst="rect">
            <a:avLst/>
          </a:prstGeom>
          <a:solidFill>
            <a:srgbClr val="00B4D8"/>
          </a:solidFill>
          <a:ln w="12700">
            <a:solidFill>
              <a:srgbClr val="00B4D8"/>
            </a:solidFill>
            <a:prstDash val="solid"/>
          </a:ln>
        </p:spPr>
        <p:txBody>
          <a:bodyPr/>
          <a:lstStyle/>
          <a:p>
            <a:endParaRPr lang="ar-SA">
              <a:latin typeface="Montserrat-Arabic" panose="00000500000000000000" pitchFamily="2" charset="-78"/>
              <a:cs typeface="Montserrat-Arabic" panose="00000500000000000000" pitchFamily="2" charset="-78"/>
            </a:endParaRPr>
          </a:p>
        </p:txBody>
      </p:sp>
      <p:sp>
        <p:nvSpPr>
          <p:cNvPr id="24" name="Text 22"/>
          <p:cNvSpPr/>
          <p:nvPr/>
        </p:nvSpPr>
        <p:spPr>
          <a:xfrm>
            <a:off x="384048" y="4766603"/>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1200" dirty="0">
              <a:latin typeface="Montserrat-Arabic" panose="00000500000000000000" pitchFamily="2" charset="-78"/>
              <a:cs typeface="Montserrat-Arabic" panose="00000500000000000000" pitchFamily="2" charset="-78"/>
            </a:endParaRPr>
          </a:p>
        </p:txBody>
      </p:sp>
      <p:sp>
        <p:nvSpPr>
          <p:cNvPr id="25" name="Text 23"/>
          <p:cNvSpPr/>
          <p:nvPr/>
        </p:nvSpPr>
        <p:spPr>
          <a:xfrm>
            <a:off x="8229600" y="4766603"/>
            <a:ext cx="640080" cy="228600"/>
          </a:xfrm>
          <a:prstGeom prst="rect">
            <a:avLst/>
          </a:prstGeom>
          <a:noFill/>
          <a:ln/>
        </p:spPr>
        <p:txBody>
          <a:bodyPr wrap="square" lIns="0" tIns="0" rIns="0" bIns="0" rtlCol="0" anchor="ctr"/>
          <a:lstStyle/>
          <a:p>
            <a:pPr marL="0" indent="0" algn="r">
              <a:buNone/>
            </a:pPr>
            <a:r>
              <a:rPr lang="en-US" sz="1100" dirty="0">
                <a:solidFill>
                  <a:srgbClr val="607080"/>
                </a:solidFill>
                <a:latin typeface="Montserrat-Arabic" panose="00000500000000000000" pitchFamily="2" charset="-78"/>
                <a:ea typeface="Arial" pitchFamily="34" charset="-122"/>
                <a:cs typeface="Montserrat-Arabic" panose="00000500000000000000" pitchFamily="2" charset="-78"/>
              </a:rPr>
              <a:t>1 / 14</a:t>
            </a:r>
            <a:endParaRPr lang="en-US" sz="1100" dirty="0">
              <a:latin typeface="Montserrat-Arabic" panose="00000500000000000000" pitchFamily="2" charset="-78"/>
              <a:cs typeface="Montserrat-Arabic" panose="00000500000000000000" pitchFamily="2" charset="-78"/>
            </a:endParaRPr>
          </a:p>
        </p:txBody>
      </p:sp>
      <p:sp>
        <p:nvSpPr>
          <p:cNvPr id="26" name="TextBox 25">
            <a:extLst>
              <a:ext uri="{FF2B5EF4-FFF2-40B4-BE49-F238E27FC236}">
                <a16:creationId xmlns:a16="http://schemas.microsoft.com/office/drawing/2014/main" id="{DFBA1D37-55A6-6D87-4DAB-E5647B1F308D}"/>
              </a:ext>
            </a:extLst>
          </p:cNvPr>
          <p:cNvSpPr txBox="1"/>
          <p:nvPr/>
        </p:nvSpPr>
        <p:spPr>
          <a:xfrm>
            <a:off x="1193409" y="3372143"/>
            <a:ext cx="6409006" cy="1077218"/>
          </a:xfrm>
          <a:prstGeom prst="rect">
            <a:avLst/>
          </a:prstGeom>
          <a:noFill/>
        </p:spPr>
        <p:txBody>
          <a:bodyPr wrap="square" rtlCol="1">
            <a:spAutoFit/>
          </a:bodyPr>
          <a:lstStyle/>
          <a:p>
            <a:pPr algn="ctr"/>
            <a:r>
              <a:rPr lang="ar-SA" sz="1600" dirty="0">
                <a:solidFill>
                  <a:schemeClr val="bg1"/>
                </a:solidFill>
                <a:latin typeface="Montserrat-Arabic" panose="00000500000000000000" pitchFamily="2" charset="-78"/>
                <a:cs typeface="Montserrat-Arabic" panose="00000500000000000000" pitchFamily="2" charset="-78"/>
              </a:rPr>
              <a:t>في عالمٍ أكاديميٍ مليء بالمقررات والمفاهيم النظرية، يواجه الكثير من الطلاب سؤالًا متكررً "ليش أدرس هذا المقرر؟ وكيف بيفيدني في وظيفتي؟".. غياب الإجابة عن هذا السؤال يقتل الشغف، ويوسع الفجوة بين الأكاديمية والصناعة.</a:t>
            </a:r>
            <a:endParaRPr lang="en-US" sz="1200" dirty="0">
              <a:solidFill>
                <a:schemeClr val="bg1"/>
              </a:solidFill>
              <a:latin typeface="Montserrat-Arabic" panose="00000500000000000000" pitchFamily="2" charset="-78"/>
              <a:ea typeface="Barlow"/>
              <a:cs typeface="Montserrat-Arabic" panose="00000500000000000000" pitchFamily="2" charset="-78"/>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a:extLst>
            <a:ext uri="{FF2B5EF4-FFF2-40B4-BE49-F238E27FC236}">
              <a16:creationId xmlns:a16="http://schemas.microsoft.com/office/drawing/2014/main" id="{D50D04B3-8B6C-8FE9-4E6C-DD08BE56A08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6500C7-2302-DE30-5C12-635C2335FBE5}"/>
              </a:ext>
            </a:extLst>
          </p:cNvPr>
          <p:cNvSpPr/>
          <p:nvPr/>
        </p:nvSpPr>
        <p:spPr>
          <a:xfrm>
            <a:off x="0" y="0"/>
            <a:ext cx="9144000" cy="73152"/>
          </a:xfrm>
          <a:prstGeom prst="rect">
            <a:avLst/>
          </a:prstGeom>
          <a:solidFill>
            <a:srgbClr val="00B4D8"/>
          </a:solidFill>
          <a:ln w="12700">
            <a:solidFill>
              <a:srgbClr val="00B4D8"/>
            </a:solidFill>
            <a:prstDash val="solid"/>
          </a:ln>
        </p:spPr>
        <p:txBody>
          <a:bodyPr/>
          <a:lstStyle/>
          <a:p>
            <a:endParaRPr lang="ar-SA"/>
          </a:p>
        </p:txBody>
      </p:sp>
      <p:sp>
        <p:nvSpPr>
          <p:cNvPr id="4" name="Text 2">
            <a:extLst>
              <a:ext uri="{FF2B5EF4-FFF2-40B4-BE49-F238E27FC236}">
                <a16:creationId xmlns:a16="http://schemas.microsoft.com/office/drawing/2014/main" id="{9DD8FAE1-5A32-53AA-8D2A-EBCCBD29A491}"/>
              </a:ext>
            </a:extLst>
          </p:cNvPr>
          <p:cNvSpPr/>
          <p:nvPr/>
        </p:nvSpPr>
        <p:spPr>
          <a:xfrm>
            <a:off x="457200" y="1810512"/>
            <a:ext cx="8229600" cy="749808"/>
          </a:xfrm>
          <a:prstGeom prst="rect">
            <a:avLst/>
          </a:prstGeom>
          <a:noFill/>
          <a:ln/>
        </p:spPr>
        <p:txBody>
          <a:bodyPr wrap="square" lIns="0" tIns="0" rIns="0" bIns="0" rtlCol="0" anchor="ctr"/>
          <a:lstStyle/>
          <a:p>
            <a:pPr marL="0" indent="0" algn="ctr" rtl="1">
              <a:buNone/>
            </a:pPr>
            <a:endParaRPr lang="en-US" sz="4200" dirty="0"/>
          </a:p>
        </p:txBody>
      </p:sp>
      <p:sp>
        <p:nvSpPr>
          <p:cNvPr id="6" name="Text 4">
            <a:extLst>
              <a:ext uri="{FF2B5EF4-FFF2-40B4-BE49-F238E27FC236}">
                <a16:creationId xmlns:a16="http://schemas.microsoft.com/office/drawing/2014/main" id="{6FDBE7B5-1FE0-1E75-7446-AE5C7A6E6109}"/>
              </a:ext>
            </a:extLst>
          </p:cNvPr>
          <p:cNvSpPr/>
          <p:nvPr/>
        </p:nvSpPr>
        <p:spPr>
          <a:xfrm>
            <a:off x="457200" y="2820924"/>
            <a:ext cx="8229600" cy="457200"/>
          </a:xfrm>
          <a:prstGeom prst="rect">
            <a:avLst/>
          </a:prstGeom>
          <a:noFill/>
          <a:ln/>
        </p:spPr>
        <p:txBody>
          <a:bodyPr wrap="square" lIns="0" tIns="0" rIns="0" bIns="0" rtlCol="0" anchor="ctr"/>
          <a:lstStyle/>
          <a:p>
            <a:pPr marL="0" indent="0" algn="ctr" rtl="1">
              <a:buNone/>
            </a:pPr>
            <a:endParaRPr lang="en-US" sz="2000" dirty="0"/>
          </a:p>
        </p:txBody>
      </p:sp>
      <p:sp>
        <p:nvSpPr>
          <p:cNvPr id="22" name="Text 20">
            <a:extLst>
              <a:ext uri="{FF2B5EF4-FFF2-40B4-BE49-F238E27FC236}">
                <a16:creationId xmlns:a16="http://schemas.microsoft.com/office/drawing/2014/main" id="{D5B4026C-C6A2-D9ED-7A4B-9AEBF5886CC2}"/>
              </a:ext>
            </a:extLst>
          </p:cNvPr>
          <p:cNvSpPr/>
          <p:nvPr/>
        </p:nvSpPr>
        <p:spPr>
          <a:xfrm>
            <a:off x="320040" y="4479950"/>
            <a:ext cx="8229600" cy="274320"/>
          </a:xfrm>
          <a:prstGeom prst="rect">
            <a:avLst/>
          </a:prstGeom>
          <a:noFill/>
          <a:ln/>
        </p:spPr>
        <p:txBody>
          <a:bodyPr wrap="square" lIns="0" tIns="0" rIns="0" bIns="0" rtlCol="0" anchor="ctr"/>
          <a:lstStyle/>
          <a:p>
            <a:pPr marL="0" indent="0" algn="ctr" rtl="1">
              <a:buNone/>
            </a:pPr>
            <a:endParaRPr lang="en-US" sz="1400" dirty="0"/>
          </a:p>
        </p:txBody>
      </p:sp>
      <p:sp>
        <p:nvSpPr>
          <p:cNvPr id="23" name="Shape 21">
            <a:extLst>
              <a:ext uri="{FF2B5EF4-FFF2-40B4-BE49-F238E27FC236}">
                <a16:creationId xmlns:a16="http://schemas.microsoft.com/office/drawing/2014/main" id="{248120F7-F474-9485-E7B2-77015C167845}"/>
              </a:ext>
            </a:extLst>
          </p:cNvPr>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a:p>
        </p:txBody>
      </p:sp>
      <p:sp>
        <p:nvSpPr>
          <p:cNvPr id="24" name="Text 22">
            <a:extLst>
              <a:ext uri="{FF2B5EF4-FFF2-40B4-BE49-F238E27FC236}">
                <a16:creationId xmlns:a16="http://schemas.microsoft.com/office/drawing/2014/main" id="{B65751D7-BFAE-6B8F-FFE2-F501D07BF392}"/>
              </a:ext>
            </a:extLst>
          </p:cNvPr>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Arial" pitchFamily="34" charset="0"/>
                <a:ea typeface="Arial" pitchFamily="34" charset="-122"/>
                <a:cs typeface="Arial" pitchFamily="34" charset="-120"/>
              </a:rPr>
              <a:t>مقرري+</a:t>
            </a:r>
            <a:endParaRPr lang="en-US" sz="1200" dirty="0"/>
          </a:p>
        </p:txBody>
      </p:sp>
      <p:sp>
        <p:nvSpPr>
          <p:cNvPr id="25" name="Text 23">
            <a:extLst>
              <a:ext uri="{FF2B5EF4-FFF2-40B4-BE49-F238E27FC236}">
                <a16:creationId xmlns:a16="http://schemas.microsoft.com/office/drawing/2014/main" id="{FB6BEE11-F778-ABA8-608F-09D3D64EB128}"/>
              </a:ext>
            </a:extLst>
          </p:cNvPr>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100" dirty="0">
                <a:solidFill>
                  <a:srgbClr val="607080"/>
                </a:solidFill>
                <a:latin typeface="Arial" pitchFamily="34" charset="0"/>
                <a:ea typeface="Arial" pitchFamily="34" charset="-122"/>
                <a:cs typeface="Arial" pitchFamily="34" charset="-120"/>
              </a:rPr>
              <a:t>1 / 14</a:t>
            </a:r>
            <a:endParaRPr lang="en-US" sz="1100" dirty="0"/>
          </a:p>
        </p:txBody>
      </p:sp>
      <p:pic>
        <p:nvPicPr>
          <p:cNvPr id="8" name="Picture 7">
            <a:extLst>
              <a:ext uri="{FF2B5EF4-FFF2-40B4-BE49-F238E27FC236}">
                <a16:creationId xmlns:a16="http://schemas.microsoft.com/office/drawing/2014/main" id="{8F6C383D-4C0B-A0AF-96FC-F63700A38B88}"/>
              </a:ext>
            </a:extLst>
          </p:cNvPr>
          <p:cNvPicPr>
            <a:picLocks noChangeAspect="1"/>
          </p:cNvPicPr>
          <p:nvPr/>
        </p:nvPicPr>
        <p:blipFill>
          <a:blip r:embed="rId3"/>
          <a:stretch>
            <a:fillRect/>
          </a:stretch>
        </p:blipFill>
        <p:spPr>
          <a:xfrm>
            <a:off x="1019908" y="341405"/>
            <a:ext cx="6981092" cy="4363183"/>
          </a:xfrm>
          <a:prstGeom prst="rect">
            <a:avLst/>
          </a:prstGeom>
        </p:spPr>
      </p:pic>
    </p:spTree>
    <p:extLst>
      <p:ext uri="{BB962C8B-B14F-4D97-AF65-F5344CB8AC3E}">
        <p14:creationId xmlns:p14="http://schemas.microsoft.com/office/powerpoint/2010/main" val="3027014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B4D8"/>
          </a:solidFill>
          <a:ln w="12700">
            <a:solidFill>
              <a:srgbClr val="00B4D8"/>
            </a:solidFill>
            <a:prstDash val="solid"/>
          </a:ln>
        </p:spPr>
        <p:txBody>
          <a:bodyPr/>
          <a:lstStyle/>
          <a:p>
            <a:endParaRPr lang="ar-SA"/>
          </a:p>
        </p:txBody>
      </p:sp>
      <p:sp>
        <p:nvSpPr>
          <p:cNvPr id="3" name="Text 1"/>
          <p:cNvSpPr/>
          <p:nvPr/>
        </p:nvSpPr>
        <p:spPr>
          <a:xfrm>
            <a:off x="384048" y="0"/>
            <a:ext cx="8375904" cy="457200"/>
          </a:xfrm>
          <a:prstGeom prst="rect">
            <a:avLst/>
          </a:prstGeom>
          <a:noFill/>
          <a:ln/>
        </p:spPr>
        <p:txBody>
          <a:bodyPr wrap="square" lIns="0" tIns="0" rIns="0" bIns="0" rtlCol="0" anchor="ctr"/>
          <a:lstStyle/>
          <a:p>
            <a:pPr marL="0" indent="0" algn="r" rtl="1">
              <a:buNone/>
            </a:pPr>
            <a:r>
              <a:rPr lang="en-US" sz="2200" b="1" dirty="0">
                <a:solidFill>
                  <a:srgbClr val="0A192F"/>
                </a:solidFill>
                <a:latin typeface="Arial" pitchFamily="34" charset="0"/>
                <a:ea typeface="Arial" pitchFamily="34" charset="-122"/>
                <a:cs typeface="Arial" pitchFamily="34" charset="-120"/>
              </a:rPr>
              <a:t>الفجوة الحقيقية بين الأكاديمية وسوق العمل</a:t>
            </a:r>
            <a:endParaRPr lang="en-US" sz="2200" dirty="0"/>
          </a:p>
        </p:txBody>
      </p:sp>
      <p:sp>
        <p:nvSpPr>
          <p:cNvPr id="4" name="Shape 2"/>
          <p:cNvSpPr/>
          <p:nvPr/>
        </p:nvSpPr>
        <p:spPr>
          <a:xfrm>
            <a:off x="0" y="457200"/>
            <a:ext cx="4206240" cy="4343400"/>
          </a:xfrm>
          <a:prstGeom prst="rect">
            <a:avLst/>
          </a:prstGeom>
          <a:solidFill>
            <a:srgbClr val="F0F6FA"/>
          </a:solidFill>
          <a:ln w="12700">
            <a:solidFill>
              <a:srgbClr val="E0E8EE"/>
            </a:solidFill>
            <a:prstDash val="solid"/>
          </a:ln>
        </p:spPr>
        <p:txBody>
          <a:bodyPr/>
          <a:lstStyle/>
          <a:p>
            <a:endParaRPr lang="ar-SA"/>
          </a:p>
        </p:txBody>
      </p:sp>
      <p:sp>
        <p:nvSpPr>
          <p:cNvPr id="5" name="Shape 3"/>
          <p:cNvSpPr/>
          <p:nvPr/>
        </p:nvSpPr>
        <p:spPr>
          <a:xfrm>
            <a:off x="0" y="457200"/>
            <a:ext cx="4206240" cy="64008"/>
          </a:xfrm>
          <a:prstGeom prst="rect">
            <a:avLst/>
          </a:prstGeom>
          <a:solidFill>
            <a:srgbClr val="0A192F"/>
          </a:solidFill>
          <a:ln w="12700">
            <a:solidFill>
              <a:srgbClr val="0A192F"/>
            </a:solidFill>
            <a:prstDash val="solid"/>
          </a:ln>
        </p:spPr>
        <p:txBody>
          <a:bodyPr/>
          <a:lstStyle/>
          <a:p>
            <a:endParaRPr lang="ar-SA"/>
          </a:p>
        </p:txBody>
      </p:sp>
      <p:sp>
        <p:nvSpPr>
          <p:cNvPr id="6" name="Text 4"/>
          <p:cNvSpPr/>
          <p:nvPr/>
        </p:nvSpPr>
        <p:spPr>
          <a:xfrm>
            <a:off x="182880" y="658368"/>
            <a:ext cx="3840480" cy="411480"/>
          </a:xfrm>
          <a:prstGeom prst="rect">
            <a:avLst/>
          </a:prstGeom>
          <a:noFill/>
          <a:ln/>
        </p:spPr>
        <p:txBody>
          <a:bodyPr wrap="square" lIns="0" tIns="0" rIns="0" bIns="0" rtlCol="0" anchor="ctr"/>
          <a:lstStyle/>
          <a:p>
            <a:pPr marL="0" indent="0" algn="r" rtl="1">
              <a:buNone/>
            </a:pPr>
            <a:r>
              <a:rPr lang="en-US" sz="2200" b="1" dirty="0">
                <a:solidFill>
                  <a:srgbClr val="0A192F"/>
                </a:solidFill>
                <a:latin typeface="Arial" pitchFamily="34" charset="0"/>
                <a:ea typeface="Arial" pitchFamily="34" charset="-122"/>
                <a:cs typeface="Arial" pitchFamily="34" charset="-120"/>
              </a:rPr>
              <a:t>الجامعة</a:t>
            </a:r>
            <a:endParaRPr lang="en-US" sz="2200" dirty="0"/>
          </a:p>
        </p:txBody>
      </p:sp>
      <p:sp>
        <p:nvSpPr>
          <p:cNvPr id="7" name="Shape 5"/>
          <p:cNvSpPr/>
          <p:nvPr/>
        </p:nvSpPr>
        <p:spPr>
          <a:xfrm>
            <a:off x="201168" y="1261872"/>
            <a:ext cx="3657600" cy="502920"/>
          </a:xfrm>
          <a:prstGeom prst="rect">
            <a:avLst/>
          </a:prstGeom>
          <a:solidFill>
            <a:srgbClr val="FFFFFF"/>
          </a:solidFill>
          <a:ln w="12700">
            <a:solidFill>
              <a:srgbClr val="D0DCE8"/>
            </a:solidFill>
            <a:prstDash val="solid"/>
          </a:ln>
          <a:effectLst>
            <a:outerShdw blurRad="177800" dist="25400" dir="8100000" algn="bl" rotWithShape="0">
              <a:srgbClr val="000000">
                <a:alpha val="10000"/>
              </a:srgbClr>
            </a:outerShdw>
          </a:effectLst>
        </p:spPr>
        <p:txBody>
          <a:bodyPr/>
          <a:lstStyle/>
          <a:p>
            <a:endParaRPr lang="ar-SA"/>
          </a:p>
        </p:txBody>
      </p:sp>
      <p:sp>
        <p:nvSpPr>
          <p:cNvPr id="8" name="Shape 6"/>
          <p:cNvSpPr/>
          <p:nvPr/>
        </p:nvSpPr>
        <p:spPr>
          <a:xfrm>
            <a:off x="3456432" y="1316736"/>
            <a:ext cx="301752" cy="301752"/>
          </a:xfrm>
          <a:prstGeom prst="ellipse">
            <a:avLst/>
          </a:prstGeom>
          <a:solidFill>
            <a:srgbClr val="0A192F"/>
          </a:solidFill>
          <a:ln w="12700">
            <a:solidFill>
              <a:srgbClr val="0A192F"/>
            </a:solidFill>
            <a:prstDash val="solid"/>
          </a:ln>
        </p:spPr>
        <p:txBody>
          <a:bodyPr/>
          <a:lstStyle/>
          <a:p>
            <a:endParaRPr lang="ar-SA"/>
          </a:p>
        </p:txBody>
      </p:sp>
      <p:sp>
        <p:nvSpPr>
          <p:cNvPr id="9" name="Text 7"/>
          <p:cNvSpPr/>
          <p:nvPr/>
        </p:nvSpPr>
        <p:spPr>
          <a:xfrm>
            <a:off x="3456432" y="1316736"/>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274320" y="1280160"/>
            <a:ext cx="3108960" cy="475488"/>
          </a:xfrm>
          <a:prstGeom prst="rect">
            <a:avLst/>
          </a:prstGeom>
          <a:noFill/>
          <a:ln/>
        </p:spPr>
        <p:txBody>
          <a:bodyPr wrap="square" lIns="0" tIns="0" rIns="0" bIns="0" rtlCol="0" anchor="ctr"/>
          <a:lstStyle/>
          <a:p>
            <a:pPr marL="0" indent="0" algn="r" rtl="1">
              <a:buNone/>
            </a:pPr>
            <a:r>
              <a:rPr lang="en-US" sz="1500" dirty="0">
                <a:solidFill>
                  <a:srgbClr val="0A192F"/>
                </a:solidFill>
                <a:latin typeface="Arial" pitchFamily="34" charset="0"/>
                <a:ea typeface="Arial" pitchFamily="34" charset="-122"/>
                <a:cs typeface="Arial" pitchFamily="34" charset="-120"/>
              </a:rPr>
              <a:t>مناهج أكاديمية راسخة</a:t>
            </a:r>
            <a:endParaRPr lang="en-US" sz="1500" dirty="0"/>
          </a:p>
        </p:txBody>
      </p:sp>
      <p:sp>
        <p:nvSpPr>
          <p:cNvPr id="11" name="Shape 9"/>
          <p:cNvSpPr/>
          <p:nvPr/>
        </p:nvSpPr>
        <p:spPr>
          <a:xfrm>
            <a:off x="201168" y="1883664"/>
            <a:ext cx="3657600" cy="502920"/>
          </a:xfrm>
          <a:prstGeom prst="rect">
            <a:avLst/>
          </a:prstGeom>
          <a:solidFill>
            <a:srgbClr val="FFFFFF"/>
          </a:solidFill>
          <a:ln w="12700">
            <a:solidFill>
              <a:srgbClr val="D0DCE8"/>
            </a:solidFill>
            <a:prstDash val="solid"/>
          </a:ln>
          <a:effectLst>
            <a:outerShdw blurRad="177800" dist="25400" dir="8100000" algn="bl" rotWithShape="0">
              <a:srgbClr val="000000">
                <a:alpha val="10000"/>
              </a:srgbClr>
            </a:outerShdw>
          </a:effectLst>
        </p:spPr>
        <p:txBody>
          <a:bodyPr/>
          <a:lstStyle/>
          <a:p>
            <a:endParaRPr lang="ar-SA"/>
          </a:p>
        </p:txBody>
      </p:sp>
      <p:sp>
        <p:nvSpPr>
          <p:cNvPr id="12" name="Shape 10"/>
          <p:cNvSpPr/>
          <p:nvPr/>
        </p:nvSpPr>
        <p:spPr>
          <a:xfrm>
            <a:off x="3456432" y="1938528"/>
            <a:ext cx="301752" cy="301752"/>
          </a:xfrm>
          <a:prstGeom prst="ellipse">
            <a:avLst/>
          </a:prstGeom>
          <a:solidFill>
            <a:srgbClr val="0A192F"/>
          </a:solidFill>
          <a:ln w="12700">
            <a:solidFill>
              <a:srgbClr val="0A192F"/>
            </a:solidFill>
            <a:prstDash val="solid"/>
          </a:ln>
        </p:spPr>
        <p:txBody>
          <a:bodyPr/>
          <a:lstStyle/>
          <a:p>
            <a:endParaRPr lang="ar-SA"/>
          </a:p>
        </p:txBody>
      </p:sp>
      <p:sp>
        <p:nvSpPr>
          <p:cNvPr id="13" name="Text 11"/>
          <p:cNvSpPr/>
          <p:nvPr/>
        </p:nvSpPr>
        <p:spPr>
          <a:xfrm>
            <a:off x="3456432" y="1938528"/>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274320" y="1901952"/>
            <a:ext cx="3108960" cy="475488"/>
          </a:xfrm>
          <a:prstGeom prst="rect">
            <a:avLst/>
          </a:prstGeom>
          <a:noFill/>
          <a:ln/>
        </p:spPr>
        <p:txBody>
          <a:bodyPr wrap="square" lIns="0" tIns="0" rIns="0" bIns="0" rtlCol="0" anchor="ctr"/>
          <a:lstStyle/>
          <a:p>
            <a:pPr marL="0" indent="0" algn="r" rtl="1">
              <a:buNone/>
            </a:pPr>
            <a:r>
              <a:rPr lang="en-US" sz="1500" dirty="0">
                <a:solidFill>
                  <a:srgbClr val="0A192F"/>
                </a:solidFill>
                <a:latin typeface="Arial" pitchFamily="34" charset="0"/>
                <a:ea typeface="Arial" pitchFamily="34" charset="-122"/>
                <a:cs typeface="Arial" pitchFamily="34" charset="-120"/>
              </a:rPr>
              <a:t>تحديث كل 4-5 سنوات</a:t>
            </a:r>
            <a:endParaRPr lang="en-US" sz="1500" dirty="0"/>
          </a:p>
        </p:txBody>
      </p:sp>
      <p:sp>
        <p:nvSpPr>
          <p:cNvPr id="15" name="Shape 13"/>
          <p:cNvSpPr/>
          <p:nvPr/>
        </p:nvSpPr>
        <p:spPr>
          <a:xfrm>
            <a:off x="201168" y="2505456"/>
            <a:ext cx="3657600" cy="502920"/>
          </a:xfrm>
          <a:prstGeom prst="rect">
            <a:avLst/>
          </a:prstGeom>
          <a:solidFill>
            <a:srgbClr val="FFFFFF"/>
          </a:solidFill>
          <a:ln w="12700">
            <a:solidFill>
              <a:srgbClr val="D0DCE8"/>
            </a:solidFill>
            <a:prstDash val="solid"/>
          </a:ln>
          <a:effectLst>
            <a:outerShdw blurRad="177800" dist="25400" dir="8100000" algn="bl" rotWithShape="0">
              <a:srgbClr val="000000">
                <a:alpha val="10000"/>
              </a:srgbClr>
            </a:outerShdw>
          </a:effectLst>
        </p:spPr>
        <p:txBody>
          <a:bodyPr/>
          <a:lstStyle/>
          <a:p>
            <a:endParaRPr lang="ar-SA"/>
          </a:p>
        </p:txBody>
      </p:sp>
      <p:sp>
        <p:nvSpPr>
          <p:cNvPr id="16" name="Shape 14"/>
          <p:cNvSpPr/>
          <p:nvPr/>
        </p:nvSpPr>
        <p:spPr>
          <a:xfrm>
            <a:off x="3456432" y="2560320"/>
            <a:ext cx="301752" cy="301752"/>
          </a:xfrm>
          <a:prstGeom prst="ellipse">
            <a:avLst/>
          </a:prstGeom>
          <a:solidFill>
            <a:srgbClr val="0A192F"/>
          </a:solidFill>
          <a:ln w="12700">
            <a:solidFill>
              <a:srgbClr val="0A192F"/>
            </a:solidFill>
            <a:prstDash val="solid"/>
          </a:ln>
        </p:spPr>
        <p:txBody>
          <a:bodyPr/>
          <a:lstStyle/>
          <a:p>
            <a:endParaRPr lang="ar-SA"/>
          </a:p>
        </p:txBody>
      </p:sp>
      <p:sp>
        <p:nvSpPr>
          <p:cNvPr id="17" name="Text 15"/>
          <p:cNvSpPr/>
          <p:nvPr/>
        </p:nvSpPr>
        <p:spPr>
          <a:xfrm>
            <a:off x="3456432" y="2560320"/>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274320" y="2523744"/>
            <a:ext cx="3108960" cy="475488"/>
          </a:xfrm>
          <a:prstGeom prst="rect">
            <a:avLst/>
          </a:prstGeom>
          <a:noFill/>
          <a:ln/>
        </p:spPr>
        <p:txBody>
          <a:bodyPr wrap="square" lIns="0" tIns="0" rIns="0" bIns="0" rtlCol="0" anchor="ctr"/>
          <a:lstStyle/>
          <a:p>
            <a:pPr marL="0" indent="0" algn="r" rtl="1">
              <a:buNone/>
            </a:pPr>
            <a:r>
              <a:rPr lang="en-US" sz="1500" dirty="0">
                <a:solidFill>
                  <a:srgbClr val="0A192F"/>
                </a:solidFill>
                <a:latin typeface="Arial" pitchFamily="34" charset="0"/>
                <a:ea typeface="Arial" pitchFamily="34" charset="-122"/>
                <a:cs typeface="Arial" pitchFamily="34" charset="-120"/>
              </a:rPr>
              <a:t>تركيز على النظرية</a:t>
            </a:r>
            <a:endParaRPr lang="en-US" sz="1500" dirty="0"/>
          </a:p>
        </p:txBody>
      </p:sp>
      <p:sp>
        <p:nvSpPr>
          <p:cNvPr id="19" name="Shape 17"/>
          <p:cNvSpPr/>
          <p:nvPr/>
        </p:nvSpPr>
        <p:spPr>
          <a:xfrm>
            <a:off x="201168" y="3127248"/>
            <a:ext cx="3657600" cy="502920"/>
          </a:xfrm>
          <a:prstGeom prst="rect">
            <a:avLst/>
          </a:prstGeom>
          <a:solidFill>
            <a:srgbClr val="FFFFFF"/>
          </a:solidFill>
          <a:ln w="12700">
            <a:solidFill>
              <a:srgbClr val="D0DCE8"/>
            </a:solidFill>
            <a:prstDash val="solid"/>
          </a:ln>
          <a:effectLst>
            <a:outerShdw blurRad="177800" dist="25400" dir="8100000" algn="bl" rotWithShape="0">
              <a:srgbClr val="000000">
                <a:alpha val="10000"/>
              </a:srgbClr>
            </a:outerShdw>
          </a:effectLst>
        </p:spPr>
        <p:txBody>
          <a:bodyPr/>
          <a:lstStyle/>
          <a:p>
            <a:endParaRPr lang="ar-SA"/>
          </a:p>
        </p:txBody>
      </p:sp>
      <p:sp>
        <p:nvSpPr>
          <p:cNvPr id="20" name="Shape 18"/>
          <p:cNvSpPr/>
          <p:nvPr/>
        </p:nvSpPr>
        <p:spPr>
          <a:xfrm>
            <a:off x="3456432" y="3182112"/>
            <a:ext cx="301752" cy="301752"/>
          </a:xfrm>
          <a:prstGeom prst="ellipse">
            <a:avLst/>
          </a:prstGeom>
          <a:solidFill>
            <a:srgbClr val="0A192F"/>
          </a:solidFill>
          <a:ln w="12700">
            <a:solidFill>
              <a:srgbClr val="0A192F"/>
            </a:solidFill>
            <a:prstDash val="solid"/>
          </a:ln>
        </p:spPr>
        <p:txBody>
          <a:bodyPr/>
          <a:lstStyle/>
          <a:p>
            <a:endParaRPr lang="ar-SA"/>
          </a:p>
        </p:txBody>
      </p:sp>
      <p:sp>
        <p:nvSpPr>
          <p:cNvPr id="21" name="Text 19"/>
          <p:cNvSpPr/>
          <p:nvPr/>
        </p:nvSpPr>
        <p:spPr>
          <a:xfrm>
            <a:off x="3456432" y="3182112"/>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274320" y="3145536"/>
            <a:ext cx="3108960" cy="475488"/>
          </a:xfrm>
          <a:prstGeom prst="rect">
            <a:avLst/>
          </a:prstGeom>
          <a:noFill/>
          <a:ln/>
        </p:spPr>
        <p:txBody>
          <a:bodyPr wrap="square" lIns="0" tIns="0" rIns="0" bIns="0" rtlCol="0" anchor="ctr"/>
          <a:lstStyle/>
          <a:p>
            <a:pPr marL="0" indent="0" algn="r" rtl="1">
              <a:buNone/>
            </a:pPr>
            <a:r>
              <a:rPr lang="en-US" sz="1500" dirty="0">
                <a:solidFill>
                  <a:srgbClr val="0A192F"/>
                </a:solidFill>
                <a:latin typeface="Arial" pitchFamily="34" charset="0"/>
                <a:ea typeface="Arial" pitchFamily="34" charset="-122"/>
                <a:cs typeface="Arial" pitchFamily="34" charset="-120"/>
              </a:rPr>
              <a:t>شهادة معيارية موحدة</a:t>
            </a:r>
            <a:endParaRPr lang="en-US" sz="1500" dirty="0"/>
          </a:p>
        </p:txBody>
      </p:sp>
      <p:sp>
        <p:nvSpPr>
          <p:cNvPr id="23" name="Shape 21"/>
          <p:cNvSpPr/>
          <p:nvPr/>
        </p:nvSpPr>
        <p:spPr>
          <a:xfrm>
            <a:off x="3931920" y="1280160"/>
            <a:ext cx="1280160" cy="3154680"/>
          </a:xfrm>
          <a:prstGeom prst="rect">
            <a:avLst/>
          </a:prstGeom>
          <a:solidFill>
            <a:srgbClr val="0A192F"/>
          </a:solidFill>
          <a:ln w="12700">
            <a:solidFill>
              <a:srgbClr val="0A192F"/>
            </a:solidFill>
            <a:prstDash val="solid"/>
          </a:ln>
          <a:effectLst>
            <a:outerShdw blurRad="127000" dist="38100" dir="8100000" algn="bl" rotWithShape="0">
              <a:srgbClr val="000000">
                <a:alpha val="12000"/>
              </a:srgbClr>
            </a:outerShdw>
          </a:effectLst>
        </p:spPr>
        <p:txBody>
          <a:bodyPr/>
          <a:lstStyle/>
          <a:p>
            <a:endParaRPr lang="ar-SA"/>
          </a:p>
        </p:txBody>
      </p:sp>
      <p:sp>
        <p:nvSpPr>
          <p:cNvPr id="24" name="Text 22"/>
          <p:cNvSpPr/>
          <p:nvPr/>
        </p:nvSpPr>
        <p:spPr>
          <a:xfrm>
            <a:off x="3931920" y="2377440"/>
            <a:ext cx="1280160" cy="411480"/>
          </a:xfrm>
          <a:prstGeom prst="rect">
            <a:avLst/>
          </a:prstGeom>
          <a:noFill/>
          <a:ln/>
        </p:spPr>
        <p:txBody>
          <a:bodyPr wrap="square" lIns="0" tIns="0" rIns="0" bIns="0" rtlCol="0" anchor="ctr"/>
          <a:lstStyle/>
          <a:p>
            <a:pPr marL="0" indent="0" algn="ctr" rtl="1">
              <a:buNone/>
            </a:pPr>
            <a:r>
              <a:rPr lang="en-US" sz="2000" b="1" dirty="0">
                <a:solidFill>
                  <a:srgbClr val="F5A623"/>
                </a:solidFill>
                <a:latin typeface="Arial" pitchFamily="34" charset="0"/>
                <a:ea typeface="Arial" pitchFamily="34" charset="-122"/>
                <a:cs typeface="Arial" pitchFamily="34" charset="-120"/>
              </a:rPr>
              <a:t>الفجوة</a:t>
            </a:r>
            <a:endParaRPr lang="en-US" sz="2000" dirty="0"/>
          </a:p>
        </p:txBody>
      </p:sp>
      <p:sp>
        <p:nvSpPr>
          <p:cNvPr id="25" name="Text 23"/>
          <p:cNvSpPr/>
          <p:nvPr/>
        </p:nvSpPr>
        <p:spPr>
          <a:xfrm>
            <a:off x="3931920" y="2816352"/>
            <a:ext cx="1280160" cy="320040"/>
          </a:xfrm>
          <a:prstGeom prst="rect">
            <a:avLst/>
          </a:prstGeom>
          <a:noFill/>
          <a:ln/>
        </p:spPr>
        <p:txBody>
          <a:bodyPr wrap="square" lIns="0" tIns="0" rIns="0" bIns="0" rtlCol="0" anchor="ctr"/>
          <a:lstStyle/>
          <a:p>
            <a:pPr marL="0" indent="0" algn="ctr">
              <a:buNone/>
            </a:pPr>
            <a:r>
              <a:rPr lang="en-US" sz="1300" dirty="0">
                <a:solidFill>
                  <a:srgbClr val="00B4D8"/>
                </a:solidFill>
                <a:latin typeface="Arial" pitchFamily="34" charset="0"/>
                <a:ea typeface="Arial" pitchFamily="34" charset="-122"/>
                <a:cs typeface="Arial" pitchFamily="34" charset="-120"/>
              </a:rPr>
              <a:t>GAP</a:t>
            </a:r>
            <a:endParaRPr lang="en-US" sz="1300" dirty="0"/>
          </a:p>
        </p:txBody>
      </p:sp>
      <p:sp>
        <p:nvSpPr>
          <p:cNvPr id="26" name="Shape 24"/>
          <p:cNvSpPr/>
          <p:nvPr/>
        </p:nvSpPr>
        <p:spPr>
          <a:xfrm>
            <a:off x="4187952" y="1938528"/>
            <a:ext cx="777240" cy="64008"/>
          </a:xfrm>
          <a:prstGeom prst="rect">
            <a:avLst/>
          </a:prstGeom>
          <a:solidFill>
            <a:srgbClr val="F5A623"/>
          </a:solidFill>
          <a:ln w="12700">
            <a:solidFill>
              <a:srgbClr val="F5A623"/>
            </a:solidFill>
            <a:prstDash val="solid"/>
          </a:ln>
        </p:spPr>
        <p:txBody>
          <a:bodyPr/>
          <a:lstStyle/>
          <a:p>
            <a:endParaRPr lang="ar-SA"/>
          </a:p>
        </p:txBody>
      </p:sp>
      <p:sp>
        <p:nvSpPr>
          <p:cNvPr id="27" name="Shape 25"/>
          <p:cNvSpPr/>
          <p:nvPr/>
        </p:nvSpPr>
        <p:spPr>
          <a:xfrm>
            <a:off x="4187952" y="3401568"/>
            <a:ext cx="777240" cy="64008"/>
          </a:xfrm>
          <a:prstGeom prst="rect">
            <a:avLst/>
          </a:prstGeom>
          <a:solidFill>
            <a:srgbClr val="F5A623"/>
          </a:solidFill>
          <a:ln w="12700">
            <a:solidFill>
              <a:srgbClr val="F5A623"/>
            </a:solidFill>
            <a:prstDash val="solid"/>
          </a:ln>
        </p:spPr>
        <p:txBody>
          <a:bodyPr/>
          <a:lstStyle/>
          <a:p>
            <a:endParaRPr lang="ar-SA"/>
          </a:p>
        </p:txBody>
      </p:sp>
      <p:sp>
        <p:nvSpPr>
          <p:cNvPr id="28" name="Shape 26"/>
          <p:cNvSpPr/>
          <p:nvPr/>
        </p:nvSpPr>
        <p:spPr>
          <a:xfrm>
            <a:off x="4937760" y="457200"/>
            <a:ext cx="4206240" cy="4343400"/>
          </a:xfrm>
          <a:prstGeom prst="rect">
            <a:avLst/>
          </a:prstGeom>
          <a:solidFill>
            <a:srgbClr val="EEF8FF"/>
          </a:solidFill>
          <a:ln w="12700">
            <a:solidFill>
              <a:srgbClr val="C0D8EE"/>
            </a:solidFill>
            <a:prstDash val="solid"/>
          </a:ln>
        </p:spPr>
        <p:txBody>
          <a:bodyPr/>
          <a:lstStyle/>
          <a:p>
            <a:endParaRPr lang="ar-SA"/>
          </a:p>
        </p:txBody>
      </p:sp>
      <p:sp>
        <p:nvSpPr>
          <p:cNvPr id="29" name="Shape 27"/>
          <p:cNvSpPr/>
          <p:nvPr/>
        </p:nvSpPr>
        <p:spPr>
          <a:xfrm>
            <a:off x="4937760" y="457200"/>
            <a:ext cx="4206240" cy="64008"/>
          </a:xfrm>
          <a:prstGeom prst="rect">
            <a:avLst/>
          </a:prstGeom>
          <a:solidFill>
            <a:srgbClr val="00B4D8"/>
          </a:solidFill>
          <a:ln w="12700">
            <a:solidFill>
              <a:srgbClr val="00B4D8"/>
            </a:solidFill>
            <a:prstDash val="solid"/>
          </a:ln>
        </p:spPr>
        <p:txBody>
          <a:bodyPr/>
          <a:lstStyle/>
          <a:p>
            <a:endParaRPr lang="ar-SA"/>
          </a:p>
        </p:txBody>
      </p:sp>
      <p:sp>
        <p:nvSpPr>
          <p:cNvPr id="30" name="Text 28"/>
          <p:cNvSpPr/>
          <p:nvPr/>
        </p:nvSpPr>
        <p:spPr>
          <a:xfrm>
            <a:off x="5120640" y="658368"/>
            <a:ext cx="3840480" cy="411480"/>
          </a:xfrm>
          <a:prstGeom prst="rect">
            <a:avLst/>
          </a:prstGeom>
          <a:noFill/>
          <a:ln/>
        </p:spPr>
        <p:txBody>
          <a:bodyPr wrap="square" lIns="0" tIns="0" rIns="0" bIns="0" rtlCol="0" anchor="ctr"/>
          <a:lstStyle/>
          <a:p>
            <a:pPr marL="0" indent="0" algn="r" rtl="1">
              <a:buNone/>
            </a:pPr>
            <a:r>
              <a:rPr lang="en-US" sz="2200" b="1" dirty="0">
                <a:solidFill>
                  <a:srgbClr val="00B4D8"/>
                </a:solidFill>
                <a:latin typeface="Arial" pitchFamily="34" charset="0"/>
                <a:ea typeface="Arial" pitchFamily="34" charset="-122"/>
                <a:cs typeface="Arial" pitchFamily="34" charset="-120"/>
              </a:rPr>
              <a:t>سوق العمل</a:t>
            </a:r>
            <a:endParaRPr lang="en-US" sz="2200" dirty="0"/>
          </a:p>
        </p:txBody>
      </p:sp>
      <p:sp>
        <p:nvSpPr>
          <p:cNvPr id="31" name="Shape 29"/>
          <p:cNvSpPr/>
          <p:nvPr/>
        </p:nvSpPr>
        <p:spPr>
          <a:xfrm>
            <a:off x="5138928" y="1261872"/>
            <a:ext cx="3657600" cy="502920"/>
          </a:xfrm>
          <a:prstGeom prst="rect">
            <a:avLst/>
          </a:prstGeom>
          <a:solidFill>
            <a:srgbClr val="FFFFFF"/>
          </a:solidFill>
          <a:ln w="12700">
            <a:solidFill>
              <a:srgbClr val="B0D0E8"/>
            </a:solidFill>
            <a:prstDash val="solid"/>
          </a:ln>
          <a:effectLst>
            <a:outerShdw blurRad="177800" dist="25400" dir="8100000" algn="bl" rotWithShape="0">
              <a:srgbClr val="000000">
                <a:alpha val="10000"/>
              </a:srgbClr>
            </a:outerShdw>
          </a:effectLst>
        </p:spPr>
        <p:txBody>
          <a:bodyPr/>
          <a:lstStyle/>
          <a:p>
            <a:endParaRPr lang="ar-SA"/>
          </a:p>
        </p:txBody>
      </p:sp>
      <p:sp>
        <p:nvSpPr>
          <p:cNvPr id="32" name="Shape 30"/>
          <p:cNvSpPr/>
          <p:nvPr/>
        </p:nvSpPr>
        <p:spPr>
          <a:xfrm>
            <a:off x="5193792" y="1316736"/>
            <a:ext cx="301752" cy="301752"/>
          </a:xfrm>
          <a:prstGeom prst="ellipse">
            <a:avLst/>
          </a:prstGeom>
          <a:solidFill>
            <a:srgbClr val="00B4D8"/>
          </a:solidFill>
          <a:ln w="12700">
            <a:solidFill>
              <a:srgbClr val="00B4D8"/>
            </a:solidFill>
            <a:prstDash val="solid"/>
          </a:ln>
        </p:spPr>
        <p:txBody>
          <a:bodyPr/>
          <a:lstStyle/>
          <a:p>
            <a:endParaRPr lang="ar-SA"/>
          </a:p>
        </p:txBody>
      </p:sp>
      <p:sp>
        <p:nvSpPr>
          <p:cNvPr id="33" name="Text 31"/>
          <p:cNvSpPr/>
          <p:nvPr/>
        </p:nvSpPr>
        <p:spPr>
          <a:xfrm>
            <a:off x="5193792" y="1316736"/>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34" name="Text 32"/>
          <p:cNvSpPr/>
          <p:nvPr/>
        </p:nvSpPr>
        <p:spPr>
          <a:xfrm>
            <a:off x="5559552" y="1280160"/>
            <a:ext cx="3108960" cy="475488"/>
          </a:xfrm>
          <a:prstGeom prst="rect">
            <a:avLst/>
          </a:prstGeom>
          <a:noFill/>
          <a:ln/>
        </p:spPr>
        <p:txBody>
          <a:bodyPr wrap="square" lIns="0" tIns="0" rIns="0" bIns="0" rtlCol="0" anchor="ctr"/>
          <a:lstStyle/>
          <a:p>
            <a:pPr marL="0" indent="0" algn="r" rtl="1">
              <a:buNone/>
            </a:pPr>
            <a:r>
              <a:rPr lang="en-US" sz="1500" dirty="0">
                <a:solidFill>
                  <a:srgbClr val="005F73"/>
                </a:solidFill>
                <a:latin typeface="Arial" pitchFamily="34" charset="0"/>
                <a:ea typeface="Arial" pitchFamily="34" charset="-122"/>
                <a:cs typeface="Arial" pitchFamily="34" charset="-120"/>
              </a:rPr>
              <a:t>مهارات تتغير كل 6 أشهر</a:t>
            </a:r>
            <a:endParaRPr lang="en-US" sz="1500" dirty="0"/>
          </a:p>
        </p:txBody>
      </p:sp>
      <p:sp>
        <p:nvSpPr>
          <p:cNvPr id="35" name="Shape 33"/>
          <p:cNvSpPr/>
          <p:nvPr/>
        </p:nvSpPr>
        <p:spPr>
          <a:xfrm>
            <a:off x="5138928" y="1883664"/>
            <a:ext cx="3657600" cy="502920"/>
          </a:xfrm>
          <a:prstGeom prst="rect">
            <a:avLst/>
          </a:prstGeom>
          <a:solidFill>
            <a:srgbClr val="FFFFFF"/>
          </a:solidFill>
          <a:ln w="12700">
            <a:solidFill>
              <a:srgbClr val="B0D0E8"/>
            </a:solidFill>
            <a:prstDash val="solid"/>
          </a:ln>
          <a:effectLst>
            <a:outerShdw blurRad="177800" dist="25400" dir="8100000" algn="bl" rotWithShape="0">
              <a:srgbClr val="000000">
                <a:alpha val="10000"/>
              </a:srgbClr>
            </a:outerShdw>
          </a:effectLst>
        </p:spPr>
        <p:txBody>
          <a:bodyPr/>
          <a:lstStyle/>
          <a:p>
            <a:endParaRPr lang="ar-SA"/>
          </a:p>
        </p:txBody>
      </p:sp>
      <p:sp>
        <p:nvSpPr>
          <p:cNvPr id="36" name="Shape 34"/>
          <p:cNvSpPr/>
          <p:nvPr/>
        </p:nvSpPr>
        <p:spPr>
          <a:xfrm>
            <a:off x="5193792" y="1938528"/>
            <a:ext cx="301752" cy="301752"/>
          </a:xfrm>
          <a:prstGeom prst="ellipse">
            <a:avLst/>
          </a:prstGeom>
          <a:solidFill>
            <a:srgbClr val="00B4D8"/>
          </a:solidFill>
          <a:ln w="12700">
            <a:solidFill>
              <a:srgbClr val="00B4D8"/>
            </a:solidFill>
            <a:prstDash val="solid"/>
          </a:ln>
        </p:spPr>
        <p:txBody>
          <a:bodyPr/>
          <a:lstStyle/>
          <a:p>
            <a:endParaRPr lang="ar-SA"/>
          </a:p>
        </p:txBody>
      </p:sp>
      <p:sp>
        <p:nvSpPr>
          <p:cNvPr id="37" name="Text 35"/>
          <p:cNvSpPr/>
          <p:nvPr/>
        </p:nvSpPr>
        <p:spPr>
          <a:xfrm>
            <a:off x="5193792" y="1938528"/>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8" name="Text 36"/>
          <p:cNvSpPr/>
          <p:nvPr/>
        </p:nvSpPr>
        <p:spPr>
          <a:xfrm>
            <a:off x="5559552" y="1901952"/>
            <a:ext cx="3108960" cy="475488"/>
          </a:xfrm>
          <a:prstGeom prst="rect">
            <a:avLst/>
          </a:prstGeom>
          <a:noFill/>
          <a:ln/>
        </p:spPr>
        <p:txBody>
          <a:bodyPr wrap="square" lIns="0" tIns="0" rIns="0" bIns="0" rtlCol="0" anchor="ctr"/>
          <a:lstStyle/>
          <a:p>
            <a:pPr marL="0" indent="0" algn="r" rtl="1">
              <a:buNone/>
            </a:pPr>
            <a:r>
              <a:rPr lang="en-US" sz="1500" dirty="0">
                <a:solidFill>
                  <a:srgbClr val="005F73"/>
                </a:solidFill>
                <a:latin typeface="Arial" pitchFamily="34" charset="0"/>
                <a:ea typeface="Arial" pitchFamily="34" charset="-122"/>
                <a:cs typeface="Arial" pitchFamily="34" charset="-120"/>
              </a:rPr>
              <a:t>أدوات وتقنيات جديدة يومياً</a:t>
            </a:r>
            <a:endParaRPr lang="en-US" sz="1500" dirty="0"/>
          </a:p>
        </p:txBody>
      </p:sp>
      <p:sp>
        <p:nvSpPr>
          <p:cNvPr id="39" name="Shape 37"/>
          <p:cNvSpPr/>
          <p:nvPr/>
        </p:nvSpPr>
        <p:spPr>
          <a:xfrm>
            <a:off x="5138928" y="2505456"/>
            <a:ext cx="3657600" cy="502920"/>
          </a:xfrm>
          <a:prstGeom prst="rect">
            <a:avLst/>
          </a:prstGeom>
          <a:solidFill>
            <a:srgbClr val="FFFFFF"/>
          </a:solidFill>
          <a:ln w="12700">
            <a:solidFill>
              <a:srgbClr val="B0D0E8"/>
            </a:solidFill>
            <a:prstDash val="solid"/>
          </a:ln>
          <a:effectLst>
            <a:outerShdw blurRad="177800" dist="25400" dir="8100000" algn="bl" rotWithShape="0">
              <a:srgbClr val="000000">
                <a:alpha val="10000"/>
              </a:srgbClr>
            </a:outerShdw>
          </a:effectLst>
        </p:spPr>
        <p:txBody>
          <a:bodyPr/>
          <a:lstStyle/>
          <a:p>
            <a:endParaRPr lang="ar-SA"/>
          </a:p>
        </p:txBody>
      </p:sp>
      <p:sp>
        <p:nvSpPr>
          <p:cNvPr id="40" name="Shape 38"/>
          <p:cNvSpPr/>
          <p:nvPr/>
        </p:nvSpPr>
        <p:spPr>
          <a:xfrm>
            <a:off x="5193792" y="2560320"/>
            <a:ext cx="301752" cy="301752"/>
          </a:xfrm>
          <a:prstGeom prst="ellipse">
            <a:avLst/>
          </a:prstGeom>
          <a:solidFill>
            <a:srgbClr val="00B4D8"/>
          </a:solidFill>
          <a:ln w="12700">
            <a:solidFill>
              <a:srgbClr val="00B4D8"/>
            </a:solidFill>
            <a:prstDash val="solid"/>
          </a:ln>
        </p:spPr>
        <p:txBody>
          <a:bodyPr/>
          <a:lstStyle/>
          <a:p>
            <a:endParaRPr lang="ar-SA"/>
          </a:p>
        </p:txBody>
      </p:sp>
      <p:sp>
        <p:nvSpPr>
          <p:cNvPr id="41" name="Text 39"/>
          <p:cNvSpPr/>
          <p:nvPr/>
        </p:nvSpPr>
        <p:spPr>
          <a:xfrm>
            <a:off x="5193792" y="2560320"/>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42" name="Text 40"/>
          <p:cNvSpPr/>
          <p:nvPr/>
        </p:nvSpPr>
        <p:spPr>
          <a:xfrm>
            <a:off x="5559552" y="2523744"/>
            <a:ext cx="3108960" cy="475488"/>
          </a:xfrm>
          <a:prstGeom prst="rect">
            <a:avLst/>
          </a:prstGeom>
          <a:noFill/>
          <a:ln/>
        </p:spPr>
        <p:txBody>
          <a:bodyPr wrap="square" lIns="0" tIns="0" rIns="0" bIns="0" rtlCol="0" anchor="ctr"/>
          <a:lstStyle/>
          <a:p>
            <a:pPr marL="0" indent="0" algn="r" rtl="1">
              <a:buNone/>
            </a:pPr>
            <a:r>
              <a:rPr lang="en-US" sz="1500" dirty="0">
                <a:solidFill>
                  <a:srgbClr val="005F73"/>
                </a:solidFill>
                <a:latin typeface="Arial" pitchFamily="34" charset="0"/>
                <a:ea typeface="Arial" pitchFamily="34" charset="-122"/>
                <a:cs typeface="Arial" pitchFamily="34" charset="-120"/>
              </a:rPr>
              <a:t>شهادات صناعية متجددة</a:t>
            </a:r>
            <a:endParaRPr lang="en-US" sz="1500" dirty="0"/>
          </a:p>
        </p:txBody>
      </p:sp>
      <p:sp>
        <p:nvSpPr>
          <p:cNvPr id="43" name="Shape 41"/>
          <p:cNvSpPr/>
          <p:nvPr/>
        </p:nvSpPr>
        <p:spPr>
          <a:xfrm>
            <a:off x="5138928" y="3127248"/>
            <a:ext cx="3657600" cy="502920"/>
          </a:xfrm>
          <a:prstGeom prst="rect">
            <a:avLst/>
          </a:prstGeom>
          <a:solidFill>
            <a:srgbClr val="FFFFFF"/>
          </a:solidFill>
          <a:ln w="12700">
            <a:solidFill>
              <a:srgbClr val="B0D0E8"/>
            </a:solidFill>
            <a:prstDash val="solid"/>
          </a:ln>
          <a:effectLst>
            <a:outerShdw blurRad="177800" dist="25400" dir="8100000" algn="bl" rotWithShape="0">
              <a:srgbClr val="000000">
                <a:alpha val="10000"/>
              </a:srgbClr>
            </a:outerShdw>
          </a:effectLst>
        </p:spPr>
        <p:txBody>
          <a:bodyPr/>
          <a:lstStyle/>
          <a:p>
            <a:endParaRPr lang="ar-SA"/>
          </a:p>
        </p:txBody>
      </p:sp>
      <p:sp>
        <p:nvSpPr>
          <p:cNvPr id="44" name="Shape 42"/>
          <p:cNvSpPr/>
          <p:nvPr/>
        </p:nvSpPr>
        <p:spPr>
          <a:xfrm>
            <a:off x="5193792" y="3182112"/>
            <a:ext cx="301752" cy="301752"/>
          </a:xfrm>
          <a:prstGeom prst="ellipse">
            <a:avLst/>
          </a:prstGeom>
          <a:solidFill>
            <a:srgbClr val="00B4D8"/>
          </a:solidFill>
          <a:ln w="12700">
            <a:solidFill>
              <a:srgbClr val="00B4D8"/>
            </a:solidFill>
            <a:prstDash val="solid"/>
          </a:ln>
        </p:spPr>
        <p:txBody>
          <a:bodyPr/>
          <a:lstStyle/>
          <a:p>
            <a:endParaRPr lang="ar-SA"/>
          </a:p>
        </p:txBody>
      </p:sp>
      <p:sp>
        <p:nvSpPr>
          <p:cNvPr id="45" name="Text 43"/>
          <p:cNvSpPr/>
          <p:nvPr/>
        </p:nvSpPr>
        <p:spPr>
          <a:xfrm>
            <a:off x="5193792" y="3182112"/>
            <a:ext cx="301752" cy="3017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46" name="Text 44"/>
          <p:cNvSpPr/>
          <p:nvPr/>
        </p:nvSpPr>
        <p:spPr>
          <a:xfrm>
            <a:off x="5559552" y="3145536"/>
            <a:ext cx="3108960" cy="475488"/>
          </a:xfrm>
          <a:prstGeom prst="rect">
            <a:avLst/>
          </a:prstGeom>
          <a:noFill/>
          <a:ln/>
        </p:spPr>
        <p:txBody>
          <a:bodyPr wrap="square" lIns="0" tIns="0" rIns="0" bIns="0" rtlCol="0" anchor="ctr"/>
          <a:lstStyle/>
          <a:p>
            <a:pPr marL="0" indent="0" algn="r" rtl="1">
              <a:buNone/>
            </a:pPr>
            <a:r>
              <a:rPr lang="en-US" sz="1500" dirty="0">
                <a:solidFill>
                  <a:srgbClr val="005F73"/>
                </a:solidFill>
                <a:latin typeface="Arial" pitchFamily="34" charset="0"/>
                <a:ea typeface="Arial" pitchFamily="34" charset="-122"/>
                <a:cs typeface="Arial" pitchFamily="34" charset="-120"/>
              </a:rPr>
              <a:t>تطبيقات عملية مباشرة</a:t>
            </a:r>
            <a:endParaRPr lang="en-US" sz="1500" dirty="0"/>
          </a:p>
        </p:txBody>
      </p:sp>
      <p:sp>
        <p:nvSpPr>
          <p:cNvPr id="47" name="Text 45"/>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Arial" pitchFamily="34" charset="0"/>
                <a:ea typeface="Arial" pitchFamily="34" charset="-122"/>
                <a:cs typeface="Arial" pitchFamily="34" charset="-120"/>
              </a:rPr>
              <a:t>مقرري+</a:t>
            </a:r>
            <a:endParaRPr lang="en-US" sz="1200" dirty="0"/>
          </a:p>
        </p:txBody>
      </p:sp>
      <p:sp>
        <p:nvSpPr>
          <p:cNvPr id="48" name="Text 46"/>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100" dirty="0">
                <a:solidFill>
                  <a:srgbClr val="AAAAAA"/>
                </a:solidFill>
                <a:latin typeface="Arial" pitchFamily="34" charset="0"/>
                <a:ea typeface="Arial" pitchFamily="34" charset="-122"/>
                <a:cs typeface="Arial" pitchFamily="34" charset="-120"/>
              </a:rPr>
              <a:t>2 / 14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3" name="Text 1"/>
          <p:cNvSpPr/>
          <p:nvPr/>
        </p:nvSpPr>
        <p:spPr>
          <a:xfrm>
            <a:off x="384048" y="137160"/>
            <a:ext cx="8375904" cy="475488"/>
          </a:xfrm>
          <a:prstGeom prst="rect">
            <a:avLst/>
          </a:prstGeom>
          <a:noFill/>
          <a:ln/>
        </p:spPr>
        <p:txBody>
          <a:bodyPr wrap="square" lIns="0" tIns="0" rIns="0" bIns="0" rtlCol="0" anchor="ctr"/>
          <a:lstStyle/>
          <a:p>
            <a:pPr marL="0" indent="0" algn="r" rtl="1">
              <a:buNone/>
            </a:pPr>
            <a:r>
              <a:rPr lang="en-US" b="1" dirty="0">
                <a:solidFill>
                  <a:srgbClr val="FFFFFF"/>
                </a:solidFill>
                <a:latin typeface="Montserrat-Arabic" panose="00000500000000000000" pitchFamily="2" charset="-78"/>
                <a:ea typeface="Arial" pitchFamily="34" charset="-122"/>
                <a:cs typeface="Montserrat-Arabic" panose="00000500000000000000" pitchFamily="2" charset="-78"/>
              </a:rPr>
              <a:t>الأرقام تتحدث — المشكلة ليست افتراضاً</a:t>
            </a:r>
            <a:endParaRPr lang="en-US" dirty="0">
              <a:latin typeface="Montserrat-Arabic" panose="00000500000000000000" pitchFamily="2" charset="-78"/>
              <a:cs typeface="Montserrat-Arabic" panose="00000500000000000000" pitchFamily="2" charset="-78"/>
            </a:endParaRPr>
          </a:p>
        </p:txBody>
      </p:sp>
      <p:sp>
        <p:nvSpPr>
          <p:cNvPr id="4" name="Shape 2"/>
          <p:cNvSpPr/>
          <p:nvPr/>
        </p:nvSpPr>
        <p:spPr>
          <a:xfrm>
            <a:off x="5833872" y="612648"/>
            <a:ext cx="2926080" cy="41148"/>
          </a:xfrm>
          <a:prstGeom prst="rect">
            <a:avLst/>
          </a:prstGeom>
          <a:solidFill>
            <a:srgbClr val="F5A623"/>
          </a:solidFill>
          <a:ln w="12700">
            <a:solidFill>
              <a:srgbClr val="F5A623"/>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5" name="Shape 3"/>
          <p:cNvSpPr/>
          <p:nvPr/>
        </p:nvSpPr>
        <p:spPr>
          <a:xfrm>
            <a:off x="457200" y="804672"/>
            <a:ext cx="2627376" cy="3456432"/>
          </a:xfrm>
          <a:prstGeom prst="rect">
            <a:avLst/>
          </a:prstGeom>
          <a:solidFill>
            <a:srgbClr val="1A3055"/>
          </a:solidFill>
          <a:ln w="25400">
            <a:solidFill>
              <a:srgbClr val="EF476F"/>
            </a:solidFill>
            <a:prstDash val="solid"/>
          </a:ln>
          <a:effectLst>
            <a:outerShdw blurRad="127000" dist="38100" dir="8100000" algn="bl" rotWithShape="0">
              <a:srgbClr val="000000">
                <a:alpha val="12000"/>
              </a:srgbClr>
            </a:outerShdw>
          </a:effectLst>
        </p:spPr>
        <p:txBody>
          <a:bodyPr/>
          <a:lstStyle/>
          <a:p>
            <a:endParaRPr lang="ar-SA" sz="1400">
              <a:latin typeface="Montserrat-Arabic" panose="00000500000000000000" pitchFamily="2" charset="-78"/>
              <a:cs typeface="Montserrat-Arabic" panose="00000500000000000000" pitchFamily="2" charset="-78"/>
            </a:endParaRPr>
          </a:p>
        </p:txBody>
      </p:sp>
      <p:sp>
        <p:nvSpPr>
          <p:cNvPr id="6" name="Shape 4"/>
          <p:cNvSpPr/>
          <p:nvPr/>
        </p:nvSpPr>
        <p:spPr>
          <a:xfrm>
            <a:off x="457200" y="804672"/>
            <a:ext cx="2627376" cy="59436"/>
          </a:xfrm>
          <a:prstGeom prst="rect">
            <a:avLst/>
          </a:prstGeom>
          <a:solidFill>
            <a:srgbClr val="EF476F"/>
          </a:solidFill>
          <a:ln w="12700">
            <a:solidFill>
              <a:srgbClr val="EF476F"/>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7" name="Text 5"/>
          <p:cNvSpPr/>
          <p:nvPr/>
        </p:nvSpPr>
        <p:spPr>
          <a:xfrm>
            <a:off x="457200" y="1024128"/>
            <a:ext cx="2627376" cy="822960"/>
          </a:xfrm>
          <a:prstGeom prst="rect">
            <a:avLst/>
          </a:prstGeom>
          <a:noFill/>
          <a:ln/>
        </p:spPr>
        <p:txBody>
          <a:bodyPr wrap="square" lIns="0" tIns="0" rIns="0" bIns="0" rtlCol="0" anchor="ctr"/>
          <a:lstStyle/>
          <a:p>
            <a:pPr marL="0" indent="0" algn="ctr">
              <a:buNone/>
            </a:pPr>
            <a:r>
              <a:rPr lang="en-US" sz="4400" b="1" dirty="0">
                <a:solidFill>
                  <a:srgbClr val="EF476F"/>
                </a:solidFill>
                <a:latin typeface="Montserrat-Arabic" panose="00000500000000000000" pitchFamily="2" charset="-78"/>
                <a:ea typeface="Arial" pitchFamily="34" charset="-122"/>
                <a:cs typeface="Montserrat-Arabic" panose="00000500000000000000" pitchFamily="2" charset="-78"/>
              </a:rPr>
              <a:t>31%</a:t>
            </a:r>
            <a:endParaRPr lang="en-US" sz="4400" dirty="0">
              <a:latin typeface="Montserrat-Arabic" panose="00000500000000000000" pitchFamily="2" charset="-78"/>
              <a:cs typeface="Montserrat-Arabic" panose="00000500000000000000" pitchFamily="2" charset="-78"/>
            </a:endParaRPr>
          </a:p>
        </p:txBody>
      </p:sp>
      <p:sp>
        <p:nvSpPr>
          <p:cNvPr id="8" name="Text 6"/>
          <p:cNvSpPr/>
          <p:nvPr/>
        </p:nvSpPr>
        <p:spPr>
          <a:xfrm>
            <a:off x="548640" y="2212848"/>
            <a:ext cx="2444496" cy="914400"/>
          </a:xfrm>
          <a:prstGeom prst="rect">
            <a:avLst/>
          </a:prstGeom>
          <a:noFill/>
          <a:ln/>
        </p:spPr>
        <p:txBody>
          <a:bodyPr wrap="square" lIns="0" tIns="0" rIns="0" bIns="0" rtlCol="0" anchor="ctr"/>
          <a:lstStyle/>
          <a:p>
            <a:pPr marL="0" indent="0" algn="ctr" rtl="1">
              <a:buNone/>
            </a:pPr>
            <a:r>
              <a:rPr lang="en-US" sz="1100" dirty="0">
                <a:solidFill>
                  <a:srgbClr val="E8F4F8"/>
                </a:solidFill>
                <a:latin typeface="Montserrat-Arabic" panose="00000500000000000000" pitchFamily="2" charset="-78"/>
                <a:ea typeface="Arial" pitchFamily="34" charset="-122"/>
                <a:cs typeface="Montserrat-Arabic" panose="00000500000000000000" pitchFamily="2" charset="-78"/>
              </a:rPr>
              <a:t>فقط من خريجي البكالوريوس</a:t>
            </a:r>
            <a:endParaRPr lang="en-US" sz="1100" dirty="0">
              <a:latin typeface="Montserrat-Arabic" panose="00000500000000000000" pitchFamily="2" charset="-78"/>
              <a:cs typeface="Montserrat-Arabic" panose="00000500000000000000" pitchFamily="2" charset="-78"/>
            </a:endParaRPr>
          </a:p>
          <a:p>
            <a:pPr marL="0" indent="0" algn="ctr" rtl="1">
              <a:buNone/>
            </a:pPr>
            <a:r>
              <a:rPr lang="en-US" sz="1100" dirty="0">
                <a:solidFill>
                  <a:srgbClr val="E8F4F8"/>
                </a:solidFill>
                <a:latin typeface="Montserrat-Arabic" panose="00000500000000000000" pitchFamily="2" charset="-78"/>
                <a:ea typeface="Arial" pitchFamily="34" charset="-122"/>
                <a:cs typeface="Montserrat-Arabic" panose="00000500000000000000" pitchFamily="2" charset="-78"/>
              </a:rPr>
              <a:t>يجدون وظيفة خلال سنة كاملة</a:t>
            </a:r>
            <a:endParaRPr lang="en-US" sz="1100" dirty="0">
              <a:latin typeface="Montserrat-Arabic" panose="00000500000000000000" pitchFamily="2" charset="-78"/>
              <a:cs typeface="Montserrat-Arabic" panose="00000500000000000000" pitchFamily="2" charset="-78"/>
            </a:endParaRPr>
          </a:p>
        </p:txBody>
      </p:sp>
      <p:sp>
        <p:nvSpPr>
          <p:cNvPr id="9" name="Shape 7"/>
          <p:cNvSpPr/>
          <p:nvPr/>
        </p:nvSpPr>
        <p:spPr>
          <a:xfrm>
            <a:off x="530352" y="3200400"/>
            <a:ext cx="2481072" cy="402336"/>
          </a:xfrm>
          <a:prstGeom prst="rect">
            <a:avLst/>
          </a:prstGeom>
          <a:solidFill>
            <a:srgbClr val="0A192F"/>
          </a:solidFill>
          <a:ln w="12700">
            <a:solidFill>
              <a:srgbClr val="EF476F"/>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10" name="Text 8"/>
          <p:cNvSpPr/>
          <p:nvPr/>
        </p:nvSpPr>
        <p:spPr>
          <a:xfrm>
            <a:off x="530352" y="3218688"/>
            <a:ext cx="2481072" cy="365760"/>
          </a:xfrm>
          <a:prstGeom prst="rect">
            <a:avLst/>
          </a:prstGeom>
          <a:noFill/>
          <a:ln/>
        </p:spPr>
        <p:txBody>
          <a:bodyPr wrap="square" lIns="0" tIns="0" rIns="0" bIns="0" rtlCol="0" anchor="ctr"/>
          <a:lstStyle/>
          <a:p>
            <a:pPr marL="0" indent="0" algn="ctr" rtl="1">
              <a:buNone/>
            </a:pPr>
            <a:r>
              <a:rPr lang="en-US" sz="1000" dirty="0">
                <a:solidFill>
                  <a:srgbClr val="EF476F"/>
                </a:solidFill>
                <a:latin typeface="Montserrat-Arabic" panose="00000500000000000000" pitchFamily="2" charset="-78"/>
                <a:ea typeface="Arial" pitchFamily="34" charset="-122"/>
                <a:cs typeface="Montserrat-Arabic" panose="00000500000000000000" pitchFamily="2" charset="-78"/>
              </a:rPr>
              <a:t>المرصد الوطني للعمل — NLO</a:t>
            </a:r>
            <a:endParaRPr lang="en-US" sz="1000" dirty="0">
              <a:latin typeface="Montserrat-Arabic" panose="00000500000000000000" pitchFamily="2" charset="-78"/>
              <a:cs typeface="Montserrat-Arabic" panose="00000500000000000000" pitchFamily="2" charset="-78"/>
            </a:endParaRPr>
          </a:p>
        </p:txBody>
      </p:sp>
      <p:sp>
        <p:nvSpPr>
          <p:cNvPr id="11" name="Shape 9"/>
          <p:cNvSpPr/>
          <p:nvPr/>
        </p:nvSpPr>
        <p:spPr>
          <a:xfrm>
            <a:off x="3249168" y="804672"/>
            <a:ext cx="2627376" cy="3456432"/>
          </a:xfrm>
          <a:prstGeom prst="rect">
            <a:avLst/>
          </a:prstGeom>
          <a:solidFill>
            <a:srgbClr val="1A3055"/>
          </a:solidFill>
          <a:ln w="25400">
            <a:solidFill>
              <a:srgbClr val="F5A623"/>
            </a:solidFill>
            <a:prstDash val="solid"/>
          </a:ln>
          <a:effectLst>
            <a:outerShdw blurRad="127000" dist="38100" dir="8100000" algn="bl" rotWithShape="0">
              <a:srgbClr val="000000">
                <a:alpha val="12000"/>
              </a:srgbClr>
            </a:outerShdw>
          </a:effectLst>
        </p:spPr>
        <p:txBody>
          <a:bodyPr/>
          <a:lstStyle/>
          <a:p>
            <a:endParaRPr lang="ar-SA" sz="1400">
              <a:latin typeface="Montserrat-Arabic" panose="00000500000000000000" pitchFamily="2" charset="-78"/>
              <a:cs typeface="Montserrat-Arabic" panose="00000500000000000000" pitchFamily="2" charset="-78"/>
            </a:endParaRPr>
          </a:p>
        </p:txBody>
      </p:sp>
      <p:sp>
        <p:nvSpPr>
          <p:cNvPr id="12" name="Shape 10"/>
          <p:cNvSpPr/>
          <p:nvPr/>
        </p:nvSpPr>
        <p:spPr>
          <a:xfrm>
            <a:off x="3249168" y="804672"/>
            <a:ext cx="2627376" cy="59436"/>
          </a:xfrm>
          <a:prstGeom prst="rect">
            <a:avLst/>
          </a:prstGeom>
          <a:solidFill>
            <a:srgbClr val="F5A623"/>
          </a:solidFill>
          <a:ln w="12700">
            <a:solidFill>
              <a:srgbClr val="F5A623"/>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13" name="Text 11"/>
          <p:cNvSpPr/>
          <p:nvPr/>
        </p:nvSpPr>
        <p:spPr>
          <a:xfrm>
            <a:off x="3249168" y="1024128"/>
            <a:ext cx="2627376" cy="822960"/>
          </a:xfrm>
          <a:prstGeom prst="rect">
            <a:avLst/>
          </a:prstGeom>
          <a:noFill/>
          <a:ln/>
        </p:spPr>
        <p:txBody>
          <a:bodyPr wrap="square" lIns="0" tIns="0" rIns="0" bIns="0" rtlCol="0" anchor="ctr"/>
          <a:lstStyle/>
          <a:p>
            <a:pPr marL="0" indent="0" algn="ctr">
              <a:buNone/>
            </a:pPr>
            <a:r>
              <a:rPr lang="en-US" sz="4400" b="1" dirty="0">
                <a:solidFill>
                  <a:srgbClr val="F5A623"/>
                </a:solidFill>
                <a:latin typeface="Montserrat-Arabic" panose="00000500000000000000" pitchFamily="2" charset="-78"/>
                <a:ea typeface="Arial" pitchFamily="34" charset="-122"/>
                <a:cs typeface="Montserrat-Arabic" panose="00000500000000000000" pitchFamily="2" charset="-78"/>
              </a:rPr>
              <a:t>277</a:t>
            </a:r>
            <a:endParaRPr lang="en-US" sz="4400" dirty="0">
              <a:latin typeface="Montserrat-Arabic" panose="00000500000000000000" pitchFamily="2" charset="-78"/>
              <a:cs typeface="Montserrat-Arabic" panose="00000500000000000000" pitchFamily="2" charset="-78"/>
            </a:endParaRPr>
          </a:p>
        </p:txBody>
      </p:sp>
      <p:sp>
        <p:nvSpPr>
          <p:cNvPr id="14" name="Text 12"/>
          <p:cNvSpPr/>
          <p:nvPr/>
        </p:nvSpPr>
        <p:spPr>
          <a:xfrm>
            <a:off x="3249168" y="1874520"/>
            <a:ext cx="2627376" cy="292608"/>
          </a:xfrm>
          <a:prstGeom prst="rect">
            <a:avLst/>
          </a:prstGeom>
          <a:noFill/>
          <a:ln/>
        </p:spPr>
        <p:txBody>
          <a:bodyPr wrap="square" lIns="0" tIns="0" rIns="0" bIns="0" rtlCol="0" anchor="ctr"/>
          <a:lstStyle/>
          <a:p>
            <a:pPr marL="0" indent="0" algn="ctr" rtl="1">
              <a:buNone/>
            </a:pPr>
            <a:r>
              <a:rPr lang="en-US" sz="1400" dirty="0">
                <a:solidFill>
                  <a:srgbClr val="FFFFFF"/>
                </a:solidFill>
                <a:latin typeface="Montserrat-Arabic" panose="00000500000000000000" pitchFamily="2" charset="-78"/>
                <a:ea typeface="Arial" pitchFamily="34" charset="-122"/>
                <a:cs typeface="Montserrat-Arabic" panose="00000500000000000000" pitchFamily="2" charset="-78"/>
              </a:rPr>
              <a:t>يوماً</a:t>
            </a:r>
            <a:endParaRPr lang="en-US" sz="1400" dirty="0">
              <a:latin typeface="Montserrat-Arabic" panose="00000500000000000000" pitchFamily="2" charset="-78"/>
              <a:cs typeface="Montserrat-Arabic" panose="00000500000000000000" pitchFamily="2" charset="-78"/>
            </a:endParaRPr>
          </a:p>
        </p:txBody>
      </p:sp>
      <p:sp>
        <p:nvSpPr>
          <p:cNvPr id="15" name="Text 13"/>
          <p:cNvSpPr/>
          <p:nvPr/>
        </p:nvSpPr>
        <p:spPr>
          <a:xfrm>
            <a:off x="3340608" y="2212848"/>
            <a:ext cx="2444496" cy="914400"/>
          </a:xfrm>
          <a:prstGeom prst="rect">
            <a:avLst/>
          </a:prstGeom>
          <a:noFill/>
          <a:ln/>
        </p:spPr>
        <p:txBody>
          <a:bodyPr wrap="square" lIns="0" tIns="0" rIns="0" bIns="0" rtlCol="0" anchor="ctr"/>
          <a:lstStyle/>
          <a:p>
            <a:pPr marL="0" indent="0" algn="ctr" rtl="1">
              <a:buNone/>
            </a:pPr>
            <a:r>
              <a:rPr lang="en-US" sz="1100" dirty="0">
                <a:solidFill>
                  <a:srgbClr val="E8F4F8"/>
                </a:solidFill>
                <a:latin typeface="Montserrat-Arabic" panose="00000500000000000000" pitchFamily="2" charset="-78"/>
                <a:ea typeface="Arial" pitchFamily="34" charset="-122"/>
                <a:cs typeface="Montserrat-Arabic" panose="00000500000000000000" pitchFamily="2" charset="-78"/>
              </a:rPr>
              <a:t>متوسط الوقت الذي</a:t>
            </a:r>
            <a:endParaRPr lang="en-US" sz="1100" dirty="0">
              <a:latin typeface="Montserrat-Arabic" panose="00000500000000000000" pitchFamily="2" charset="-78"/>
              <a:cs typeface="Montserrat-Arabic" panose="00000500000000000000" pitchFamily="2" charset="-78"/>
            </a:endParaRPr>
          </a:p>
          <a:p>
            <a:pPr marL="0" indent="0" algn="ctr" rtl="1">
              <a:buNone/>
            </a:pPr>
            <a:r>
              <a:rPr lang="en-US" sz="1100" dirty="0">
                <a:solidFill>
                  <a:srgbClr val="E8F4F8"/>
                </a:solidFill>
                <a:latin typeface="Montserrat-Arabic" panose="00000500000000000000" pitchFamily="2" charset="-78"/>
                <a:ea typeface="Arial" pitchFamily="34" charset="-122"/>
                <a:cs typeface="Montserrat-Arabic" panose="00000500000000000000" pitchFamily="2" charset="-78"/>
              </a:rPr>
              <a:t>ينتظره الخريج قبل أول وظيفة</a:t>
            </a:r>
            <a:endParaRPr lang="en-US" sz="1100" dirty="0">
              <a:latin typeface="Montserrat-Arabic" panose="00000500000000000000" pitchFamily="2" charset="-78"/>
              <a:cs typeface="Montserrat-Arabic" panose="00000500000000000000" pitchFamily="2" charset="-78"/>
            </a:endParaRPr>
          </a:p>
        </p:txBody>
      </p:sp>
      <p:sp>
        <p:nvSpPr>
          <p:cNvPr id="16" name="Shape 14"/>
          <p:cNvSpPr/>
          <p:nvPr/>
        </p:nvSpPr>
        <p:spPr>
          <a:xfrm>
            <a:off x="3322320" y="3200400"/>
            <a:ext cx="2481072" cy="402336"/>
          </a:xfrm>
          <a:prstGeom prst="rect">
            <a:avLst/>
          </a:prstGeom>
          <a:solidFill>
            <a:srgbClr val="0A192F"/>
          </a:solidFill>
          <a:ln w="12700">
            <a:solidFill>
              <a:srgbClr val="F5A623"/>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17" name="Text 15"/>
          <p:cNvSpPr/>
          <p:nvPr/>
        </p:nvSpPr>
        <p:spPr>
          <a:xfrm>
            <a:off x="3322320" y="3218688"/>
            <a:ext cx="2481072" cy="365760"/>
          </a:xfrm>
          <a:prstGeom prst="rect">
            <a:avLst/>
          </a:prstGeom>
          <a:noFill/>
          <a:ln/>
        </p:spPr>
        <p:txBody>
          <a:bodyPr wrap="square" lIns="0" tIns="0" rIns="0" bIns="0" rtlCol="0" anchor="ctr"/>
          <a:lstStyle/>
          <a:p>
            <a:pPr marL="0" indent="0" algn="ctr" rtl="1">
              <a:buNone/>
            </a:pPr>
            <a:r>
              <a:rPr lang="en-US" sz="1000" dirty="0">
                <a:solidFill>
                  <a:srgbClr val="F5A623"/>
                </a:solidFill>
                <a:latin typeface="Montserrat-Arabic" panose="00000500000000000000" pitchFamily="2" charset="-78"/>
                <a:ea typeface="Arial" pitchFamily="34" charset="-122"/>
                <a:cs typeface="Montserrat-Arabic" panose="00000500000000000000" pitchFamily="2" charset="-78"/>
              </a:rPr>
              <a:t>المرصد الوطني للعمل — NLO</a:t>
            </a:r>
            <a:endParaRPr lang="en-US" sz="1000" dirty="0">
              <a:latin typeface="Montserrat-Arabic" panose="00000500000000000000" pitchFamily="2" charset="-78"/>
              <a:cs typeface="Montserrat-Arabic" panose="00000500000000000000" pitchFamily="2" charset="-78"/>
            </a:endParaRPr>
          </a:p>
        </p:txBody>
      </p:sp>
      <p:sp>
        <p:nvSpPr>
          <p:cNvPr id="18" name="Shape 16"/>
          <p:cNvSpPr/>
          <p:nvPr/>
        </p:nvSpPr>
        <p:spPr>
          <a:xfrm>
            <a:off x="6041136" y="804672"/>
            <a:ext cx="2627376" cy="3456432"/>
          </a:xfrm>
          <a:prstGeom prst="rect">
            <a:avLst/>
          </a:prstGeom>
          <a:solidFill>
            <a:srgbClr val="1A3055"/>
          </a:solidFill>
          <a:ln w="25400">
            <a:solidFill>
              <a:srgbClr val="00B4D8"/>
            </a:solidFill>
            <a:prstDash val="solid"/>
          </a:ln>
          <a:effectLst>
            <a:outerShdw blurRad="127000" dist="38100" dir="8100000" algn="bl" rotWithShape="0">
              <a:srgbClr val="000000">
                <a:alpha val="12000"/>
              </a:srgbClr>
            </a:outerShdw>
          </a:effectLst>
        </p:spPr>
        <p:txBody>
          <a:bodyPr/>
          <a:lstStyle/>
          <a:p>
            <a:endParaRPr lang="ar-SA" sz="1400">
              <a:latin typeface="Montserrat-Arabic" panose="00000500000000000000" pitchFamily="2" charset="-78"/>
              <a:cs typeface="Montserrat-Arabic" panose="00000500000000000000" pitchFamily="2" charset="-78"/>
            </a:endParaRPr>
          </a:p>
        </p:txBody>
      </p:sp>
      <p:sp>
        <p:nvSpPr>
          <p:cNvPr id="19" name="Shape 17"/>
          <p:cNvSpPr/>
          <p:nvPr/>
        </p:nvSpPr>
        <p:spPr>
          <a:xfrm>
            <a:off x="6041136" y="804672"/>
            <a:ext cx="2627376" cy="59436"/>
          </a:xfrm>
          <a:prstGeom prst="rect">
            <a:avLst/>
          </a:prstGeom>
          <a:solidFill>
            <a:srgbClr val="00B4D8"/>
          </a:solidFill>
          <a:ln w="12700">
            <a:solidFill>
              <a:srgbClr val="00B4D8"/>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20" name="Text 18"/>
          <p:cNvSpPr/>
          <p:nvPr/>
        </p:nvSpPr>
        <p:spPr>
          <a:xfrm>
            <a:off x="6041136" y="1024128"/>
            <a:ext cx="2627376" cy="822960"/>
          </a:xfrm>
          <a:prstGeom prst="rect">
            <a:avLst/>
          </a:prstGeom>
          <a:noFill/>
          <a:ln/>
        </p:spPr>
        <p:txBody>
          <a:bodyPr wrap="square" lIns="0" tIns="0" rIns="0" bIns="0" rtlCol="0" anchor="ctr"/>
          <a:lstStyle/>
          <a:p>
            <a:pPr marL="0" indent="0" algn="ctr">
              <a:buNone/>
            </a:pPr>
            <a:r>
              <a:rPr lang="en-US" sz="4400" b="1" dirty="0">
                <a:solidFill>
                  <a:srgbClr val="00B4D8"/>
                </a:solidFill>
                <a:latin typeface="Montserrat-Arabic" panose="00000500000000000000" pitchFamily="2" charset="-78"/>
                <a:ea typeface="Arial" pitchFamily="34" charset="-122"/>
                <a:cs typeface="Montserrat-Arabic" panose="00000500000000000000" pitchFamily="2" charset="-78"/>
              </a:rPr>
              <a:t>72%</a:t>
            </a:r>
            <a:endParaRPr lang="en-US" sz="4400" dirty="0">
              <a:latin typeface="Montserrat-Arabic" panose="00000500000000000000" pitchFamily="2" charset="-78"/>
              <a:cs typeface="Montserrat-Arabic" panose="00000500000000000000" pitchFamily="2" charset="-78"/>
            </a:endParaRPr>
          </a:p>
        </p:txBody>
      </p:sp>
      <p:sp>
        <p:nvSpPr>
          <p:cNvPr id="21" name="Text 19"/>
          <p:cNvSpPr/>
          <p:nvPr/>
        </p:nvSpPr>
        <p:spPr>
          <a:xfrm>
            <a:off x="6132576" y="2212848"/>
            <a:ext cx="2444496" cy="914400"/>
          </a:xfrm>
          <a:prstGeom prst="rect">
            <a:avLst/>
          </a:prstGeom>
          <a:noFill/>
          <a:ln/>
        </p:spPr>
        <p:txBody>
          <a:bodyPr wrap="square" lIns="0" tIns="0" rIns="0" bIns="0" rtlCol="0" anchor="ctr"/>
          <a:lstStyle/>
          <a:p>
            <a:pPr marL="0" indent="0" algn="ctr" rtl="1">
              <a:buNone/>
            </a:pPr>
            <a:r>
              <a:rPr lang="en-US" sz="1100" dirty="0">
                <a:solidFill>
                  <a:srgbClr val="E8F4F8"/>
                </a:solidFill>
                <a:latin typeface="Montserrat-Arabic" panose="00000500000000000000" pitchFamily="2" charset="-78"/>
                <a:ea typeface="Arial" pitchFamily="34" charset="-122"/>
                <a:cs typeface="Montserrat-Arabic" panose="00000500000000000000" pitchFamily="2" charset="-78"/>
              </a:rPr>
              <a:t>من الأكاديميين يظنون أن خريجيهم</a:t>
            </a:r>
            <a:endParaRPr lang="en-US" sz="1100" dirty="0">
              <a:latin typeface="Montserrat-Arabic" panose="00000500000000000000" pitchFamily="2" charset="-78"/>
              <a:cs typeface="Montserrat-Arabic" panose="00000500000000000000" pitchFamily="2" charset="-78"/>
            </a:endParaRPr>
          </a:p>
          <a:p>
            <a:pPr marL="0" indent="0" algn="ctr" rtl="1">
              <a:buNone/>
            </a:pPr>
            <a:r>
              <a:rPr lang="en-US" sz="1100" dirty="0">
                <a:solidFill>
                  <a:srgbClr val="E8F4F8"/>
                </a:solidFill>
                <a:latin typeface="Montserrat-Arabic" panose="00000500000000000000" pitchFamily="2" charset="-78"/>
                <a:ea typeface="Arial" pitchFamily="34" charset="-122"/>
                <a:cs typeface="Montserrat-Arabic" panose="00000500000000000000" pitchFamily="2" charset="-78"/>
              </a:rPr>
              <a:t>جاهزون — مقابل 42% فقط من أصحاب العمل</a:t>
            </a:r>
            <a:endParaRPr lang="en-US" sz="1100" dirty="0">
              <a:latin typeface="Montserrat-Arabic" panose="00000500000000000000" pitchFamily="2" charset="-78"/>
              <a:cs typeface="Montserrat-Arabic" panose="00000500000000000000" pitchFamily="2" charset="-78"/>
            </a:endParaRPr>
          </a:p>
        </p:txBody>
      </p:sp>
      <p:sp>
        <p:nvSpPr>
          <p:cNvPr id="22" name="Shape 20"/>
          <p:cNvSpPr/>
          <p:nvPr/>
        </p:nvSpPr>
        <p:spPr>
          <a:xfrm>
            <a:off x="6114288" y="3200400"/>
            <a:ext cx="2481072" cy="402336"/>
          </a:xfrm>
          <a:prstGeom prst="rect">
            <a:avLst/>
          </a:prstGeom>
          <a:solidFill>
            <a:srgbClr val="0A192F"/>
          </a:solidFill>
          <a:ln w="12700">
            <a:solidFill>
              <a:srgbClr val="00B4D8"/>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23" name="Text 21"/>
          <p:cNvSpPr/>
          <p:nvPr/>
        </p:nvSpPr>
        <p:spPr>
          <a:xfrm>
            <a:off x="6114288" y="3218688"/>
            <a:ext cx="2481072" cy="365760"/>
          </a:xfrm>
          <a:prstGeom prst="rect">
            <a:avLst/>
          </a:prstGeom>
          <a:noFill/>
          <a:ln/>
        </p:spPr>
        <p:txBody>
          <a:bodyPr wrap="square" lIns="0" tIns="0" rIns="0" bIns="0" rtlCol="0" anchor="ctr"/>
          <a:lstStyle/>
          <a:p>
            <a:pPr marL="0" indent="0" algn="ctr" rtl="1">
              <a:buNone/>
            </a:pPr>
            <a:r>
              <a:rPr lang="en-US" sz="1000" dirty="0">
                <a:solidFill>
                  <a:srgbClr val="00B4D8"/>
                </a:solidFill>
                <a:latin typeface="Montserrat-Arabic" panose="00000500000000000000" pitchFamily="2" charset="-78"/>
                <a:ea typeface="Arial" pitchFamily="34" charset="-122"/>
                <a:cs typeface="Montserrat-Arabic" panose="00000500000000000000" pitchFamily="2" charset="-78"/>
              </a:rPr>
              <a:t>McKinsey &amp; Company</a:t>
            </a:r>
            <a:endParaRPr lang="en-US" sz="1000" dirty="0">
              <a:latin typeface="Montserrat-Arabic" panose="00000500000000000000" pitchFamily="2" charset="-78"/>
              <a:cs typeface="Montserrat-Arabic" panose="00000500000000000000" pitchFamily="2" charset="-78"/>
            </a:endParaRPr>
          </a:p>
        </p:txBody>
      </p:sp>
      <p:sp>
        <p:nvSpPr>
          <p:cNvPr id="24" name="Shape 22"/>
          <p:cNvSpPr/>
          <p:nvPr/>
        </p:nvSpPr>
        <p:spPr>
          <a:xfrm>
            <a:off x="384048" y="4389120"/>
            <a:ext cx="8375904" cy="475488"/>
          </a:xfrm>
          <a:prstGeom prst="rect">
            <a:avLst/>
          </a:prstGeom>
          <a:solidFill>
            <a:srgbClr val="005F73"/>
          </a:solidFill>
          <a:ln w="12700">
            <a:solidFill>
              <a:srgbClr val="005F73"/>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25" name="Text 23"/>
          <p:cNvSpPr/>
          <p:nvPr/>
        </p:nvSpPr>
        <p:spPr>
          <a:xfrm>
            <a:off x="521208" y="4407408"/>
            <a:ext cx="8101584" cy="438912"/>
          </a:xfrm>
          <a:prstGeom prst="rect">
            <a:avLst/>
          </a:prstGeom>
          <a:noFill/>
          <a:ln/>
        </p:spPr>
        <p:txBody>
          <a:bodyPr wrap="square" lIns="0" tIns="0" rIns="0" bIns="0" rtlCol="0" anchor="ctr"/>
          <a:lstStyle/>
          <a:p>
            <a:pPr marL="0" indent="0" algn="ctr" rtl="1">
              <a:buNone/>
            </a:pPr>
            <a:r>
              <a:rPr lang="en-US" sz="1200" b="1" dirty="0">
                <a:solidFill>
                  <a:srgbClr val="FFFFFF"/>
                </a:solidFill>
                <a:latin typeface="Montserrat-Arabic" panose="00000500000000000000" pitchFamily="2" charset="-78"/>
                <a:ea typeface="Arial" pitchFamily="34" charset="-122"/>
                <a:cs typeface="Montserrat-Arabic" panose="00000500000000000000" pitchFamily="2" charset="-78"/>
              </a:rPr>
              <a:t>الفجوة حقيقية، موثقة، ومكلفة — وقد جئنا اليوم بالحل</a:t>
            </a:r>
            <a:endParaRPr lang="en-US" sz="1200" dirty="0">
              <a:latin typeface="Montserrat-Arabic" panose="00000500000000000000" pitchFamily="2" charset="-78"/>
              <a:cs typeface="Montserrat-Arabic" panose="00000500000000000000" pitchFamily="2" charset="-78"/>
            </a:endParaRPr>
          </a:p>
        </p:txBody>
      </p:sp>
      <p:sp>
        <p:nvSpPr>
          <p:cNvPr id="26" name="Shape 24"/>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27" name="Text 25"/>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05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1050" dirty="0">
              <a:latin typeface="Montserrat-Arabic" panose="00000500000000000000" pitchFamily="2" charset="-78"/>
              <a:cs typeface="Montserrat-Arabic" panose="00000500000000000000" pitchFamily="2" charset="-78"/>
            </a:endParaRPr>
          </a:p>
        </p:txBody>
      </p:sp>
      <p:sp>
        <p:nvSpPr>
          <p:cNvPr id="28" name="Text 26"/>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000" dirty="0">
                <a:solidFill>
                  <a:srgbClr val="607080"/>
                </a:solidFill>
                <a:latin typeface="Montserrat-Arabic" panose="00000500000000000000" pitchFamily="2" charset="-78"/>
                <a:ea typeface="Arial" pitchFamily="34" charset="-122"/>
                <a:cs typeface="Montserrat-Arabic" panose="00000500000000000000" pitchFamily="2" charset="-78"/>
              </a:rPr>
              <a:t>3 / 14</a:t>
            </a:r>
            <a:endParaRPr lang="en-US" sz="1000" dirty="0">
              <a:latin typeface="Montserrat-Arabic" panose="00000500000000000000" pitchFamily="2" charset="-78"/>
              <a:cs typeface="Montserrat-Arabic" panose="00000500000000000000" pitchFamily="2"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a:extLst>
            <a:ext uri="{FF2B5EF4-FFF2-40B4-BE49-F238E27FC236}">
              <a16:creationId xmlns:a16="http://schemas.microsoft.com/office/drawing/2014/main" id="{F0760018-D542-00F3-BE38-805A6CFF0A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54F663-9F17-8CA3-8CCD-DD94D64A8912}"/>
              </a:ext>
            </a:extLst>
          </p:cNvPr>
          <p:cNvSpPr/>
          <p:nvPr/>
        </p:nvSpPr>
        <p:spPr>
          <a:xfrm>
            <a:off x="0" y="0"/>
            <a:ext cx="9144000" cy="73152"/>
          </a:xfrm>
          <a:prstGeom prst="rect">
            <a:avLst/>
          </a:prstGeom>
          <a:solidFill>
            <a:srgbClr val="00B4D8"/>
          </a:solidFill>
          <a:ln w="12700">
            <a:solidFill>
              <a:srgbClr val="00B4D8"/>
            </a:solidFill>
            <a:prstDash val="solid"/>
          </a:ln>
        </p:spPr>
        <p:txBody>
          <a:bodyPr/>
          <a:lstStyle/>
          <a:p>
            <a:endParaRPr lang="ar-SA"/>
          </a:p>
        </p:txBody>
      </p:sp>
      <p:sp>
        <p:nvSpPr>
          <p:cNvPr id="4" name="Text 2">
            <a:extLst>
              <a:ext uri="{FF2B5EF4-FFF2-40B4-BE49-F238E27FC236}">
                <a16:creationId xmlns:a16="http://schemas.microsoft.com/office/drawing/2014/main" id="{CF6E0D91-9970-3F22-910E-17796E1754F4}"/>
              </a:ext>
            </a:extLst>
          </p:cNvPr>
          <p:cNvSpPr/>
          <p:nvPr/>
        </p:nvSpPr>
        <p:spPr>
          <a:xfrm>
            <a:off x="457200" y="1810512"/>
            <a:ext cx="8229600" cy="749808"/>
          </a:xfrm>
          <a:prstGeom prst="rect">
            <a:avLst/>
          </a:prstGeom>
          <a:noFill/>
          <a:ln/>
        </p:spPr>
        <p:txBody>
          <a:bodyPr wrap="square" lIns="0" tIns="0" rIns="0" bIns="0" rtlCol="0" anchor="ctr"/>
          <a:lstStyle/>
          <a:p>
            <a:pPr marL="0" indent="0" algn="ctr" rtl="1">
              <a:buNone/>
            </a:pPr>
            <a:endParaRPr lang="en-US" sz="4200" dirty="0"/>
          </a:p>
        </p:txBody>
      </p:sp>
      <p:sp>
        <p:nvSpPr>
          <p:cNvPr id="6" name="Text 4">
            <a:extLst>
              <a:ext uri="{FF2B5EF4-FFF2-40B4-BE49-F238E27FC236}">
                <a16:creationId xmlns:a16="http://schemas.microsoft.com/office/drawing/2014/main" id="{C3C474F8-8844-35C3-D400-FBBA99CC307A}"/>
              </a:ext>
            </a:extLst>
          </p:cNvPr>
          <p:cNvSpPr/>
          <p:nvPr/>
        </p:nvSpPr>
        <p:spPr>
          <a:xfrm>
            <a:off x="457200" y="2820924"/>
            <a:ext cx="8229600" cy="457200"/>
          </a:xfrm>
          <a:prstGeom prst="rect">
            <a:avLst/>
          </a:prstGeom>
          <a:noFill/>
          <a:ln/>
        </p:spPr>
        <p:txBody>
          <a:bodyPr wrap="square" lIns="0" tIns="0" rIns="0" bIns="0" rtlCol="0" anchor="ctr"/>
          <a:lstStyle/>
          <a:p>
            <a:pPr marL="0" indent="0" algn="ctr" rtl="1">
              <a:buNone/>
            </a:pPr>
            <a:endParaRPr lang="en-US" sz="2000" dirty="0"/>
          </a:p>
        </p:txBody>
      </p:sp>
      <p:sp>
        <p:nvSpPr>
          <p:cNvPr id="22" name="Text 20">
            <a:extLst>
              <a:ext uri="{FF2B5EF4-FFF2-40B4-BE49-F238E27FC236}">
                <a16:creationId xmlns:a16="http://schemas.microsoft.com/office/drawing/2014/main" id="{D16899DB-C755-51B7-8B10-DDD59A51E937}"/>
              </a:ext>
            </a:extLst>
          </p:cNvPr>
          <p:cNvSpPr/>
          <p:nvPr/>
        </p:nvSpPr>
        <p:spPr>
          <a:xfrm>
            <a:off x="320040" y="4479950"/>
            <a:ext cx="8229600" cy="274320"/>
          </a:xfrm>
          <a:prstGeom prst="rect">
            <a:avLst/>
          </a:prstGeom>
          <a:noFill/>
          <a:ln/>
        </p:spPr>
        <p:txBody>
          <a:bodyPr wrap="square" lIns="0" tIns="0" rIns="0" bIns="0" rtlCol="0" anchor="ctr"/>
          <a:lstStyle/>
          <a:p>
            <a:pPr marL="0" indent="0" algn="ctr" rtl="1">
              <a:buNone/>
            </a:pPr>
            <a:endParaRPr lang="en-US" sz="1400" dirty="0"/>
          </a:p>
        </p:txBody>
      </p:sp>
      <p:sp>
        <p:nvSpPr>
          <p:cNvPr id="23" name="Shape 21">
            <a:extLst>
              <a:ext uri="{FF2B5EF4-FFF2-40B4-BE49-F238E27FC236}">
                <a16:creationId xmlns:a16="http://schemas.microsoft.com/office/drawing/2014/main" id="{44B7D567-FEF1-774F-04BC-CC836A46FC9E}"/>
              </a:ext>
            </a:extLst>
          </p:cNvPr>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a:p>
        </p:txBody>
      </p:sp>
      <p:sp>
        <p:nvSpPr>
          <p:cNvPr id="24" name="Text 22">
            <a:extLst>
              <a:ext uri="{FF2B5EF4-FFF2-40B4-BE49-F238E27FC236}">
                <a16:creationId xmlns:a16="http://schemas.microsoft.com/office/drawing/2014/main" id="{EF7ECA39-9E51-0032-EC5E-8360533A3C12}"/>
              </a:ext>
            </a:extLst>
          </p:cNvPr>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Arial" pitchFamily="34" charset="0"/>
                <a:ea typeface="Arial" pitchFamily="34" charset="-122"/>
                <a:cs typeface="Arial" pitchFamily="34" charset="-120"/>
              </a:rPr>
              <a:t>مقرري+</a:t>
            </a:r>
            <a:endParaRPr lang="en-US" sz="1200" dirty="0"/>
          </a:p>
        </p:txBody>
      </p:sp>
      <p:sp>
        <p:nvSpPr>
          <p:cNvPr id="25" name="Text 23">
            <a:extLst>
              <a:ext uri="{FF2B5EF4-FFF2-40B4-BE49-F238E27FC236}">
                <a16:creationId xmlns:a16="http://schemas.microsoft.com/office/drawing/2014/main" id="{08018C5F-F33A-F7DF-4695-5998A5C51E73}"/>
              </a:ext>
            </a:extLst>
          </p:cNvPr>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100" dirty="0">
                <a:solidFill>
                  <a:srgbClr val="607080"/>
                </a:solidFill>
                <a:latin typeface="Arial" pitchFamily="34" charset="0"/>
                <a:ea typeface="Arial" pitchFamily="34" charset="-122"/>
                <a:cs typeface="Arial" pitchFamily="34" charset="-120"/>
              </a:rPr>
              <a:t>1 / 14</a:t>
            </a:r>
            <a:endParaRPr lang="en-US" sz="1100" dirty="0"/>
          </a:p>
        </p:txBody>
      </p:sp>
      <p:pic>
        <p:nvPicPr>
          <p:cNvPr id="11" name="Picture 10">
            <a:extLst>
              <a:ext uri="{FF2B5EF4-FFF2-40B4-BE49-F238E27FC236}">
                <a16:creationId xmlns:a16="http://schemas.microsoft.com/office/drawing/2014/main" id="{8E116D52-12D2-C859-AD12-E03FBB91785B}"/>
              </a:ext>
            </a:extLst>
          </p:cNvPr>
          <p:cNvPicPr>
            <a:picLocks noChangeAspect="1"/>
          </p:cNvPicPr>
          <p:nvPr/>
        </p:nvPicPr>
        <p:blipFill>
          <a:blip r:embed="rId3"/>
          <a:stretch>
            <a:fillRect/>
          </a:stretch>
        </p:blipFill>
        <p:spPr>
          <a:xfrm>
            <a:off x="703" y="434039"/>
            <a:ext cx="9144000" cy="2560923"/>
          </a:xfrm>
          <a:prstGeom prst="rect">
            <a:avLst/>
          </a:prstGeom>
        </p:spPr>
      </p:pic>
      <p:pic>
        <p:nvPicPr>
          <p:cNvPr id="13" name="Picture 12">
            <a:extLst>
              <a:ext uri="{FF2B5EF4-FFF2-40B4-BE49-F238E27FC236}">
                <a16:creationId xmlns:a16="http://schemas.microsoft.com/office/drawing/2014/main" id="{3A7179EE-5137-EC90-C32D-32ABA469B17B}"/>
              </a:ext>
            </a:extLst>
          </p:cNvPr>
          <p:cNvPicPr>
            <a:picLocks noChangeAspect="1"/>
          </p:cNvPicPr>
          <p:nvPr/>
        </p:nvPicPr>
        <p:blipFill>
          <a:blip r:embed="rId4"/>
          <a:stretch>
            <a:fillRect/>
          </a:stretch>
        </p:blipFill>
        <p:spPr>
          <a:xfrm>
            <a:off x="6122041" y="3080687"/>
            <a:ext cx="2248959" cy="19725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Picture 18">
            <a:extLst>
              <a:ext uri="{FF2B5EF4-FFF2-40B4-BE49-F238E27FC236}">
                <a16:creationId xmlns:a16="http://schemas.microsoft.com/office/drawing/2014/main" id="{6CBD1E42-9B7B-0CC8-3F53-89A9630CB1AB}"/>
              </a:ext>
            </a:extLst>
          </p:cNvPr>
          <p:cNvPicPr>
            <a:picLocks noChangeAspect="1"/>
          </p:cNvPicPr>
          <p:nvPr/>
        </p:nvPicPr>
        <p:blipFill>
          <a:blip r:embed="rId5"/>
          <a:stretch>
            <a:fillRect/>
          </a:stretch>
        </p:blipFill>
        <p:spPr>
          <a:xfrm>
            <a:off x="3905948" y="3036685"/>
            <a:ext cx="2117009" cy="2016518"/>
          </a:xfrm>
          <a:prstGeom prst="rect">
            <a:avLst/>
          </a:prstGeom>
          <a:ln>
            <a:noFill/>
          </a:ln>
          <a:effectLst>
            <a:softEdge rad="112500"/>
          </a:effectLst>
        </p:spPr>
      </p:pic>
      <p:pic>
        <p:nvPicPr>
          <p:cNvPr id="21" name="Picture 20">
            <a:extLst>
              <a:ext uri="{FF2B5EF4-FFF2-40B4-BE49-F238E27FC236}">
                <a16:creationId xmlns:a16="http://schemas.microsoft.com/office/drawing/2014/main" id="{4F85A10F-DA87-B417-18EA-5B808C316A62}"/>
              </a:ext>
            </a:extLst>
          </p:cNvPr>
          <p:cNvPicPr>
            <a:picLocks noChangeAspect="1"/>
          </p:cNvPicPr>
          <p:nvPr/>
        </p:nvPicPr>
        <p:blipFill>
          <a:blip r:embed="rId6"/>
          <a:stretch>
            <a:fillRect/>
          </a:stretch>
        </p:blipFill>
        <p:spPr>
          <a:xfrm>
            <a:off x="1745717" y="3063542"/>
            <a:ext cx="2061147" cy="19482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44114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73152"/>
            <a:ext cx="9144000" cy="73152"/>
          </a:xfrm>
          <a:prstGeom prst="rect">
            <a:avLst/>
          </a:prstGeom>
          <a:solidFill>
            <a:srgbClr val="F5A623"/>
          </a:solidFill>
          <a:ln w="12700">
            <a:solidFill>
              <a:srgbClr val="F5A623"/>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3" name="Text 1"/>
          <p:cNvSpPr/>
          <p:nvPr/>
        </p:nvSpPr>
        <p:spPr>
          <a:xfrm>
            <a:off x="457200" y="155448"/>
            <a:ext cx="8229600" cy="1005840"/>
          </a:xfrm>
          <a:prstGeom prst="rect">
            <a:avLst/>
          </a:prstGeom>
          <a:noFill/>
          <a:ln/>
        </p:spPr>
        <p:txBody>
          <a:bodyPr wrap="square" lIns="0" tIns="0" rIns="0" bIns="0" rtlCol="0" anchor="ctr"/>
          <a:lstStyle/>
          <a:p>
            <a:pPr marL="0" indent="0" algn="ctr" rtl="1">
              <a:buNone/>
            </a:pPr>
            <a:r>
              <a:rPr lang="en-US" sz="5400" b="1" dirty="0">
                <a:solidFill>
                  <a:srgbClr val="FFFFFF"/>
                </a:solidFill>
                <a:latin typeface="Montserrat-Arabic" panose="00000500000000000000" pitchFamily="2" charset="-78"/>
                <a:ea typeface="Arial" pitchFamily="34" charset="-122"/>
                <a:cs typeface="Montserrat-Arabic" panose="00000500000000000000" pitchFamily="2" charset="-78"/>
              </a:rPr>
              <a:t>مقرري</a:t>
            </a:r>
            <a:endParaRPr lang="en-US" sz="5400" dirty="0">
              <a:latin typeface="Montserrat-Arabic" panose="00000500000000000000" pitchFamily="2" charset="-78"/>
              <a:cs typeface="Montserrat-Arabic" panose="00000500000000000000" pitchFamily="2" charset="-78"/>
            </a:endParaRPr>
          </a:p>
        </p:txBody>
      </p:sp>
      <p:sp>
        <p:nvSpPr>
          <p:cNvPr id="4" name="Text 2"/>
          <p:cNvSpPr/>
          <p:nvPr/>
        </p:nvSpPr>
        <p:spPr>
          <a:xfrm>
            <a:off x="457200" y="155448"/>
            <a:ext cx="4846320" cy="1005840"/>
          </a:xfrm>
          <a:prstGeom prst="rect">
            <a:avLst/>
          </a:prstGeom>
          <a:noFill/>
          <a:ln/>
        </p:spPr>
        <p:txBody>
          <a:bodyPr wrap="square" lIns="0" tIns="0" rIns="0" bIns="0" rtlCol="0" anchor="ctr"/>
          <a:lstStyle/>
          <a:p>
            <a:pPr marL="0" indent="0" algn="l">
              <a:buNone/>
            </a:pPr>
            <a:r>
              <a:rPr lang="en-US" sz="5400" b="1" dirty="0">
                <a:solidFill>
                  <a:srgbClr val="F5A623"/>
                </a:solidFill>
                <a:latin typeface="Montserrat-Arabic" panose="00000500000000000000" pitchFamily="2" charset="-78"/>
                <a:ea typeface="Arial" pitchFamily="34" charset="-122"/>
                <a:cs typeface="Montserrat-Arabic" panose="00000500000000000000" pitchFamily="2" charset="-78"/>
              </a:rPr>
              <a:t>+</a:t>
            </a:r>
            <a:endParaRPr lang="en-US" sz="5400" dirty="0">
              <a:latin typeface="Montserrat-Arabic" panose="00000500000000000000" pitchFamily="2" charset="-78"/>
              <a:cs typeface="Montserrat-Arabic" panose="00000500000000000000" pitchFamily="2" charset="-78"/>
            </a:endParaRPr>
          </a:p>
        </p:txBody>
      </p:sp>
      <p:sp>
        <p:nvSpPr>
          <p:cNvPr id="5" name="Text 3"/>
          <p:cNvSpPr/>
          <p:nvPr/>
        </p:nvSpPr>
        <p:spPr>
          <a:xfrm>
            <a:off x="457200" y="1161288"/>
            <a:ext cx="8229600" cy="502920"/>
          </a:xfrm>
          <a:prstGeom prst="rect">
            <a:avLst/>
          </a:prstGeom>
          <a:noFill/>
          <a:ln/>
        </p:spPr>
        <p:txBody>
          <a:bodyPr wrap="square" lIns="0" tIns="0" rIns="0" bIns="0" rtlCol="0" anchor="ctr"/>
          <a:lstStyle/>
          <a:p>
            <a:pPr marL="0" indent="0" algn="ctr" rtl="1">
              <a:buNone/>
            </a:pPr>
            <a:r>
              <a:rPr lang="en-US" sz="1400" dirty="0">
                <a:solidFill>
                  <a:srgbClr val="00B4D8"/>
                </a:solidFill>
                <a:latin typeface="Montserrat-Arabic" panose="00000500000000000000" pitchFamily="2" charset="-78"/>
                <a:ea typeface="Arial" pitchFamily="34" charset="-122"/>
                <a:cs typeface="Montserrat-Arabic" panose="00000500000000000000" pitchFamily="2" charset="-78"/>
              </a:rPr>
              <a:t>جسر المعرفة بين النظرية الأكاديمية والواقع الصناعي</a:t>
            </a:r>
            <a:endParaRPr lang="en-US" sz="1400" dirty="0">
              <a:latin typeface="Montserrat-Arabic" panose="00000500000000000000" pitchFamily="2" charset="-78"/>
              <a:cs typeface="Montserrat-Arabic" panose="00000500000000000000" pitchFamily="2" charset="-78"/>
            </a:endParaRPr>
          </a:p>
        </p:txBody>
      </p:sp>
      <p:sp>
        <p:nvSpPr>
          <p:cNvPr id="6" name="Shape 4"/>
          <p:cNvSpPr/>
          <p:nvPr/>
        </p:nvSpPr>
        <p:spPr>
          <a:xfrm>
            <a:off x="347472" y="1847088"/>
            <a:ext cx="1920240" cy="2240280"/>
          </a:xfrm>
          <a:prstGeom prst="rect">
            <a:avLst/>
          </a:prstGeom>
          <a:solidFill>
            <a:srgbClr val="1A3055"/>
          </a:solidFill>
          <a:ln w="12700">
            <a:solidFill>
              <a:srgbClr val="0A192F"/>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7" name="Shape 5"/>
          <p:cNvSpPr/>
          <p:nvPr/>
        </p:nvSpPr>
        <p:spPr>
          <a:xfrm>
            <a:off x="347472" y="1847088"/>
            <a:ext cx="1920240" cy="64008"/>
          </a:xfrm>
          <a:prstGeom prst="rect">
            <a:avLst/>
          </a:prstGeom>
          <a:solidFill>
            <a:srgbClr val="90B4CE"/>
          </a:solidFill>
          <a:ln w="12700">
            <a:solidFill>
              <a:srgbClr val="90B4CE"/>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8" name="Text 6"/>
          <p:cNvSpPr/>
          <p:nvPr/>
        </p:nvSpPr>
        <p:spPr>
          <a:xfrm>
            <a:off x="347472" y="1956816"/>
            <a:ext cx="1920240" cy="384048"/>
          </a:xfrm>
          <a:prstGeom prst="rect">
            <a:avLst/>
          </a:prstGeom>
          <a:noFill/>
          <a:ln/>
        </p:spPr>
        <p:txBody>
          <a:bodyPr wrap="square" lIns="0" tIns="0" rIns="0" bIns="0" rtlCol="0" anchor="ctr"/>
          <a:lstStyle/>
          <a:p>
            <a:pPr marL="0" indent="0" algn="ctr" rtl="1">
              <a:buNone/>
            </a:pPr>
            <a:r>
              <a:rPr lang="en-US" sz="1100" b="1" dirty="0">
                <a:solidFill>
                  <a:srgbClr val="90B4CE"/>
                </a:solidFill>
                <a:latin typeface="Montserrat-Arabic" panose="00000500000000000000" pitchFamily="2" charset="-78"/>
                <a:ea typeface="Arial" pitchFamily="34" charset="-122"/>
                <a:cs typeface="Montserrat-Arabic" panose="00000500000000000000" pitchFamily="2" charset="-78"/>
              </a:rPr>
              <a:t>الجامعة</a:t>
            </a:r>
            <a:endParaRPr lang="en-US" sz="1100" dirty="0">
              <a:latin typeface="Montserrat-Arabic" panose="00000500000000000000" pitchFamily="2" charset="-78"/>
              <a:cs typeface="Montserrat-Arabic" panose="00000500000000000000" pitchFamily="2" charset="-78"/>
            </a:endParaRPr>
          </a:p>
        </p:txBody>
      </p:sp>
      <p:sp>
        <p:nvSpPr>
          <p:cNvPr id="9" name="Text 7"/>
          <p:cNvSpPr/>
          <p:nvPr/>
        </p:nvSpPr>
        <p:spPr>
          <a:xfrm>
            <a:off x="347472" y="2395728"/>
            <a:ext cx="1920240" cy="1371600"/>
          </a:xfrm>
          <a:prstGeom prst="rect">
            <a:avLst/>
          </a:prstGeom>
          <a:noFill/>
          <a:ln/>
        </p:spPr>
        <p:txBody>
          <a:bodyPr wrap="square" lIns="0" tIns="0" rIns="0" bIns="0" rtlCol="0" anchor="ctr"/>
          <a:lstStyle/>
          <a:p>
            <a:pPr marL="0" indent="0" algn="ctr" rtl="1">
              <a:buNone/>
            </a:pPr>
            <a:r>
              <a:rPr lang="en-US" sz="1050" dirty="0">
                <a:solidFill>
                  <a:srgbClr val="8099AA"/>
                </a:solidFill>
                <a:latin typeface="Montserrat-Arabic" panose="00000500000000000000" pitchFamily="2" charset="-78"/>
                <a:ea typeface="Arial" pitchFamily="34" charset="-122"/>
                <a:cs typeface="Montserrat-Arabic" panose="00000500000000000000" pitchFamily="2" charset="-78"/>
              </a:rPr>
              <a:t>مقررات</a:t>
            </a:r>
            <a:endParaRPr lang="en-US" sz="1050" dirty="0">
              <a:latin typeface="Montserrat-Arabic" panose="00000500000000000000" pitchFamily="2" charset="-78"/>
              <a:cs typeface="Montserrat-Arabic" panose="00000500000000000000" pitchFamily="2" charset="-78"/>
            </a:endParaRPr>
          </a:p>
          <a:p>
            <a:pPr marL="0" indent="0" algn="ctr" rtl="1">
              <a:buNone/>
            </a:pPr>
            <a:r>
              <a:rPr lang="en-US" sz="1050" dirty="0">
                <a:solidFill>
                  <a:srgbClr val="8099AA"/>
                </a:solidFill>
                <a:latin typeface="Montserrat-Arabic" panose="00000500000000000000" pitchFamily="2" charset="-78"/>
                <a:ea typeface="Arial" pitchFamily="34" charset="-122"/>
                <a:cs typeface="Montserrat-Arabic" panose="00000500000000000000" pitchFamily="2" charset="-78"/>
              </a:rPr>
              <a:t>ومناهج</a:t>
            </a:r>
            <a:endParaRPr lang="en-US" sz="1050" dirty="0">
              <a:latin typeface="Montserrat-Arabic" panose="00000500000000000000" pitchFamily="2" charset="-78"/>
              <a:cs typeface="Montserrat-Arabic" panose="00000500000000000000" pitchFamily="2" charset="-78"/>
            </a:endParaRPr>
          </a:p>
          <a:p>
            <a:pPr marL="0" indent="0" algn="ctr" rtl="1">
              <a:buNone/>
            </a:pPr>
            <a:r>
              <a:rPr lang="en-US" sz="1050" dirty="0">
                <a:solidFill>
                  <a:srgbClr val="8099AA"/>
                </a:solidFill>
                <a:latin typeface="Montserrat-Arabic" panose="00000500000000000000" pitchFamily="2" charset="-78"/>
                <a:ea typeface="Arial" pitchFamily="34" charset="-122"/>
                <a:cs typeface="Montserrat-Arabic" panose="00000500000000000000" pitchFamily="2" charset="-78"/>
              </a:rPr>
              <a:t>أكاديمية</a:t>
            </a:r>
            <a:endParaRPr lang="en-US" sz="1050" dirty="0">
              <a:latin typeface="Montserrat-Arabic" panose="00000500000000000000" pitchFamily="2" charset="-78"/>
              <a:cs typeface="Montserrat-Arabic" panose="00000500000000000000" pitchFamily="2" charset="-78"/>
            </a:endParaRPr>
          </a:p>
        </p:txBody>
      </p:sp>
      <p:sp>
        <p:nvSpPr>
          <p:cNvPr id="10" name="Shape 8"/>
          <p:cNvSpPr/>
          <p:nvPr/>
        </p:nvSpPr>
        <p:spPr>
          <a:xfrm>
            <a:off x="2267712" y="2231136"/>
            <a:ext cx="4617720" cy="502920"/>
          </a:xfrm>
          <a:prstGeom prst="rect">
            <a:avLst/>
          </a:prstGeom>
          <a:solidFill>
            <a:srgbClr val="F5A623"/>
          </a:solidFill>
          <a:ln w="12700">
            <a:solidFill>
              <a:srgbClr val="F5A623"/>
            </a:solidFill>
            <a:prstDash val="solid"/>
          </a:ln>
          <a:effectLst>
            <a:outerShdw blurRad="127000" dist="38100" dir="8100000" algn="bl" rotWithShape="0">
              <a:srgbClr val="000000">
                <a:alpha val="12000"/>
              </a:srgbClr>
            </a:outerShdw>
          </a:effectLst>
        </p:spPr>
        <p:txBody>
          <a:bodyPr/>
          <a:lstStyle/>
          <a:p>
            <a:endParaRPr lang="ar-SA" sz="1100">
              <a:latin typeface="Montserrat-Arabic" panose="00000500000000000000" pitchFamily="2" charset="-78"/>
              <a:cs typeface="Montserrat-Arabic" panose="00000500000000000000" pitchFamily="2" charset="-78"/>
            </a:endParaRPr>
          </a:p>
        </p:txBody>
      </p:sp>
      <p:sp>
        <p:nvSpPr>
          <p:cNvPr id="11" name="Text 9"/>
          <p:cNvSpPr/>
          <p:nvPr/>
        </p:nvSpPr>
        <p:spPr>
          <a:xfrm>
            <a:off x="2267712" y="2231136"/>
            <a:ext cx="4617720" cy="502920"/>
          </a:xfrm>
          <a:prstGeom prst="rect">
            <a:avLst/>
          </a:prstGeom>
          <a:noFill/>
          <a:ln/>
        </p:spPr>
        <p:txBody>
          <a:bodyPr wrap="square" lIns="0" tIns="0" rIns="0" bIns="0" rtlCol="0" anchor="ctr"/>
          <a:lstStyle/>
          <a:p>
            <a:pPr marL="0" indent="0" algn="ctr">
              <a:buNone/>
            </a:pPr>
            <a:r>
              <a:rPr lang="en-US" sz="1050" b="1" dirty="0">
                <a:solidFill>
                  <a:srgbClr val="0A192F"/>
                </a:solidFill>
                <a:latin typeface="Montserrat-Arabic" panose="00000500000000000000" pitchFamily="2" charset="-78"/>
                <a:ea typeface="Arial" pitchFamily="34" charset="-122"/>
                <a:cs typeface="Montserrat-Arabic" panose="00000500000000000000" pitchFamily="2" charset="-78"/>
              </a:rPr>
              <a:t>مقرري+  —  Knowledge Graph Engine</a:t>
            </a:r>
            <a:endParaRPr lang="en-US" sz="1050" dirty="0">
              <a:latin typeface="Montserrat-Arabic" panose="00000500000000000000" pitchFamily="2" charset="-78"/>
              <a:cs typeface="Montserrat-Arabic" panose="00000500000000000000" pitchFamily="2" charset="-78"/>
            </a:endParaRPr>
          </a:p>
        </p:txBody>
      </p:sp>
      <p:sp>
        <p:nvSpPr>
          <p:cNvPr id="12" name="Shape 10"/>
          <p:cNvSpPr/>
          <p:nvPr/>
        </p:nvSpPr>
        <p:spPr>
          <a:xfrm>
            <a:off x="2651760" y="2734056"/>
            <a:ext cx="164592" cy="1298448"/>
          </a:xfrm>
          <a:prstGeom prst="rect">
            <a:avLst/>
          </a:prstGeom>
          <a:solidFill>
            <a:srgbClr val="F5A623">
              <a:alpha val="50000"/>
            </a:srgbClr>
          </a:solidFill>
          <a:ln w="12700">
            <a:solidFill>
              <a:srgbClr val="F5A623">
                <a:alpha val="50000"/>
              </a:srgbClr>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3" name="Shape 11"/>
          <p:cNvSpPr/>
          <p:nvPr/>
        </p:nvSpPr>
        <p:spPr>
          <a:xfrm>
            <a:off x="3291840" y="2734056"/>
            <a:ext cx="164592" cy="1298448"/>
          </a:xfrm>
          <a:prstGeom prst="rect">
            <a:avLst/>
          </a:prstGeom>
          <a:solidFill>
            <a:srgbClr val="F5A623">
              <a:alpha val="50000"/>
            </a:srgbClr>
          </a:solidFill>
          <a:ln w="12700">
            <a:solidFill>
              <a:srgbClr val="F5A623">
                <a:alpha val="50000"/>
              </a:srgbClr>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4" name="Shape 12"/>
          <p:cNvSpPr/>
          <p:nvPr/>
        </p:nvSpPr>
        <p:spPr>
          <a:xfrm>
            <a:off x="3931920" y="2734056"/>
            <a:ext cx="164592" cy="1298448"/>
          </a:xfrm>
          <a:prstGeom prst="rect">
            <a:avLst/>
          </a:prstGeom>
          <a:solidFill>
            <a:srgbClr val="F5A623">
              <a:alpha val="50000"/>
            </a:srgbClr>
          </a:solidFill>
          <a:ln w="12700">
            <a:solidFill>
              <a:srgbClr val="F5A623">
                <a:alpha val="50000"/>
              </a:srgbClr>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5" name="Shape 13"/>
          <p:cNvSpPr/>
          <p:nvPr/>
        </p:nvSpPr>
        <p:spPr>
          <a:xfrm>
            <a:off x="4572000" y="2734056"/>
            <a:ext cx="164592" cy="1298448"/>
          </a:xfrm>
          <a:prstGeom prst="rect">
            <a:avLst/>
          </a:prstGeom>
          <a:solidFill>
            <a:srgbClr val="F5A623">
              <a:alpha val="50000"/>
            </a:srgbClr>
          </a:solidFill>
          <a:ln w="12700">
            <a:solidFill>
              <a:srgbClr val="F5A623">
                <a:alpha val="50000"/>
              </a:srgbClr>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6" name="Shape 14"/>
          <p:cNvSpPr/>
          <p:nvPr/>
        </p:nvSpPr>
        <p:spPr>
          <a:xfrm>
            <a:off x="5212080" y="2734056"/>
            <a:ext cx="164592" cy="1298448"/>
          </a:xfrm>
          <a:prstGeom prst="rect">
            <a:avLst/>
          </a:prstGeom>
          <a:solidFill>
            <a:srgbClr val="F5A623">
              <a:alpha val="50000"/>
            </a:srgbClr>
          </a:solidFill>
          <a:ln w="12700">
            <a:solidFill>
              <a:srgbClr val="F5A623">
                <a:alpha val="50000"/>
              </a:srgbClr>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7" name="Shape 15"/>
          <p:cNvSpPr/>
          <p:nvPr/>
        </p:nvSpPr>
        <p:spPr>
          <a:xfrm>
            <a:off x="5852160" y="2734056"/>
            <a:ext cx="164592" cy="1298448"/>
          </a:xfrm>
          <a:prstGeom prst="rect">
            <a:avLst/>
          </a:prstGeom>
          <a:solidFill>
            <a:srgbClr val="F5A623">
              <a:alpha val="50000"/>
            </a:srgbClr>
          </a:solidFill>
          <a:ln w="12700">
            <a:solidFill>
              <a:srgbClr val="F5A623">
                <a:alpha val="50000"/>
              </a:srgbClr>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8" name="Shape 16"/>
          <p:cNvSpPr/>
          <p:nvPr/>
        </p:nvSpPr>
        <p:spPr>
          <a:xfrm>
            <a:off x="2267712" y="4032504"/>
            <a:ext cx="4617720" cy="164592"/>
          </a:xfrm>
          <a:prstGeom prst="rect">
            <a:avLst/>
          </a:prstGeom>
          <a:solidFill>
            <a:srgbClr val="1A3055"/>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9" name="Shape 17"/>
          <p:cNvSpPr/>
          <p:nvPr/>
        </p:nvSpPr>
        <p:spPr>
          <a:xfrm>
            <a:off x="6903720" y="1847088"/>
            <a:ext cx="1920240" cy="2240280"/>
          </a:xfrm>
          <a:prstGeom prst="rect">
            <a:avLst/>
          </a:prstGeom>
          <a:solidFill>
            <a:srgbClr val="1A3055"/>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20" name="Shape 18"/>
          <p:cNvSpPr/>
          <p:nvPr/>
        </p:nvSpPr>
        <p:spPr>
          <a:xfrm>
            <a:off x="6903720" y="1847088"/>
            <a:ext cx="1920240" cy="64008"/>
          </a:xfrm>
          <a:prstGeom prst="rect">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21" name="Text 19"/>
          <p:cNvSpPr/>
          <p:nvPr/>
        </p:nvSpPr>
        <p:spPr>
          <a:xfrm>
            <a:off x="6903720" y="1956816"/>
            <a:ext cx="1920240" cy="384048"/>
          </a:xfrm>
          <a:prstGeom prst="rect">
            <a:avLst/>
          </a:prstGeom>
          <a:noFill/>
          <a:ln/>
        </p:spPr>
        <p:txBody>
          <a:bodyPr wrap="square" lIns="0" tIns="0" rIns="0" bIns="0" rtlCol="0" anchor="ctr"/>
          <a:lstStyle/>
          <a:p>
            <a:pPr marL="0" indent="0" algn="ctr" rtl="1">
              <a:buNone/>
            </a:pPr>
            <a:r>
              <a:rPr lang="en-US" sz="1100" b="1" dirty="0">
                <a:solidFill>
                  <a:srgbClr val="00B4D8"/>
                </a:solidFill>
                <a:latin typeface="Montserrat-Arabic" panose="00000500000000000000" pitchFamily="2" charset="-78"/>
                <a:ea typeface="Arial" pitchFamily="34" charset="-122"/>
                <a:cs typeface="Montserrat-Arabic" panose="00000500000000000000" pitchFamily="2" charset="-78"/>
              </a:rPr>
              <a:t>سوق العمل</a:t>
            </a:r>
            <a:endParaRPr lang="en-US" sz="1100" dirty="0">
              <a:latin typeface="Montserrat-Arabic" panose="00000500000000000000" pitchFamily="2" charset="-78"/>
              <a:cs typeface="Montserrat-Arabic" panose="00000500000000000000" pitchFamily="2" charset="-78"/>
            </a:endParaRPr>
          </a:p>
        </p:txBody>
      </p:sp>
      <p:sp>
        <p:nvSpPr>
          <p:cNvPr id="22" name="Text 20"/>
          <p:cNvSpPr/>
          <p:nvPr/>
        </p:nvSpPr>
        <p:spPr>
          <a:xfrm>
            <a:off x="6903720" y="2395728"/>
            <a:ext cx="1920240" cy="1371600"/>
          </a:xfrm>
          <a:prstGeom prst="rect">
            <a:avLst/>
          </a:prstGeom>
          <a:noFill/>
          <a:ln/>
        </p:spPr>
        <p:txBody>
          <a:bodyPr wrap="square" lIns="0" tIns="0" rIns="0" bIns="0" rtlCol="0" anchor="ctr"/>
          <a:lstStyle/>
          <a:p>
            <a:pPr marL="0" indent="0" algn="ctr" rtl="1">
              <a:buNone/>
            </a:pPr>
            <a:r>
              <a:rPr lang="en-US" sz="1050" dirty="0">
                <a:solidFill>
                  <a:srgbClr val="00B4D8"/>
                </a:solidFill>
                <a:latin typeface="Montserrat-Arabic" panose="00000500000000000000" pitchFamily="2" charset="-78"/>
                <a:ea typeface="Arial" pitchFamily="34" charset="-122"/>
                <a:cs typeface="Montserrat-Arabic" panose="00000500000000000000" pitchFamily="2" charset="-78"/>
              </a:rPr>
              <a:t>أرامكو</a:t>
            </a:r>
            <a:endParaRPr lang="en-US" sz="1050" dirty="0">
              <a:latin typeface="Montserrat-Arabic" panose="00000500000000000000" pitchFamily="2" charset="-78"/>
              <a:cs typeface="Montserrat-Arabic" panose="00000500000000000000" pitchFamily="2" charset="-78"/>
            </a:endParaRPr>
          </a:p>
          <a:p>
            <a:pPr marL="0" indent="0" algn="ctr" rtl="1">
              <a:buNone/>
            </a:pPr>
            <a:r>
              <a:rPr lang="en-US" sz="1050" dirty="0">
                <a:solidFill>
                  <a:srgbClr val="00B4D8"/>
                </a:solidFill>
                <a:latin typeface="Montserrat-Arabic" panose="00000500000000000000" pitchFamily="2" charset="-78"/>
                <a:ea typeface="Arial" pitchFamily="34" charset="-122"/>
                <a:cs typeface="Montserrat-Arabic" panose="00000500000000000000" pitchFamily="2" charset="-78"/>
              </a:rPr>
              <a:t>سدايا</a:t>
            </a:r>
            <a:endParaRPr lang="en-US" sz="1050" dirty="0">
              <a:latin typeface="Montserrat-Arabic" panose="00000500000000000000" pitchFamily="2" charset="-78"/>
              <a:cs typeface="Montserrat-Arabic" panose="00000500000000000000" pitchFamily="2" charset="-78"/>
            </a:endParaRPr>
          </a:p>
          <a:p>
            <a:pPr marL="0" indent="0" algn="ctr" rtl="1">
              <a:buNone/>
            </a:pPr>
            <a:r>
              <a:rPr lang="en-US" sz="1050" dirty="0">
                <a:solidFill>
                  <a:srgbClr val="00B4D8"/>
                </a:solidFill>
                <a:latin typeface="Montserrat-Arabic" panose="00000500000000000000" pitchFamily="2" charset="-78"/>
                <a:ea typeface="Arial" pitchFamily="34" charset="-122"/>
                <a:cs typeface="Montserrat-Arabic" panose="00000500000000000000" pitchFamily="2" charset="-78"/>
              </a:rPr>
              <a:t>STC &amp; أكثر</a:t>
            </a:r>
            <a:endParaRPr lang="en-US" sz="1050" dirty="0">
              <a:latin typeface="Montserrat-Arabic" panose="00000500000000000000" pitchFamily="2" charset="-78"/>
              <a:cs typeface="Montserrat-Arabic" panose="00000500000000000000" pitchFamily="2" charset="-78"/>
            </a:endParaRPr>
          </a:p>
        </p:txBody>
      </p:sp>
      <p:sp>
        <p:nvSpPr>
          <p:cNvPr id="23" name="Shape 21"/>
          <p:cNvSpPr/>
          <p:nvPr/>
        </p:nvSpPr>
        <p:spPr>
          <a:xfrm>
            <a:off x="0" y="4997196"/>
            <a:ext cx="9144000" cy="73152"/>
          </a:xfrm>
          <a:prstGeom prst="rect">
            <a:avLst/>
          </a:prstGeom>
          <a:solidFill>
            <a:srgbClr val="F5A623"/>
          </a:solidFill>
          <a:ln w="12700">
            <a:solidFill>
              <a:srgbClr val="F5A623"/>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24" name="Text 22"/>
          <p:cNvSpPr/>
          <p:nvPr/>
        </p:nvSpPr>
        <p:spPr>
          <a:xfrm>
            <a:off x="384048" y="4700016"/>
            <a:ext cx="1097280" cy="228600"/>
          </a:xfrm>
          <a:prstGeom prst="rect">
            <a:avLst/>
          </a:prstGeom>
          <a:noFill/>
          <a:ln/>
        </p:spPr>
        <p:txBody>
          <a:bodyPr wrap="square" lIns="0" tIns="0" rIns="0" bIns="0" rtlCol="0" anchor="ctr"/>
          <a:lstStyle/>
          <a:p>
            <a:pPr marL="0" indent="0" algn="l">
              <a:buNone/>
            </a:pPr>
            <a:r>
              <a:rPr lang="en-US" sz="90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900" dirty="0">
              <a:latin typeface="Montserrat-Arabic" panose="00000500000000000000" pitchFamily="2" charset="-78"/>
              <a:cs typeface="Montserrat-Arabic" panose="00000500000000000000" pitchFamily="2" charset="-78"/>
            </a:endParaRPr>
          </a:p>
        </p:txBody>
      </p:sp>
      <p:sp>
        <p:nvSpPr>
          <p:cNvPr id="25" name="Text 23"/>
          <p:cNvSpPr/>
          <p:nvPr/>
        </p:nvSpPr>
        <p:spPr>
          <a:xfrm>
            <a:off x="8229600" y="4700016"/>
            <a:ext cx="640080" cy="228600"/>
          </a:xfrm>
          <a:prstGeom prst="rect">
            <a:avLst/>
          </a:prstGeom>
          <a:noFill/>
          <a:ln/>
        </p:spPr>
        <p:txBody>
          <a:bodyPr wrap="square" lIns="0" tIns="0" rIns="0" bIns="0" rtlCol="0" anchor="ctr"/>
          <a:lstStyle/>
          <a:p>
            <a:pPr marL="0" indent="0" algn="r">
              <a:buNone/>
            </a:pPr>
            <a:r>
              <a:rPr lang="en-US" sz="800" dirty="0">
                <a:solidFill>
                  <a:srgbClr val="607080"/>
                </a:solidFill>
                <a:latin typeface="Montserrat-Arabic" panose="00000500000000000000" pitchFamily="2" charset="-78"/>
                <a:ea typeface="Arial" pitchFamily="34" charset="-122"/>
                <a:cs typeface="Montserrat-Arabic" panose="00000500000000000000" pitchFamily="2" charset="-78"/>
              </a:rPr>
              <a:t>4 / 14</a:t>
            </a:r>
            <a:endParaRPr lang="en-US" sz="800" dirty="0">
              <a:latin typeface="Montserrat-Arabic" panose="00000500000000000000" pitchFamily="2" charset="-78"/>
              <a:cs typeface="Montserrat-Arabic" panose="00000500000000000000" pitchFamily="2" charset="-78"/>
            </a:endParaRPr>
          </a:p>
        </p:txBody>
      </p:sp>
      <p:sp>
        <p:nvSpPr>
          <p:cNvPr id="26" name="TextBox 25">
            <a:extLst>
              <a:ext uri="{FF2B5EF4-FFF2-40B4-BE49-F238E27FC236}">
                <a16:creationId xmlns:a16="http://schemas.microsoft.com/office/drawing/2014/main" id="{A9E0D6FC-EB1B-781C-448A-EC0C28001231}"/>
              </a:ext>
            </a:extLst>
          </p:cNvPr>
          <p:cNvSpPr txBox="1"/>
          <p:nvPr/>
        </p:nvSpPr>
        <p:spPr>
          <a:xfrm>
            <a:off x="180433" y="4174236"/>
            <a:ext cx="8783134" cy="584775"/>
          </a:xfrm>
          <a:prstGeom prst="rect">
            <a:avLst/>
          </a:prstGeom>
          <a:noFill/>
        </p:spPr>
        <p:txBody>
          <a:bodyPr wrap="square" rtlCol="1">
            <a:spAutoFit/>
          </a:bodyPr>
          <a:lstStyle/>
          <a:p>
            <a:pPr algn="ctr"/>
            <a:r>
              <a:rPr lang="ar-SA" sz="1600" dirty="0">
                <a:solidFill>
                  <a:schemeClr val="bg1"/>
                </a:solidFill>
                <a:latin typeface="Montserrat-Arabic" panose="00000500000000000000" pitchFamily="2" charset="-78"/>
                <a:cs typeface="Montserrat-Arabic" panose="00000500000000000000" pitchFamily="2" charset="-78"/>
              </a:rPr>
              <a:t>عبر منصتنا، نجمع بين المناهج الأكاديمية ورؤى الخبراء الممارسين؛ لنضع بين يديك التطبيقات الفعلية لكل مقرر، وخارطة طريق واضحة لكيفية استثماره في بناء مسيرتك المهنية.</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B4D8"/>
          </a:solidFill>
          <a:ln w="12700">
            <a:solidFill>
              <a:srgbClr val="00B4D8"/>
            </a:solidFill>
            <a:prstDash val="solid"/>
          </a:ln>
        </p:spPr>
        <p:txBody>
          <a:bodyPr/>
          <a:lstStyle/>
          <a:p>
            <a:endParaRPr lang="ar-SA"/>
          </a:p>
        </p:txBody>
      </p:sp>
      <p:sp>
        <p:nvSpPr>
          <p:cNvPr id="3" name="Text 1"/>
          <p:cNvSpPr/>
          <p:nvPr/>
        </p:nvSpPr>
        <p:spPr>
          <a:xfrm>
            <a:off x="384048" y="0"/>
            <a:ext cx="8375904" cy="457200"/>
          </a:xfrm>
          <a:prstGeom prst="rect">
            <a:avLst/>
          </a:prstGeom>
          <a:noFill/>
          <a:ln/>
        </p:spPr>
        <p:txBody>
          <a:bodyPr wrap="square" lIns="0" tIns="0" rIns="0" bIns="0" rtlCol="0" anchor="ctr"/>
          <a:lstStyle/>
          <a:p>
            <a:pPr marL="0" indent="0" algn="r" rtl="1">
              <a:buNone/>
            </a:pPr>
            <a:r>
              <a:rPr lang="en-US" sz="2200" b="1" dirty="0">
                <a:solidFill>
                  <a:srgbClr val="0A192F"/>
                </a:solidFill>
                <a:latin typeface="Arial" pitchFamily="34" charset="0"/>
                <a:ea typeface="Arial" pitchFamily="34" charset="-122"/>
                <a:cs typeface="Arial" pitchFamily="34" charset="-120"/>
              </a:rPr>
              <a:t>كيف تعمل منصة مقرري+؟ — ثلاث ركائز</a:t>
            </a:r>
            <a:endParaRPr lang="en-US" sz="2200" dirty="0"/>
          </a:p>
        </p:txBody>
      </p:sp>
      <p:sp>
        <p:nvSpPr>
          <p:cNvPr id="4" name="Text 2"/>
          <p:cNvSpPr/>
          <p:nvPr/>
        </p:nvSpPr>
        <p:spPr>
          <a:xfrm>
            <a:off x="384048" y="0"/>
            <a:ext cx="6400800" cy="457200"/>
          </a:xfrm>
          <a:prstGeom prst="rect">
            <a:avLst/>
          </a:prstGeom>
          <a:noFill/>
          <a:ln/>
        </p:spPr>
        <p:txBody>
          <a:bodyPr wrap="square" lIns="0" tIns="0" rIns="0" bIns="0" rtlCol="0" anchor="ctr"/>
          <a:lstStyle/>
          <a:p>
            <a:pPr marL="0" indent="0" algn="l">
              <a:buNone/>
            </a:pPr>
            <a:r>
              <a:rPr lang="en-US" sz="1300" dirty="0">
                <a:solidFill>
                  <a:srgbClr val="0A192F"/>
                </a:solidFill>
                <a:latin typeface="Arial" pitchFamily="34" charset="0"/>
                <a:ea typeface="Arial" pitchFamily="34" charset="-122"/>
                <a:cs typeface="Arial" pitchFamily="34" charset="-120"/>
              </a:rPr>
              <a:t>3 Pillars</a:t>
            </a:r>
            <a:endParaRPr lang="en-US" sz="1300" dirty="0"/>
          </a:p>
        </p:txBody>
      </p:sp>
      <p:sp>
        <p:nvSpPr>
          <p:cNvPr id="5" name="Shape 3"/>
          <p:cNvSpPr/>
          <p:nvPr/>
        </p:nvSpPr>
        <p:spPr>
          <a:xfrm>
            <a:off x="384048" y="594360"/>
            <a:ext cx="2700528" cy="4023360"/>
          </a:xfrm>
          <a:prstGeom prst="rect">
            <a:avLst/>
          </a:prstGeom>
          <a:solidFill>
            <a:srgbClr val="FFFFFF"/>
          </a:solidFill>
          <a:ln w="12700">
            <a:solidFill>
              <a:srgbClr val="E0EAF0"/>
            </a:solidFill>
            <a:prstDash val="solid"/>
          </a:ln>
          <a:effectLst>
            <a:outerShdw blurRad="177800" dist="25400" dir="8100000" algn="bl" rotWithShape="0">
              <a:srgbClr val="000000">
                <a:alpha val="10000"/>
              </a:srgbClr>
            </a:outerShdw>
          </a:effectLst>
        </p:spPr>
        <p:txBody>
          <a:bodyPr/>
          <a:lstStyle/>
          <a:p>
            <a:endParaRPr lang="ar-SA"/>
          </a:p>
        </p:txBody>
      </p:sp>
      <p:sp>
        <p:nvSpPr>
          <p:cNvPr id="6" name="Shape 4"/>
          <p:cNvSpPr/>
          <p:nvPr/>
        </p:nvSpPr>
        <p:spPr>
          <a:xfrm>
            <a:off x="384048" y="594360"/>
            <a:ext cx="2700528" cy="73152"/>
          </a:xfrm>
          <a:prstGeom prst="rect">
            <a:avLst/>
          </a:prstGeom>
          <a:solidFill>
            <a:srgbClr val="0A192F"/>
          </a:solidFill>
          <a:ln w="12700">
            <a:solidFill>
              <a:srgbClr val="0A192F"/>
            </a:solidFill>
            <a:prstDash val="solid"/>
          </a:ln>
        </p:spPr>
        <p:txBody>
          <a:bodyPr/>
          <a:lstStyle/>
          <a:p>
            <a:endParaRPr lang="ar-SA"/>
          </a:p>
        </p:txBody>
      </p:sp>
      <p:sp>
        <p:nvSpPr>
          <p:cNvPr id="7" name="Shape 5"/>
          <p:cNvSpPr/>
          <p:nvPr/>
        </p:nvSpPr>
        <p:spPr>
          <a:xfrm>
            <a:off x="1423416" y="749808"/>
            <a:ext cx="621792" cy="621792"/>
          </a:xfrm>
          <a:prstGeom prst="ellipse">
            <a:avLst/>
          </a:prstGeom>
          <a:solidFill>
            <a:srgbClr val="0A192F"/>
          </a:solidFill>
          <a:ln w="38100">
            <a:solidFill>
              <a:srgbClr val="FFFFFF"/>
            </a:solidFill>
            <a:prstDash val="solid"/>
          </a:ln>
        </p:spPr>
        <p:txBody>
          <a:bodyPr/>
          <a:lstStyle/>
          <a:p>
            <a:endParaRPr lang="ar-SA"/>
          </a:p>
        </p:txBody>
      </p:sp>
      <p:sp>
        <p:nvSpPr>
          <p:cNvPr id="8" name="Text 6"/>
          <p:cNvSpPr/>
          <p:nvPr/>
        </p:nvSpPr>
        <p:spPr>
          <a:xfrm>
            <a:off x="1423416" y="749808"/>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9" name="Text 7"/>
          <p:cNvSpPr/>
          <p:nvPr/>
        </p:nvSpPr>
        <p:spPr>
          <a:xfrm>
            <a:off x="384048" y="1481328"/>
            <a:ext cx="2700528" cy="47548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475488" y="2011680"/>
            <a:ext cx="2517648" cy="438912"/>
          </a:xfrm>
          <a:prstGeom prst="rect">
            <a:avLst/>
          </a:prstGeom>
          <a:noFill/>
          <a:ln/>
        </p:spPr>
        <p:txBody>
          <a:bodyPr wrap="square" lIns="0" tIns="0" rIns="0" bIns="0" rtlCol="0" anchor="ctr"/>
          <a:lstStyle/>
          <a:p>
            <a:pPr marL="0" indent="0" algn="ctr" rtl="1">
              <a:buNone/>
            </a:pPr>
            <a:r>
              <a:rPr lang="en-US" sz="1900" b="1" dirty="0">
                <a:solidFill>
                  <a:srgbClr val="0A192F"/>
                </a:solidFill>
                <a:latin typeface="Arial" pitchFamily="34" charset="0"/>
                <a:ea typeface="Arial" pitchFamily="34" charset="-122"/>
                <a:cs typeface="Arial" pitchFamily="34" charset="-120"/>
              </a:rPr>
              <a:t>التطبيقات الحقيقية</a:t>
            </a:r>
            <a:endParaRPr lang="en-US" sz="1900" dirty="0"/>
          </a:p>
        </p:txBody>
      </p:sp>
      <p:sp>
        <p:nvSpPr>
          <p:cNvPr id="11" name="Text 9"/>
          <p:cNvSpPr/>
          <p:nvPr/>
        </p:nvSpPr>
        <p:spPr>
          <a:xfrm>
            <a:off x="475488" y="2468880"/>
            <a:ext cx="2517648" cy="274320"/>
          </a:xfrm>
          <a:prstGeom prst="rect">
            <a:avLst/>
          </a:prstGeom>
          <a:noFill/>
          <a:ln/>
        </p:spPr>
        <p:txBody>
          <a:bodyPr wrap="square" lIns="0" tIns="0" rIns="0" bIns="0" rtlCol="0" anchor="ctr"/>
          <a:lstStyle/>
          <a:p>
            <a:pPr marL="0" indent="0" algn="ctr">
              <a:buNone/>
            </a:pPr>
            <a:r>
              <a:rPr lang="en-US" sz="1200" dirty="0">
                <a:solidFill>
                  <a:srgbClr val="888888"/>
                </a:solidFill>
                <a:latin typeface="Arial" pitchFamily="34" charset="0"/>
                <a:ea typeface="Arial" pitchFamily="34" charset="-122"/>
                <a:cs typeface="Arial" pitchFamily="34" charset="-120"/>
              </a:rPr>
              <a:t>Real-World Applications</a:t>
            </a:r>
            <a:endParaRPr lang="en-US" sz="1200" dirty="0"/>
          </a:p>
        </p:txBody>
      </p:sp>
      <p:sp>
        <p:nvSpPr>
          <p:cNvPr id="12" name="Shape 10"/>
          <p:cNvSpPr/>
          <p:nvPr/>
        </p:nvSpPr>
        <p:spPr>
          <a:xfrm>
            <a:off x="924154" y="2788920"/>
            <a:ext cx="1620317" cy="27432"/>
          </a:xfrm>
          <a:prstGeom prst="rect">
            <a:avLst/>
          </a:prstGeom>
          <a:solidFill>
            <a:srgbClr val="0A192F">
              <a:alpha val="40000"/>
            </a:srgbClr>
          </a:solidFill>
          <a:ln w="12700">
            <a:solidFill>
              <a:srgbClr val="0A192F">
                <a:alpha val="40000"/>
              </a:srgbClr>
            </a:solidFill>
            <a:prstDash val="solid"/>
          </a:ln>
        </p:spPr>
        <p:txBody>
          <a:bodyPr/>
          <a:lstStyle/>
          <a:p>
            <a:endParaRPr lang="ar-SA"/>
          </a:p>
        </p:txBody>
      </p:sp>
      <p:sp>
        <p:nvSpPr>
          <p:cNvPr id="13" name="Text 11"/>
          <p:cNvSpPr/>
          <p:nvPr/>
        </p:nvSpPr>
        <p:spPr>
          <a:xfrm>
            <a:off x="493776" y="2880360"/>
            <a:ext cx="2481072" cy="1508760"/>
          </a:xfrm>
          <a:prstGeom prst="rect">
            <a:avLst/>
          </a:prstGeom>
          <a:noFill/>
          <a:ln/>
        </p:spPr>
        <p:txBody>
          <a:bodyPr wrap="square" lIns="0" tIns="0" rIns="0" bIns="0" rtlCol="0" anchor="ctr"/>
          <a:lstStyle/>
          <a:p>
            <a:pPr marL="0" indent="0" algn="ctr" rtl="1">
              <a:buNone/>
            </a:pPr>
            <a:r>
              <a:rPr lang="en-US" sz="1300" dirty="0">
                <a:solidFill>
                  <a:srgbClr val="444444"/>
                </a:solidFill>
                <a:latin typeface="Arial" pitchFamily="34" charset="0"/>
                <a:ea typeface="Arial" pitchFamily="34" charset="-122"/>
                <a:cs typeface="Arial" pitchFamily="34" charset="-120"/>
              </a:rPr>
              <a:t>خبراء معتمدون من أرامكو وسدايا وSTC يُضيفون تطبيقات عملية حقيقية مباشرةً داخل كل مقرر أكاديمي</a:t>
            </a:r>
            <a:endParaRPr lang="en-US" sz="1300" dirty="0"/>
          </a:p>
        </p:txBody>
      </p:sp>
      <p:sp>
        <p:nvSpPr>
          <p:cNvPr id="14" name="Shape 12"/>
          <p:cNvSpPr/>
          <p:nvPr/>
        </p:nvSpPr>
        <p:spPr>
          <a:xfrm>
            <a:off x="3221736" y="594360"/>
            <a:ext cx="2700528" cy="4023360"/>
          </a:xfrm>
          <a:prstGeom prst="rect">
            <a:avLst/>
          </a:prstGeom>
          <a:solidFill>
            <a:srgbClr val="FFFFFF"/>
          </a:solidFill>
          <a:ln w="12700">
            <a:solidFill>
              <a:srgbClr val="E0EAF0"/>
            </a:solidFill>
            <a:prstDash val="solid"/>
          </a:ln>
          <a:effectLst>
            <a:outerShdw blurRad="177800" dist="25400" dir="8100000" algn="bl" rotWithShape="0">
              <a:srgbClr val="000000">
                <a:alpha val="10000"/>
              </a:srgbClr>
            </a:outerShdw>
          </a:effectLst>
        </p:spPr>
        <p:txBody>
          <a:bodyPr/>
          <a:lstStyle/>
          <a:p>
            <a:endParaRPr lang="ar-SA"/>
          </a:p>
        </p:txBody>
      </p:sp>
      <p:sp>
        <p:nvSpPr>
          <p:cNvPr id="15" name="Shape 13"/>
          <p:cNvSpPr/>
          <p:nvPr/>
        </p:nvSpPr>
        <p:spPr>
          <a:xfrm>
            <a:off x="3221736" y="594360"/>
            <a:ext cx="2700528" cy="73152"/>
          </a:xfrm>
          <a:prstGeom prst="rect">
            <a:avLst/>
          </a:prstGeom>
          <a:solidFill>
            <a:srgbClr val="00B4D8"/>
          </a:solidFill>
          <a:ln w="12700">
            <a:solidFill>
              <a:srgbClr val="00B4D8"/>
            </a:solidFill>
            <a:prstDash val="solid"/>
          </a:ln>
        </p:spPr>
        <p:txBody>
          <a:bodyPr/>
          <a:lstStyle/>
          <a:p>
            <a:endParaRPr lang="ar-SA"/>
          </a:p>
        </p:txBody>
      </p:sp>
      <p:sp>
        <p:nvSpPr>
          <p:cNvPr id="16" name="Shape 14"/>
          <p:cNvSpPr/>
          <p:nvPr/>
        </p:nvSpPr>
        <p:spPr>
          <a:xfrm>
            <a:off x="4261104" y="749808"/>
            <a:ext cx="621792" cy="621792"/>
          </a:xfrm>
          <a:prstGeom prst="ellipse">
            <a:avLst/>
          </a:prstGeom>
          <a:solidFill>
            <a:srgbClr val="00B4D8"/>
          </a:solidFill>
          <a:ln w="38100">
            <a:solidFill>
              <a:srgbClr val="FFFFFF"/>
            </a:solidFill>
            <a:prstDash val="solid"/>
          </a:ln>
        </p:spPr>
        <p:txBody>
          <a:bodyPr/>
          <a:lstStyle/>
          <a:p>
            <a:endParaRPr lang="ar-SA"/>
          </a:p>
        </p:txBody>
      </p:sp>
      <p:sp>
        <p:nvSpPr>
          <p:cNvPr id="17" name="Text 15"/>
          <p:cNvSpPr/>
          <p:nvPr/>
        </p:nvSpPr>
        <p:spPr>
          <a:xfrm>
            <a:off x="4261104" y="749808"/>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8" name="Text 16"/>
          <p:cNvSpPr/>
          <p:nvPr/>
        </p:nvSpPr>
        <p:spPr>
          <a:xfrm>
            <a:off x="3221736" y="1481328"/>
            <a:ext cx="2700528" cy="47548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3313176" y="2011680"/>
            <a:ext cx="2517648" cy="438912"/>
          </a:xfrm>
          <a:prstGeom prst="rect">
            <a:avLst/>
          </a:prstGeom>
          <a:noFill/>
          <a:ln/>
        </p:spPr>
        <p:txBody>
          <a:bodyPr wrap="square" lIns="0" tIns="0" rIns="0" bIns="0" rtlCol="0" anchor="ctr"/>
          <a:lstStyle/>
          <a:p>
            <a:pPr marL="0" indent="0" algn="ctr" rtl="1">
              <a:buNone/>
            </a:pPr>
            <a:r>
              <a:rPr lang="en-US" sz="1900" b="1" dirty="0">
                <a:solidFill>
                  <a:srgbClr val="00B4D8"/>
                </a:solidFill>
                <a:latin typeface="Arial" pitchFamily="34" charset="0"/>
                <a:ea typeface="Arial" pitchFamily="34" charset="-122"/>
                <a:cs typeface="Arial" pitchFamily="34" charset="-120"/>
              </a:rPr>
              <a:t>المسار المهني الذكي</a:t>
            </a:r>
            <a:endParaRPr lang="en-US" sz="1900" dirty="0"/>
          </a:p>
        </p:txBody>
      </p:sp>
      <p:sp>
        <p:nvSpPr>
          <p:cNvPr id="20" name="Text 18"/>
          <p:cNvSpPr/>
          <p:nvPr/>
        </p:nvSpPr>
        <p:spPr>
          <a:xfrm>
            <a:off x="3313176" y="2468880"/>
            <a:ext cx="2517648" cy="274320"/>
          </a:xfrm>
          <a:prstGeom prst="rect">
            <a:avLst/>
          </a:prstGeom>
          <a:noFill/>
          <a:ln/>
        </p:spPr>
        <p:txBody>
          <a:bodyPr wrap="square" lIns="0" tIns="0" rIns="0" bIns="0" rtlCol="0" anchor="ctr"/>
          <a:lstStyle/>
          <a:p>
            <a:pPr marL="0" indent="0" algn="ctr">
              <a:buNone/>
            </a:pPr>
            <a:r>
              <a:rPr lang="en-US" sz="1200" dirty="0">
                <a:solidFill>
                  <a:srgbClr val="888888"/>
                </a:solidFill>
                <a:latin typeface="Arial" pitchFamily="34" charset="0"/>
                <a:ea typeface="Arial" pitchFamily="34" charset="-122"/>
                <a:cs typeface="Arial" pitchFamily="34" charset="-120"/>
              </a:rPr>
              <a:t>Smart Career Path</a:t>
            </a:r>
            <a:endParaRPr lang="en-US" sz="1200" dirty="0"/>
          </a:p>
        </p:txBody>
      </p:sp>
      <p:sp>
        <p:nvSpPr>
          <p:cNvPr id="21" name="Shape 19"/>
          <p:cNvSpPr/>
          <p:nvPr/>
        </p:nvSpPr>
        <p:spPr>
          <a:xfrm>
            <a:off x="3761842" y="2788920"/>
            <a:ext cx="1620317" cy="27432"/>
          </a:xfrm>
          <a:prstGeom prst="rect">
            <a:avLst/>
          </a:prstGeom>
          <a:solidFill>
            <a:srgbClr val="00B4D8">
              <a:alpha val="40000"/>
            </a:srgbClr>
          </a:solidFill>
          <a:ln w="12700">
            <a:solidFill>
              <a:srgbClr val="00B4D8">
                <a:alpha val="40000"/>
              </a:srgbClr>
            </a:solidFill>
            <a:prstDash val="solid"/>
          </a:ln>
        </p:spPr>
        <p:txBody>
          <a:bodyPr/>
          <a:lstStyle/>
          <a:p>
            <a:endParaRPr lang="ar-SA"/>
          </a:p>
        </p:txBody>
      </p:sp>
      <p:sp>
        <p:nvSpPr>
          <p:cNvPr id="22" name="Text 20"/>
          <p:cNvSpPr/>
          <p:nvPr/>
        </p:nvSpPr>
        <p:spPr>
          <a:xfrm>
            <a:off x="3331464" y="2880360"/>
            <a:ext cx="2481072" cy="1508760"/>
          </a:xfrm>
          <a:prstGeom prst="rect">
            <a:avLst/>
          </a:prstGeom>
          <a:noFill/>
          <a:ln/>
        </p:spPr>
        <p:txBody>
          <a:bodyPr wrap="square" lIns="0" tIns="0" rIns="0" bIns="0" rtlCol="0" anchor="ctr"/>
          <a:lstStyle/>
          <a:p>
            <a:pPr marL="0" indent="0" algn="ctr" rtl="1">
              <a:buNone/>
            </a:pPr>
            <a:r>
              <a:rPr lang="en-US" sz="1300" dirty="0">
                <a:solidFill>
                  <a:srgbClr val="444444"/>
                </a:solidFill>
                <a:latin typeface="Arial" pitchFamily="34" charset="0"/>
                <a:ea typeface="Arial" pitchFamily="34" charset="-122"/>
                <a:cs typeface="Arial" pitchFamily="34" charset="-120"/>
              </a:rPr>
              <a:t>ربط كل مقرر بالوظائف التي تعتمد عليه فعلياً في السوق السعودي والخليجي مع خريطة مهارات مخصصة</a:t>
            </a:r>
            <a:endParaRPr lang="en-US" sz="1300" dirty="0"/>
          </a:p>
        </p:txBody>
      </p:sp>
      <p:sp>
        <p:nvSpPr>
          <p:cNvPr id="23" name="Shape 21"/>
          <p:cNvSpPr/>
          <p:nvPr/>
        </p:nvSpPr>
        <p:spPr>
          <a:xfrm>
            <a:off x="6059424" y="594360"/>
            <a:ext cx="2700528" cy="4023360"/>
          </a:xfrm>
          <a:prstGeom prst="rect">
            <a:avLst/>
          </a:prstGeom>
          <a:solidFill>
            <a:srgbClr val="FFFFFF"/>
          </a:solidFill>
          <a:ln w="12700">
            <a:solidFill>
              <a:srgbClr val="E0EAF0"/>
            </a:solidFill>
            <a:prstDash val="solid"/>
          </a:ln>
          <a:effectLst>
            <a:outerShdw blurRad="177800" dist="25400" dir="8100000" algn="bl" rotWithShape="0">
              <a:srgbClr val="000000">
                <a:alpha val="10000"/>
              </a:srgbClr>
            </a:outerShdw>
          </a:effectLst>
        </p:spPr>
        <p:txBody>
          <a:bodyPr/>
          <a:lstStyle/>
          <a:p>
            <a:endParaRPr lang="ar-SA"/>
          </a:p>
        </p:txBody>
      </p:sp>
      <p:sp>
        <p:nvSpPr>
          <p:cNvPr id="24" name="Shape 22"/>
          <p:cNvSpPr/>
          <p:nvPr/>
        </p:nvSpPr>
        <p:spPr>
          <a:xfrm>
            <a:off x="6059424" y="594360"/>
            <a:ext cx="2700528" cy="73152"/>
          </a:xfrm>
          <a:prstGeom prst="rect">
            <a:avLst/>
          </a:prstGeom>
          <a:solidFill>
            <a:srgbClr val="F5A623"/>
          </a:solidFill>
          <a:ln w="12700">
            <a:solidFill>
              <a:srgbClr val="F5A623"/>
            </a:solidFill>
            <a:prstDash val="solid"/>
          </a:ln>
        </p:spPr>
        <p:txBody>
          <a:bodyPr/>
          <a:lstStyle/>
          <a:p>
            <a:endParaRPr lang="ar-SA"/>
          </a:p>
        </p:txBody>
      </p:sp>
      <p:sp>
        <p:nvSpPr>
          <p:cNvPr id="25" name="Shape 23"/>
          <p:cNvSpPr/>
          <p:nvPr/>
        </p:nvSpPr>
        <p:spPr>
          <a:xfrm>
            <a:off x="7098792" y="749808"/>
            <a:ext cx="621792" cy="621792"/>
          </a:xfrm>
          <a:prstGeom prst="ellipse">
            <a:avLst/>
          </a:prstGeom>
          <a:solidFill>
            <a:srgbClr val="F5A623"/>
          </a:solidFill>
          <a:ln w="38100">
            <a:solidFill>
              <a:srgbClr val="FFFFFF"/>
            </a:solidFill>
            <a:prstDash val="solid"/>
          </a:ln>
        </p:spPr>
        <p:txBody>
          <a:bodyPr/>
          <a:lstStyle/>
          <a:p>
            <a:endParaRPr lang="ar-SA"/>
          </a:p>
        </p:txBody>
      </p:sp>
      <p:sp>
        <p:nvSpPr>
          <p:cNvPr id="26" name="Text 24"/>
          <p:cNvSpPr/>
          <p:nvPr/>
        </p:nvSpPr>
        <p:spPr>
          <a:xfrm>
            <a:off x="7098792" y="749808"/>
            <a:ext cx="621792" cy="621792"/>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7" name="Text 25"/>
          <p:cNvSpPr/>
          <p:nvPr/>
        </p:nvSpPr>
        <p:spPr>
          <a:xfrm>
            <a:off x="6059424" y="1481328"/>
            <a:ext cx="2700528" cy="47548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8" name="Text 26"/>
          <p:cNvSpPr/>
          <p:nvPr/>
        </p:nvSpPr>
        <p:spPr>
          <a:xfrm>
            <a:off x="6150864" y="2011680"/>
            <a:ext cx="2517648" cy="438912"/>
          </a:xfrm>
          <a:prstGeom prst="rect">
            <a:avLst/>
          </a:prstGeom>
          <a:noFill/>
          <a:ln/>
        </p:spPr>
        <p:txBody>
          <a:bodyPr wrap="square" lIns="0" tIns="0" rIns="0" bIns="0" rtlCol="0" anchor="ctr"/>
          <a:lstStyle/>
          <a:p>
            <a:pPr marL="0" indent="0" algn="ctr" rtl="1">
              <a:buNone/>
            </a:pPr>
            <a:r>
              <a:rPr lang="en-US" sz="1900" b="1" dirty="0">
                <a:solidFill>
                  <a:srgbClr val="A06800"/>
                </a:solidFill>
                <a:latin typeface="Arial" pitchFamily="34" charset="0"/>
                <a:ea typeface="Arial" pitchFamily="34" charset="-122"/>
                <a:cs typeface="Arial" pitchFamily="34" charset="-120"/>
              </a:rPr>
              <a:t>الإثراء التقني المعتمد</a:t>
            </a:r>
            <a:endParaRPr lang="en-US" sz="1900" dirty="0"/>
          </a:p>
        </p:txBody>
      </p:sp>
      <p:sp>
        <p:nvSpPr>
          <p:cNvPr id="29" name="Text 27"/>
          <p:cNvSpPr/>
          <p:nvPr/>
        </p:nvSpPr>
        <p:spPr>
          <a:xfrm>
            <a:off x="6150864" y="2468880"/>
            <a:ext cx="2517648" cy="274320"/>
          </a:xfrm>
          <a:prstGeom prst="rect">
            <a:avLst/>
          </a:prstGeom>
          <a:noFill/>
          <a:ln/>
        </p:spPr>
        <p:txBody>
          <a:bodyPr wrap="square" lIns="0" tIns="0" rIns="0" bIns="0" rtlCol="0" anchor="ctr"/>
          <a:lstStyle/>
          <a:p>
            <a:pPr marL="0" indent="0" algn="ctr">
              <a:buNone/>
            </a:pPr>
            <a:r>
              <a:rPr lang="en-US" sz="1200" dirty="0">
                <a:solidFill>
                  <a:srgbClr val="888888"/>
                </a:solidFill>
                <a:latin typeface="Arial" pitchFamily="34" charset="0"/>
                <a:ea typeface="Arial" pitchFamily="34" charset="-122"/>
                <a:cs typeface="Arial" pitchFamily="34" charset="-120"/>
              </a:rPr>
              <a:t>Certified Tech Enrichment</a:t>
            </a:r>
            <a:endParaRPr lang="en-US" sz="1200" dirty="0"/>
          </a:p>
        </p:txBody>
      </p:sp>
      <p:sp>
        <p:nvSpPr>
          <p:cNvPr id="30" name="Shape 28"/>
          <p:cNvSpPr/>
          <p:nvPr/>
        </p:nvSpPr>
        <p:spPr>
          <a:xfrm>
            <a:off x="6599530" y="2788920"/>
            <a:ext cx="1620317" cy="27432"/>
          </a:xfrm>
          <a:prstGeom prst="rect">
            <a:avLst/>
          </a:prstGeom>
          <a:solidFill>
            <a:srgbClr val="F5A623">
              <a:alpha val="40000"/>
            </a:srgbClr>
          </a:solidFill>
          <a:ln w="12700">
            <a:solidFill>
              <a:srgbClr val="F5A623">
                <a:alpha val="40000"/>
              </a:srgbClr>
            </a:solidFill>
            <a:prstDash val="solid"/>
          </a:ln>
        </p:spPr>
        <p:txBody>
          <a:bodyPr/>
          <a:lstStyle/>
          <a:p>
            <a:endParaRPr lang="ar-SA"/>
          </a:p>
        </p:txBody>
      </p:sp>
      <p:sp>
        <p:nvSpPr>
          <p:cNvPr id="31" name="Text 29"/>
          <p:cNvSpPr/>
          <p:nvPr/>
        </p:nvSpPr>
        <p:spPr>
          <a:xfrm>
            <a:off x="6169152" y="2880360"/>
            <a:ext cx="2481072" cy="1508760"/>
          </a:xfrm>
          <a:prstGeom prst="rect">
            <a:avLst/>
          </a:prstGeom>
          <a:noFill/>
          <a:ln/>
        </p:spPr>
        <p:txBody>
          <a:bodyPr wrap="square" lIns="0" tIns="0" rIns="0" bIns="0" rtlCol="0" anchor="ctr"/>
          <a:lstStyle/>
          <a:p>
            <a:pPr marL="0" indent="0" algn="ctr" rtl="1">
              <a:buNone/>
            </a:pPr>
            <a:r>
              <a:rPr lang="en-US" sz="1300" dirty="0">
                <a:solidFill>
                  <a:srgbClr val="444444"/>
                </a:solidFill>
                <a:latin typeface="Arial" pitchFamily="34" charset="0"/>
                <a:ea typeface="Arial" pitchFamily="34" charset="-122"/>
                <a:cs typeface="Arial" pitchFamily="34" charset="-120"/>
              </a:rPr>
              <a:t>أدوات صناعية وشهادات تقنية مرتبطة بكل مقرر — PostgreSQL، Oracle، AWS — محدّثة في الوقت الفعلي</a:t>
            </a:r>
            <a:endParaRPr lang="en-US" sz="1300" dirty="0"/>
          </a:p>
        </p:txBody>
      </p:sp>
      <p:sp>
        <p:nvSpPr>
          <p:cNvPr id="32" name="Text 30"/>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Arial" pitchFamily="34" charset="0"/>
                <a:ea typeface="Arial" pitchFamily="34" charset="-122"/>
                <a:cs typeface="Arial" pitchFamily="34" charset="-120"/>
              </a:rPr>
              <a:t>مقرري+</a:t>
            </a:r>
            <a:endParaRPr lang="en-US" sz="1200" dirty="0"/>
          </a:p>
        </p:txBody>
      </p:sp>
      <p:sp>
        <p:nvSpPr>
          <p:cNvPr id="33" name="Text 31"/>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100" dirty="0">
                <a:solidFill>
                  <a:srgbClr val="AAAAAA"/>
                </a:solidFill>
                <a:latin typeface="Arial" pitchFamily="34" charset="0"/>
                <a:ea typeface="Arial" pitchFamily="34" charset="-122"/>
                <a:cs typeface="Arial" pitchFamily="34" charset="-120"/>
              </a:rPr>
              <a:t>5 / 14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a:extLst>
            <a:ext uri="{FF2B5EF4-FFF2-40B4-BE49-F238E27FC236}">
              <a16:creationId xmlns:a16="http://schemas.microsoft.com/office/drawing/2014/main" id="{01424930-95D6-BB6D-B4F7-1EFA91FB81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740EFB6-A760-D5A9-2182-60CBB4419013}"/>
              </a:ext>
            </a:extLst>
          </p:cNvPr>
          <p:cNvSpPr/>
          <p:nvPr/>
        </p:nvSpPr>
        <p:spPr>
          <a:xfrm>
            <a:off x="0" y="0"/>
            <a:ext cx="9144000" cy="73152"/>
          </a:xfrm>
          <a:prstGeom prst="rect">
            <a:avLst/>
          </a:prstGeom>
          <a:solidFill>
            <a:srgbClr val="00B4D8"/>
          </a:solidFill>
          <a:ln w="12700">
            <a:solidFill>
              <a:srgbClr val="00B4D8"/>
            </a:solidFill>
            <a:prstDash val="solid"/>
          </a:ln>
        </p:spPr>
        <p:txBody>
          <a:bodyPr/>
          <a:lstStyle/>
          <a:p>
            <a:endParaRPr lang="ar-SA"/>
          </a:p>
        </p:txBody>
      </p:sp>
      <p:sp>
        <p:nvSpPr>
          <p:cNvPr id="4" name="Text 2">
            <a:extLst>
              <a:ext uri="{FF2B5EF4-FFF2-40B4-BE49-F238E27FC236}">
                <a16:creationId xmlns:a16="http://schemas.microsoft.com/office/drawing/2014/main" id="{FDF25163-C678-E5FD-CBD6-A154EF5441C2}"/>
              </a:ext>
            </a:extLst>
          </p:cNvPr>
          <p:cNvSpPr/>
          <p:nvPr/>
        </p:nvSpPr>
        <p:spPr>
          <a:xfrm>
            <a:off x="457200" y="1810512"/>
            <a:ext cx="8229600" cy="749808"/>
          </a:xfrm>
          <a:prstGeom prst="rect">
            <a:avLst/>
          </a:prstGeom>
          <a:noFill/>
          <a:ln/>
        </p:spPr>
        <p:txBody>
          <a:bodyPr wrap="square" lIns="0" tIns="0" rIns="0" bIns="0" rtlCol="0" anchor="ctr"/>
          <a:lstStyle/>
          <a:p>
            <a:pPr marL="0" indent="0" algn="ctr" rtl="1">
              <a:buNone/>
            </a:pPr>
            <a:endParaRPr lang="en-US" sz="4200" dirty="0"/>
          </a:p>
        </p:txBody>
      </p:sp>
      <p:sp>
        <p:nvSpPr>
          <p:cNvPr id="6" name="Text 4">
            <a:extLst>
              <a:ext uri="{FF2B5EF4-FFF2-40B4-BE49-F238E27FC236}">
                <a16:creationId xmlns:a16="http://schemas.microsoft.com/office/drawing/2014/main" id="{854D5708-1700-C43D-3657-77BB2704C89F}"/>
              </a:ext>
            </a:extLst>
          </p:cNvPr>
          <p:cNvSpPr/>
          <p:nvPr/>
        </p:nvSpPr>
        <p:spPr>
          <a:xfrm>
            <a:off x="457200" y="2820924"/>
            <a:ext cx="8229600" cy="457200"/>
          </a:xfrm>
          <a:prstGeom prst="rect">
            <a:avLst/>
          </a:prstGeom>
          <a:noFill/>
          <a:ln/>
        </p:spPr>
        <p:txBody>
          <a:bodyPr wrap="square" lIns="0" tIns="0" rIns="0" bIns="0" rtlCol="0" anchor="ctr"/>
          <a:lstStyle/>
          <a:p>
            <a:pPr marL="0" indent="0" algn="ctr" rtl="1">
              <a:buNone/>
            </a:pPr>
            <a:endParaRPr lang="en-US" sz="2000" dirty="0"/>
          </a:p>
        </p:txBody>
      </p:sp>
      <p:sp>
        <p:nvSpPr>
          <p:cNvPr id="22" name="Text 20">
            <a:extLst>
              <a:ext uri="{FF2B5EF4-FFF2-40B4-BE49-F238E27FC236}">
                <a16:creationId xmlns:a16="http://schemas.microsoft.com/office/drawing/2014/main" id="{B4CFF89F-AF34-2C13-1890-3B5C56D12A63}"/>
              </a:ext>
            </a:extLst>
          </p:cNvPr>
          <p:cNvSpPr/>
          <p:nvPr/>
        </p:nvSpPr>
        <p:spPr>
          <a:xfrm>
            <a:off x="320040" y="4479950"/>
            <a:ext cx="8229600" cy="274320"/>
          </a:xfrm>
          <a:prstGeom prst="rect">
            <a:avLst/>
          </a:prstGeom>
          <a:noFill/>
          <a:ln/>
        </p:spPr>
        <p:txBody>
          <a:bodyPr wrap="square" lIns="0" tIns="0" rIns="0" bIns="0" rtlCol="0" anchor="ctr"/>
          <a:lstStyle/>
          <a:p>
            <a:pPr marL="0" indent="0" algn="ctr" rtl="1">
              <a:buNone/>
            </a:pPr>
            <a:endParaRPr lang="en-US" sz="1400" dirty="0"/>
          </a:p>
        </p:txBody>
      </p:sp>
      <p:sp>
        <p:nvSpPr>
          <p:cNvPr id="23" name="Shape 21">
            <a:extLst>
              <a:ext uri="{FF2B5EF4-FFF2-40B4-BE49-F238E27FC236}">
                <a16:creationId xmlns:a16="http://schemas.microsoft.com/office/drawing/2014/main" id="{ED11A33D-40D6-8B8F-0F34-38EAE4F23289}"/>
              </a:ext>
            </a:extLst>
          </p:cNvPr>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a:p>
        </p:txBody>
      </p:sp>
      <p:sp>
        <p:nvSpPr>
          <p:cNvPr id="24" name="Text 22">
            <a:extLst>
              <a:ext uri="{FF2B5EF4-FFF2-40B4-BE49-F238E27FC236}">
                <a16:creationId xmlns:a16="http://schemas.microsoft.com/office/drawing/2014/main" id="{5B863C8A-384D-C2A5-CE8F-6EDB70DB8BD7}"/>
              </a:ext>
            </a:extLst>
          </p:cNvPr>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Arial" pitchFamily="34" charset="0"/>
                <a:ea typeface="Arial" pitchFamily="34" charset="-122"/>
                <a:cs typeface="Arial" pitchFamily="34" charset="-120"/>
              </a:rPr>
              <a:t>مقرري+</a:t>
            </a:r>
            <a:endParaRPr lang="en-US" sz="1200" dirty="0"/>
          </a:p>
        </p:txBody>
      </p:sp>
      <p:sp>
        <p:nvSpPr>
          <p:cNvPr id="25" name="Text 23">
            <a:extLst>
              <a:ext uri="{FF2B5EF4-FFF2-40B4-BE49-F238E27FC236}">
                <a16:creationId xmlns:a16="http://schemas.microsoft.com/office/drawing/2014/main" id="{18C7F48D-65FD-67DC-2A79-D0FC2B78F988}"/>
              </a:ext>
            </a:extLst>
          </p:cNvPr>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100" dirty="0">
                <a:solidFill>
                  <a:srgbClr val="607080"/>
                </a:solidFill>
                <a:latin typeface="Arial" pitchFamily="34" charset="0"/>
                <a:ea typeface="Arial" pitchFamily="34" charset="-122"/>
                <a:cs typeface="Arial" pitchFamily="34" charset="-120"/>
              </a:rPr>
              <a:t>1 / 14</a:t>
            </a:r>
            <a:endParaRPr lang="en-US" sz="1100" dirty="0"/>
          </a:p>
        </p:txBody>
      </p:sp>
      <p:pic>
        <p:nvPicPr>
          <p:cNvPr id="5" name="Picture 4">
            <a:extLst>
              <a:ext uri="{FF2B5EF4-FFF2-40B4-BE49-F238E27FC236}">
                <a16:creationId xmlns:a16="http://schemas.microsoft.com/office/drawing/2014/main" id="{639D972B-80AE-5A6E-51C7-1E32644500B7}"/>
              </a:ext>
            </a:extLst>
          </p:cNvPr>
          <p:cNvPicPr>
            <a:picLocks noChangeAspect="1"/>
          </p:cNvPicPr>
          <p:nvPr/>
        </p:nvPicPr>
        <p:blipFill>
          <a:blip r:embed="rId3"/>
          <a:stretch>
            <a:fillRect/>
          </a:stretch>
        </p:blipFill>
        <p:spPr>
          <a:xfrm>
            <a:off x="0" y="618940"/>
            <a:ext cx="9144000" cy="1511002"/>
          </a:xfrm>
          <a:prstGeom prst="rect">
            <a:avLst/>
          </a:prstGeom>
        </p:spPr>
      </p:pic>
      <p:pic>
        <p:nvPicPr>
          <p:cNvPr id="8" name="Picture 7">
            <a:extLst>
              <a:ext uri="{FF2B5EF4-FFF2-40B4-BE49-F238E27FC236}">
                <a16:creationId xmlns:a16="http://schemas.microsoft.com/office/drawing/2014/main" id="{E79B83E5-DC53-B1AD-FA75-49DA17FCEE9C}"/>
              </a:ext>
            </a:extLst>
          </p:cNvPr>
          <p:cNvPicPr>
            <a:picLocks noChangeAspect="1"/>
          </p:cNvPicPr>
          <p:nvPr/>
        </p:nvPicPr>
        <p:blipFill>
          <a:blip r:embed="rId4"/>
          <a:stretch>
            <a:fillRect/>
          </a:stretch>
        </p:blipFill>
        <p:spPr>
          <a:xfrm>
            <a:off x="0" y="2110952"/>
            <a:ext cx="9144000" cy="2643318"/>
          </a:xfrm>
          <a:prstGeom prst="rect">
            <a:avLst/>
          </a:prstGeom>
        </p:spPr>
      </p:pic>
    </p:spTree>
    <p:extLst>
      <p:ext uri="{BB962C8B-B14F-4D97-AF65-F5344CB8AC3E}">
        <p14:creationId xmlns:p14="http://schemas.microsoft.com/office/powerpoint/2010/main" val="1212924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3" name="Text 1"/>
          <p:cNvSpPr/>
          <p:nvPr/>
        </p:nvSpPr>
        <p:spPr>
          <a:xfrm>
            <a:off x="384048" y="109728"/>
            <a:ext cx="8375904" cy="438912"/>
          </a:xfrm>
          <a:prstGeom prst="rect">
            <a:avLst/>
          </a:prstGeom>
          <a:noFill/>
          <a:ln/>
        </p:spPr>
        <p:txBody>
          <a:bodyPr wrap="square" lIns="0" tIns="0" rIns="0" bIns="0" rtlCol="0" anchor="ctr"/>
          <a:lstStyle/>
          <a:p>
            <a:pPr marL="0" indent="0" algn="r" rtl="1">
              <a:buNone/>
            </a:pPr>
            <a:r>
              <a:rPr lang="en-US" sz="1400" b="1" dirty="0">
                <a:solidFill>
                  <a:srgbClr val="FFFFFF"/>
                </a:solidFill>
                <a:latin typeface="Montserrat-Arabic" panose="00000500000000000000" pitchFamily="2" charset="-78"/>
                <a:ea typeface="Arial" pitchFamily="34" charset="-122"/>
                <a:cs typeface="Montserrat-Arabic" panose="00000500000000000000" pitchFamily="2" charset="-78"/>
              </a:rPr>
              <a:t>ميزة قاتلة للطلاب — السيرة الذاتية التقنية التلقائية</a:t>
            </a:r>
            <a:endParaRPr lang="en-US" sz="1400" dirty="0">
              <a:latin typeface="Montserrat-Arabic" panose="00000500000000000000" pitchFamily="2" charset="-78"/>
              <a:cs typeface="Montserrat-Arabic" panose="00000500000000000000" pitchFamily="2" charset="-78"/>
            </a:endParaRPr>
          </a:p>
        </p:txBody>
      </p:sp>
      <p:sp>
        <p:nvSpPr>
          <p:cNvPr id="4" name="Text 2"/>
          <p:cNvSpPr/>
          <p:nvPr/>
        </p:nvSpPr>
        <p:spPr>
          <a:xfrm>
            <a:off x="384048" y="109728"/>
            <a:ext cx="4572000" cy="438912"/>
          </a:xfrm>
          <a:prstGeom prst="rect">
            <a:avLst/>
          </a:prstGeom>
          <a:noFill/>
          <a:ln/>
        </p:spPr>
        <p:txBody>
          <a:bodyPr wrap="square" lIns="0" tIns="0" rIns="0" bIns="0" rtlCol="0" anchor="ctr"/>
          <a:lstStyle/>
          <a:p>
            <a:pPr marL="0" indent="0" algn="l">
              <a:buNone/>
            </a:pPr>
            <a:r>
              <a:rPr lang="en-US" sz="1000" dirty="0">
                <a:solidFill>
                  <a:srgbClr val="00B4D8"/>
                </a:solidFill>
                <a:latin typeface="Montserrat-Arabic" panose="00000500000000000000" pitchFamily="2" charset="-78"/>
                <a:ea typeface="Arial" pitchFamily="34" charset="-122"/>
                <a:cs typeface="Montserrat-Arabic" panose="00000500000000000000" pitchFamily="2" charset="-78"/>
              </a:rPr>
              <a:t>Skills-Driven CV Generator</a:t>
            </a:r>
            <a:endParaRPr lang="en-US" sz="1000" dirty="0">
              <a:latin typeface="Montserrat-Arabic" panose="00000500000000000000" pitchFamily="2" charset="-78"/>
              <a:cs typeface="Montserrat-Arabic" panose="00000500000000000000" pitchFamily="2" charset="-78"/>
            </a:endParaRPr>
          </a:p>
        </p:txBody>
      </p:sp>
      <p:sp>
        <p:nvSpPr>
          <p:cNvPr id="5" name="Shape 3"/>
          <p:cNvSpPr/>
          <p:nvPr/>
        </p:nvSpPr>
        <p:spPr>
          <a:xfrm>
            <a:off x="384048" y="658368"/>
            <a:ext cx="3840480" cy="4133088"/>
          </a:xfrm>
          <a:prstGeom prst="rect">
            <a:avLst/>
          </a:prstGeom>
          <a:solidFill>
            <a:srgbClr val="1A3055"/>
          </a:solidFill>
          <a:ln w="12700">
            <a:solidFill>
              <a:srgbClr val="112240"/>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6" name="Shape 4"/>
          <p:cNvSpPr/>
          <p:nvPr/>
        </p:nvSpPr>
        <p:spPr>
          <a:xfrm>
            <a:off x="384048" y="658368"/>
            <a:ext cx="3840480" cy="64008"/>
          </a:xfrm>
          <a:prstGeom prst="rect">
            <a:avLst/>
          </a:prstGeom>
          <a:solidFill>
            <a:srgbClr val="90B4CE"/>
          </a:solidFill>
          <a:ln w="12700">
            <a:solidFill>
              <a:srgbClr val="90B4CE"/>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7" name="Text 5"/>
          <p:cNvSpPr/>
          <p:nvPr/>
        </p:nvSpPr>
        <p:spPr>
          <a:xfrm>
            <a:off x="521208" y="777240"/>
            <a:ext cx="3566160" cy="365760"/>
          </a:xfrm>
          <a:prstGeom prst="rect">
            <a:avLst/>
          </a:prstGeom>
          <a:noFill/>
          <a:ln/>
        </p:spPr>
        <p:txBody>
          <a:bodyPr wrap="square" lIns="0" tIns="0" rIns="0" bIns="0" rtlCol="0" anchor="ctr"/>
          <a:lstStyle/>
          <a:p>
            <a:pPr marL="0" indent="0" algn="r" rtl="1">
              <a:buNone/>
            </a:pPr>
            <a:r>
              <a:rPr lang="en-US" sz="1100" b="1" dirty="0">
                <a:solidFill>
                  <a:srgbClr val="90B4CE"/>
                </a:solidFill>
                <a:latin typeface="Montserrat-Arabic" panose="00000500000000000000" pitchFamily="2" charset="-78"/>
                <a:ea typeface="Arial" pitchFamily="34" charset="-122"/>
                <a:cs typeface="Montserrat-Arabic" panose="00000500000000000000" pitchFamily="2" charset="-78"/>
              </a:rPr>
              <a:t>ما يفعله الطالب</a:t>
            </a:r>
            <a:endParaRPr lang="en-US" sz="1100" dirty="0">
              <a:latin typeface="Montserrat-Arabic" panose="00000500000000000000" pitchFamily="2" charset="-78"/>
              <a:cs typeface="Montserrat-Arabic" panose="00000500000000000000" pitchFamily="2" charset="-78"/>
            </a:endParaRPr>
          </a:p>
        </p:txBody>
      </p:sp>
      <p:sp>
        <p:nvSpPr>
          <p:cNvPr id="8" name="Shape 6"/>
          <p:cNvSpPr/>
          <p:nvPr/>
        </p:nvSpPr>
        <p:spPr>
          <a:xfrm>
            <a:off x="548640" y="1298448"/>
            <a:ext cx="3520440" cy="530352"/>
          </a:xfrm>
          <a:prstGeom prst="rect">
            <a:avLst/>
          </a:prstGeom>
          <a:solidFill>
            <a:srgbClr val="0A192F"/>
          </a:solidFill>
          <a:ln w="12700">
            <a:solidFill>
              <a:srgbClr val="334455"/>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9" name="Shape 7"/>
          <p:cNvSpPr/>
          <p:nvPr/>
        </p:nvSpPr>
        <p:spPr>
          <a:xfrm>
            <a:off x="585216" y="1353312"/>
            <a:ext cx="329184" cy="329184"/>
          </a:xfrm>
          <a:prstGeom prst="ellipse">
            <a:avLst/>
          </a:prstGeom>
          <a:solidFill>
            <a:srgbClr val="90B4CE"/>
          </a:solidFill>
          <a:ln w="12700">
            <a:solidFill>
              <a:srgbClr val="90B4CE"/>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0" name="Text 8"/>
          <p:cNvSpPr/>
          <p:nvPr/>
        </p:nvSpPr>
        <p:spPr>
          <a:xfrm>
            <a:off x="585216" y="135331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Arabic" panose="00000500000000000000" pitchFamily="2" charset="-78"/>
                <a:ea typeface="Arial" pitchFamily="34" charset="-122"/>
                <a:cs typeface="Montserrat-Arabic" panose="00000500000000000000" pitchFamily="2" charset="-78"/>
              </a:rPr>
              <a:t>1</a:t>
            </a:r>
            <a:endParaRPr lang="en-US" sz="1000" dirty="0">
              <a:latin typeface="Montserrat-Arabic" panose="00000500000000000000" pitchFamily="2" charset="-78"/>
              <a:cs typeface="Montserrat-Arabic" panose="00000500000000000000" pitchFamily="2" charset="-78"/>
            </a:endParaRPr>
          </a:p>
        </p:txBody>
      </p:sp>
      <p:sp>
        <p:nvSpPr>
          <p:cNvPr id="11" name="Text 9"/>
          <p:cNvSpPr/>
          <p:nvPr/>
        </p:nvSpPr>
        <p:spPr>
          <a:xfrm>
            <a:off x="978408" y="1316736"/>
            <a:ext cx="3017520" cy="512064"/>
          </a:xfrm>
          <a:prstGeom prst="rect">
            <a:avLst/>
          </a:prstGeom>
          <a:noFill/>
          <a:ln/>
        </p:spPr>
        <p:txBody>
          <a:bodyPr wrap="square" lIns="0" tIns="0" rIns="0" bIns="0" rtlCol="0" anchor="ctr"/>
          <a:lstStyle/>
          <a:p>
            <a:pPr marL="0" indent="0" algn="r" rtl="1">
              <a:buNone/>
            </a:pPr>
            <a:r>
              <a:rPr lang="en-US" sz="1000" dirty="0">
                <a:solidFill>
                  <a:srgbClr val="E8F4F8"/>
                </a:solidFill>
                <a:latin typeface="Montserrat-Arabic" panose="00000500000000000000" pitchFamily="2" charset="-78"/>
                <a:ea typeface="Arial" pitchFamily="34" charset="-122"/>
                <a:cs typeface="Montserrat-Arabic" panose="00000500000000000000" pitchFamily="2" charset="-78"/>
              </a:rPr>
              <a:t>يتفاعل مع إثراء خبير أرامكو في مقرر قواعد البيانات</a:t>
            </a:r>
            <a:endParaRPr lang="en-US" sz="1000" dirty="0">
              <a:latin typeface="Montserrat-Arabic" panose="00000500000000000000" pitchFamily="2" charset="-78"/>
              <a:cs typeface="Montserrat-Arabic" panose="00000500000000000000" pitchFamily="2" charset="-78"/>
            </a:endParaRPr>
          </a:p>
        </p:txBody>
      </p:sp>
      <p:sp>
        <p:nvSpPr>
          <p:cNvPr id="12" name="Shape 10"/>
          <p:cNvSpPr/>
          <p:nvPr/>
        </p:nvSpPr>
        <p:spPr>
          <a:xfrm>
            <a:off x="548640" y="1965960"/>
            <a:ext cx="3520440" cy="530352"/>
          </a:xfrm>
          <a:prstGeom prst="rect">
            <a:avLst/>
          </a:prstGeom>
          <a:solidFill>
            <a:srgbClr val="0A192F"/>
          </a:solidFill>
          <a:ln w="12700">
            <a:solidFill>
              <a:srgbClr val="334455"/>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3" name="Shape 11"/>
          <p:cNvSpPr/>
          <p:nvPr/>
        </p:nvSpPr>
        <p:spPr>
          <a:xfrm>
            <a:off x="585216" y="2020824"/>
            <a:ext cx="329184" cy="329184"/>
          </a:xfrm>
          <a:prstGeom prst="ellipse">
            <a:avLst/>
          </a:prstGeom>
          <a:solidFill>
            <a:srgbClr val="90B4CE"/>
          </a:solidFill>
          <a:ln w="12700">
            <a:solidFill>
              <a:srgbClr val="90B4CE"/>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4" name="Text 12"/>
          <p:cNvSpPr/>
          <p:nvPr/>
        </p:nvSpPr>
        <p:spPr>
          <a:xfrm>
            <a:off x="585216" y="202082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Arabic" panose="00000500000000000000" pitchFamily="2" charset="-78"/>
                <a:ea typeface="Arial" pitchFamily="34" charset="-122"/>
                <a:cs typeface="Montserrat-Arabic" panose="00000500000000000000" pitchFamily="2" charset="-78"/>
              </a:rPr>
              <a:t>2</a:t>
            </a:r>
            <a:endParaRPr lang="en-US" sz="1000" dirty="0">
              <a:latin typeface="Montserrat-Arabic" panose="00000500000000000000" pitchFamily="2" charset="-78"/>
              <a:cs typeface="Montserrat-Arabic" panose="00000500000000000000" pitchFamily="2" charset="-78"/>
            </a:endParaRPr>
          </a:p>
        </p:txBody>
      </p:sp>
      <p:sp>
        <p:nvSpPr>
          <p:cNvPr id="15" name="Text 13"/>
          <p:cNvSpPr/>
          <p:nvPr/>
        </p:nvSpPr>
        <p:spPr>
          <a:xfrm>
            <a:off x="978408" y="1984248"/>
            <a:ext cx="3017520" cy="512064"/>
          </a:xfrm>
          <a:prstGeom prst="rect">
            <a:avLst/>
          </a:prstGeom>
          <a:noFill/>
          <a:ln/>
        </p:spPr>
        <p:txBody>
          <a:bodyPr wrap="square" lIns="0" tIns="0" rIns="0" bIns="0" rtlCol="0" anchor="ctr"/>
          <a:lstStyle/>
          <a:p>
            <a:pPr marL="0" indent="0" algn="r" rtl="1">
              <a:buNone/>
            </a:pPr>
            <a:r>
              <a:rPr lang="en-US" sz="1000" dirty="0">
                <a:solidFill>
                  <a:srgbClr val="E8F4F8"/>
                </a:solidFill>
                <a:latin typeface="Montserrat-Arabic" panose="00000500000000000000" pitchFamily="2" charset="-78"/>
                <a:ea typeface="Arial" pitchFamily="34" charset="-122"/>
                <a:cs typeface="Montserrat-Arabic" panose="00000500000000000000" pitchFamily="2" charset="-78"/>
              </a:rPr>
              <a:t>يُكمل تحدياً عملياً على PostgreSQL</a:t>
            </a:r>
            <a:endParaRPr lang="en-US" sz="1000" dirty="0">
              <a:latin typeface="Montserrat-Arabic" panose="00000500000000000000" pitchFamily="2" charset="-78"/>
              <a:cs typeface="Montserrat-Arabic" panose="00000500000000000000" pitchFamily="2" charset="-78"/>
            </a:endParaRPr>
          </a:p>
        </p:txBody>
      </p:sp>
      <p:sp>
        <p:nvSpPr>
          <p:cNvPr id="16" name="Shape 14"/>
          <p:cNvSpPr/>
          <p:nvPr/>
        </p:nvSpPr>
        <p:spPr>
          <a:xfrm>
            <a:off x="548640" y="2633472"/>
            <a:ext cx="3520440" cy="530352"/>
          </a:xfrm>
          <a:prstGeom prst="rect">
            <a:avLst/>
          </a:prstGeom>
          <a:solidFill>
            <a:srgbClr val="0A192F"/>
          </a:solidFill>
          <a:ln w="12700">
            <a:solidFill>
              <a:srgbClr val="334455"/>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7" name="Shape 15"/>
          <p:cNvSpPr/>
          <p:nvPr/>
        </p:nvSpPr>
        <p:spPr>
          <a:xfrm>
            <a:off x="585216" y="2688336"/>
            <a:ext cx="329184" cy="329184"/>
          </a:xfrm>
          <a:prstGeom prst="ellipse">
            <a:avLst/>
          </a:prstGeom>
          <a:solidFill>
            <a:srgbClr val="90B4CE"/>
          </a:solidFill>
          <a:ln w="12700">
            <a:solidFill>
              <a:srgbClr val="90B4CE"/>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18" name="Text 16"/>
          <p:cNvSpPr/>
          <p:nvPr/>
        </p:nvSpPr>
        <p:spPr>
          <a:xfrm>
            <a:off x="585216" y="26883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Arabic" panose="00000500000000000000" pitchFamily="2" charset="-78"/>
                <a:ea typeface="Arial" pitchFamily="34" charset="-122"/>
                <a:cs typeface="Montserrat-Arabic" panose="00000500000000000000" pitchFamily="2" charset="-78"/>
              </a:rPr>
              <a:t>3</a:t>
            </a:r>
            <a:endParaRPr lang="en-US" sz="1000" dirty="0">
              <a:latin typeface="Montserrat-Arabic" panose="00000500000000000000" pitchFamily="2" charset="-78"/>
              <a:cs typeface="Montserrat-Arabic" panose="00000500000000000000" pitchFamily="2" charset="-78"/>
            </a:endParaRPr>
          </a:p>
        </p:txBody>
      </p:sp>
      <p:sp>
        <p:nvSpPr>
          <p:cNvPr id="19" name="Text 17"/>
          <p:cNvSpPr/>
          <p:nvPr/>
        </p:nvSpPr>
        <p:spPr>
          <a:xfrm>
            <a:off x="978408" y="2651760"/>
            <a:ext cx="3017520" cy="512064"/>
          </a:xfrm>
          <a:prstGeom prst="rect">
            <a:avLst/>
          </a:prstGeom>
          <a:noFill/>
          <a:ln/>
        </p:spPr>
        <p:txBody>
          <a:bodyPr wrap="square" lIns="0" tIns="0" rIns="0" bIns="0" rtlCol="0" anchor="ctr"/>
          <a:lstStyle/>
          <a:p>
            <a:pPr marL="0" indent="0" algn="r" rtl="1">
              <a:buNone/>
            </a:pPr>
            <a:r>
              <a:rPr lang="en-US" sz="1000" dirty="0">
                <a:solidFill>
                  <a:srgbClr val="E8F4F8"/>
                </a:solidFill>
                <a:latin typeface="Montserrat-Arabic" panose="00000500000000000000" pitchFamily="2" charset="-78"/>
                <a:ea typeface="Arial" pitchFamily="34" charset="-122"/>
                <a:cs typeface="Montserrat-Arabic" panose="00000500000000000000" pitchFamily="2" charset="-78"/>
              </a:rPr>
              <a:t>يُقيّم شرح خبير سدايا بـ Upvote</a:t>
            </a:r>
            <a:endParaRPr lang="en-US" sz="1000" dirty="0">
              <a:latin typeface="Montserrat-Arabic" panose="00000500000000000000" pitchFamily="2" charset="-78"/>
              <a:cs typeface="Montserrat-Arabic" panose="00000500000000000000" pitchFamily="2" charset="-78"/>
            </a:endParaRPr>
          </a:p>
        </p:txBody>
      </p:sp>
      <p:sp>
        <p:nvSpPr>
          <p:cNvPr id="20" name="Shape 18"/>
          <p:cNvSpPr/>
          <p:nvPr/>
        </p:nvSpPr>
        <p:spPr>
          <a:xfrm>
            <a:off x="548640" y="3300984"/>
            <a:ext cx="3520440" cy="530352"/>
          </a:xfrm>
          <a:prstGeom prst="rect">
            <a:avLst/>
          </a:prstGeom>
          <a:solidFill>
            <a:srgbClr val="0A192F"/>
          </a:solidFill>
          <a:ln w="12700">
            <a:solidFill>
              <a:srgbClr val="334455"/>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21" name="Shape 19"/>
          <p:cNvSpPr/>
          <p:nvPr/>
        </p:nvSpPr>
        <p:spPr>
          <a:xfrm>
            <a:off x="585216" y="3355848"/>
            <a:ext cx="329184" cy="329184"/>
          </a:xfrm>
          <a:prstGeom prst="ellipse">
            <a:avLst/>
          </a:prstGeom>
          <a:solidFill>
            <a:srgbClr val="90B4CE"/>
          </a:solidFill>
          <a:ln w="12700">
            <a:solidFill>
              <a:srgbClr val="90B4CE"/>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22" name="Text 20"/>
          <p:cNvSpPr/>
          <p:nvPr/>
        </p:nvSpPr>
        <p:spPr>
          <a:xfrm>
            <a:off x="585216" y="3355848"/>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Montserrat-Arabic" panose="00000500000000000000" pitchFamily="2" charset="-78"/>
                <a:ea typeface="Arial" pitchFamily="34" charset="-122"/>
                <a:cs typeface="Montserrat-Arabic" panose="00000500000000000000" pitchFamily="2" charset="-78"/>
              </a:rPr>
              <a:t>4</a:t>
            </a:r>
            <a:endParaRPr lang="en-US" sz="1000" dirty="0">
              <a:latin typeface="Montserrat-Arabic" panose="00000500000000000000" pitchFamily="2" charset="-78"/>
              <a:cs typeface="Montserrat-Arabic" panose="00000500000000000000" pitchFamily="2" charset="-78"/>
            </a:endParaRPr>
          </a:p>
        </p:txBody>
      </p:sp>
      <p:sp>
        <p:nvSpPr>
          <p:cNvPr id="23" name="Text 21"/>
          <p:cNvSpPr/>
          <p:nvPr/>
        </p:nvSpPr>
        <p:spPr>
          <a:xfrm>
            <a:off x="978408" y="3319272"/>
            <a:ext cx="3017520" cy="512064"/>
          </a:xfrm>
          <a:prstGeom prst="rect">
            <a:avLst/>
          </a:prstGeom>
          <a:noFill/>
          <a:ln/>
        </p:spPr>
        <p:txBody>
          <a:bodyPr wrap="square" lIns="0" tIns="0" rIns="0" bIns="0" rtlCol="0" anchor="ctr"/>
          <a:lstStyle/>
          <a:p>
            <a:pPr marL="0" indent="0" algn="r" rtl="1">
              <a:buNone/>
            </a:pPr>
            <a:r>
              <a:rPr lang="en-US" sz="1000" dirty="0">
                <a:solidFill>
                  <a:srgbClr val="E8F4F8"/>
                </a:solidFill>
                <a:latin typeface="Montserrat-Arabic" panose="00000500000000000000" pitchFamily="2" charset="-78"/>
                <a:ea typeface="Arial" pitchFamily="34" charset="-122"/>
                <a:cs typeface="Montserrat-Arabic" panose="00000500000000000000" pitchFamily="2" charset="-78"/>
              </a:rPr>
              <a:t>يحضر جلسة مباشرة من خبير STC</a:t>
            </a:r>
            <a:endParaRPr lang="en-US" sz="1000" dirty="0">
              <a:latin typeface="Montserrat-Arabic" panose="00000500000000000000" pitchFamily="2" charset="-78"/>
              <a:cs typeface="Montserrat-Arabic" panose="00000500000000000000" pitchFamily="2" charset="-78"/>
            </a:endParaRPr>
          </a:p>
        </p:txBody>
      </p:sp>
      <p:sp>
        <p:nvSpPr>
          <p:cNvPr id="24" name="Shape 22"/>
          <p:cNvSpPr/>
          <p:nvPr/>
        </p:nvSpPr>
        <p:spPr>
          <a:xfrm>
            <a:off x="4224528" y="2432304"/>
            <a:ext cx="502920" cy="73152"/>
          </a:xfrm>
          <a:prstGeom prst="rect">
            <a:avLst/>
          </a:prstGeom>
          <a:solidFill>
            <a:srgbClr val="F5A623"/>
          </a:solidFill>
          <a:ln w="12700">
            <a:solidFill>
              <a:srgbClr val="F5A623"/>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25" name="Text 23"/>
          <p:cNvSpPr/>
          <p:nvPr/>
        </p:nvSpPr>
        <p:spPr>
          <a:xfrm>
            <a:off x="4572000" y="2286000"/>
            <a:ext cx="274320" cy="347472"/>
          </a:xfrm>
          <a:prstGeom prst="rect">
            <a:avLst/>
          </a:prstGeom>
          <a:noFill/>
          <a:ln/>
        </p:spPr>
        <p:txBody>
          <a:bodyPr wrap="square" lIns="0" tIns="0" rIns="0" bIns="0" rtlCol="0" anchor="ctr"/>
          <a:lstStyle/>
          <a:p>
            <a:pPr marL="0" indent="0" algn="ctr">
              <a:buNone/>
            </a:pPr>
            <a:r>
              <a:rPr lang="en-US" sz="1200" dirty="0">
                <a:solidFill>
                  <a:srgbClr val="F5A623"/>
                </a:solidFill>
                <a:latin typeface="Montserrat-Arabic" panose="00000500000000000000" pitchFamily="2" charset="-78"/>
                <a:ea typeface="Arial" pitchFamily="34" charset="-122"/>
                <a:cs typeface="Montserrat-Arabic" panose="00000500000000000000" pitchFamily="2" charset="-78"/>
              </a:rPr>
              <a:t>▶</a:t>
            </a:r>
            <a:endParaRPr lang="en-US" sz="1200" dirty="0">
              <a:latin typeface="Montserrat-Arabic" panose="00000500000000000000" pitchFamily="2" charset="-78"/>
              <a:cs typeface="Montserrat-Arabic" panose="00000500000000000000" pitchFamily="2" charset="-78"/>
            </a:endParaRPr>
          </a:p>
        </p:txBody>
      </p:sp>
      <p:sp>
        <p:nvSpPr>
          <p:cNvPr id="26" name="Shape 24"/>
          <p:cNvSpPr/>
          <p:nvPr/>
        </p:nvSpPr>
        <p:spPr>
          <a:xfrm>
            <a:off x="4754880" y="658368"/>
            <a:ext cx="4069080" cy="4133088"/>
          </a:xfrm>
          <a:prstGeom prst="rect">
            <a:avLst/>
          </a:prstGeom>
          <a:solidFill>
            <a:srgbClr val="112240"/>
          </a:solidFill>
          <a:ln w="25400">
            <a:solidFill>
              <a:srgbClr val="00B4D8"/>
            </a:solidFill>
            <a:prstDash val="solid"/>
          </a:ln>
          <a:effectLst>
            <a:outerShdw blurRad="127000" dist="38100" dir="8100000" algn="bl" rotWithShape="0">
              <a:srgbClr val="000000">
                <a:alpha val="12000"/>
              </a:srgbClr>
            </a:outerShdw>
          </a:effectLst>
        </p:spPr>
        <p:txBody>
          <a:bodyPr/>
          <a:lstStyle/>
          <a:p>
            <a:endParaRPr lang="ar-SA" sz="1100" dirty="0">
              <a:latin typeface="Montserrat-Arabic" panose="00000500000000000000" pitchFamily="2" charset="-78"/>
              <a:cs typeface="Montserrat-Arabic" panose="00000500000000000000" pitchFamily="2" charset="-78"/>
            </a:endParaRPr>
          </a:p>
        </p:txBody>
      </p:sp>
      <p:sp>
        <p:nvSpPr>
          <p:cNvPr id="27" name="Shape 25"/>
          <p:cNvSpPr/>
          <p:nvPr/>
        </p:nvSpPr>
        <p:spPr>
          <a:xfrm>
            <a:off x="4754880" y="658368"/>
            <a:ext cx="4069080" cy="64008"/>
          </a:xfrm>
          <a:prstGeom prst="rect">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28" name="Text 26"/>
          <p:cNvSpPr/>
          <p:nvPr/>
        </p:nvSpPr>
        <p:spPr>
          <a:xfrm>
            <a:off x="4892040" y="777240"/>
            <a:ext cx="3794760" cy="365760"/>
          </a:xfrm>
          <a:prstGeom prst="rect">
            <a:avLst/>
          </a:prstGeom>
          <a:noFill/>
          <a:ln/>
        </p:spPr>
        <p:txBody>
          <a:bodyPr wrap="square" lIns="0" tIns="0" rIns="0" bIns="0" rtlCol="0" anchor="ctr"/>
          <a:lstStyle/>
          <a:p>
            <a:pPr marL="0" indent="0" algn="r" rtl="1">
              <a:buNone/>
            </a:pPr>
            <a:r>
              <a:rPr lang="en-US" sz="1050" b="1" dirty="0">
                <a:solidFill>
                  <a:srgbClr val="00B4D8"/>
                </a:solidFill>
                <a:latin typeface="Montserrat-Arabic" panose="00000500000000000000" pitchFamily="2" charset="-78"/>
                <a:ea typeface="Arial" pitchFamily="34" charset="-122"/>
                <a:cs typeface="Montserrat-Arabic" panose="00000500000000000000" pitchFamily="2" charset="-78"/>
              </a:rPr>
              <a:t>السيرة الذاتية التقنية — تُولَّد تلقائياً</a:t>
            </a:r>
            <a:endParaRPr lang="en-US" sz="1050" dirty="0">
              <a:latin typeface="Montserrat-Arabic" panose="00000500000000000000" pitchFamily="2" charset="-78"/>
              <a:cs typeface="Montserrat-Arabic" panose="00000500000000000000" pitchFamily="2" charset="-78"/>
            </a:endParaRPr>
          </a:p>
        </p:txBody>
      </p:sp>
      <p:sp>
        <p:nvSpPr>
          <p:cNvPr id="29" name="Text 27"/>
          <p:cNvSpPr/>
          <p:nvPr/>
        </p:nvSpPr>
        <p:spPr>
          <a:xfrm>
            <a:off x="4892040" y="1261872"/>
            <a:ext cx="3794760" cy="365760"/>
          </a:xfrm>
          <a:prstGeom prst="rect">
            <a:avLst/>
          </a:prstGeom>
          <a:noFill/>
          <a:ln/>
        </p:spPr>
        <p:txBody>
          <a:bodyPr wrap="square" lIns="0" tIns="0" rIns="0" bIns="0" rtlCol="0" anchor="ctr"/>
          <a:lstStyle/>
          <a:p>
            <a:pPr marL="0" indent="0" algn="r"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أحمد محمد الغامدي</a:t>
            </a:r>
            <a:endParaRPr lang="en-US" sz="1100" dirty="0">
              <a:latin typeface="Montserrat-Arabic" panose="00000500000000000000" pitchFamily="2" charset="-78"/>
              <a:cs typeface="Montserrat-Arabic" panose="00000500000000000000" pitchFamily="2" charset="-78"/>
            </a:endParaRPr>
          </a:p>
        </p:txBody>
      </p:sp>
      <p:sp>
        <p:nvSpPr>
          <p:cNvPr id="30" name="Text 28"/>
          <p:cNvSpPr/>
          <p:nvPr/>
        </p:nvSpPr>
        <p:spPr>
          <a:xfrm>
            <a:off x="4892040" y="1627632"/>
            <a:ext cx="3794760" cy="274320"/>
          </a:xfrm>
          <a:prstGeom prst="rect">
            <a:avLst/>
          </a:prstGeom>
          <a:noFill/>
          <a:ln/>
        </p:spPr>
        <p:txBody>
          <a:bodyPr wrap="square" lIns="0" tIns="0" rIns="0" bIns="0" rtlCol="0" anchor="ctr"/>
          <a:lstStyle/>
          <a:p>
            <a:pPr marL="0" indent="0" algn="r" rtl="1">
              <a:buNone/>
            </a:pPr>
            <a:r>
              <a:rPr lang="en-US" sz="900" dirty="0">
                <a:solidFill>
                  <a:srgbClr val="90B4CE"/>
                </a:solidFill>
                <a:latin typeface="Montserrat-Arabic" panose="00000500000000000000" pitchFamily="2" charset="-78"/>
                <a:ea typeface="Arial" pitchFamily="34" charset="-122"/>
                <a:cs typeface="Montserrat-Arabic" panose="00000500000000000000" pitchFamily="2" charset="-78"/>
              </a:rPr>
              <a:t>طالب — علوم الحاسب — جامعة الأمير سطام</a:t>
            </a:r>
            <a:endParaRPr lang="en-US" sz="900" dirty="0">
              <a:latin typeface="Montserrat-Arabic" panose="00000500000000000000" pitchFamily="2" charset="-78"/>
              <a:cs typeface="Montserrat-Arabic" panose="00000500000000000000" pitchFamily="2" charset="-78"/>
            </a:endParaRPr>
          </a:p>
        </p:txBody>
      </p:sp>
      <p:sp>
        <p:nvSpPr>
          <p:cNvPr id="31" name="Shape 29"/>
          <p:cNvSpPr/>
          <p:nvPr/>
        </p:nvSpPr>
        <p:spPr>
          <a:xfrm>
            <a:off x="4892040" y="1938528"/>
            <a:ext cx="3703320" cy="27432"/>
          </a:xfrm>
          <a:prstGeom prst="rect">
            <a:avLst/>
          </a:prstGeom>
          <a:solidFill>
            <a:srgbClr val="00B4D8">
              <a:alpha val="50000"/>
            </a:srgbClr>
          </a:solidFill>
          <a:ln w="12700">
            <a:solidFill>
              <a:srgbClr val="00B4D8">
                <a:alpha val="50000"/>
              </a:srgbClr>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32" name="Text 30"/>
          <p:cNvSpPr/>
          <p:nvPr/>
        </p:nvSpPr>
        <p:spPr>
          <a:xfrm>
            <a:off x="4892040" y="2029968"/>
            <a:ext cx="3794760" cy="292608"/>
          </a:xfrm>
          <a:prstGeom prst="rect">
            <a:avLst/>
          </a:prstGeom>
          <a:noFill/>
          <a:ln/>
        </p:spPr>
        <p:txBody>
          <a:bodyPr wrap="square" lIns="0" tIns="0" rIns="0" bIns="0" rtlCol="0" anchor="ctr"/>
          <a:lstStyle/>
          <a:p>
            <a:pPr marL="0" indent="0" algn="r" rtl="1">
              <a:buNone/>
            </a:pPr>
            <a:r>
              <a:rPr lang="en-US" sz="1000" b="1" dirty="0">
                <a:solidFill>
                  <a:srgbClr val="F5A623"/>
                </a:solidFill>
                <a:latin typeface="Montserrat-Arabic" panose="00000500000000000000" pitchFamily="2" charset="-78"/>
                <a:ea typeface="Arial" pitchFamily="34" charset="-122"/>
                <a:cs typeface="Montserrat-Arabic" panose="00000500000000000000" pitchFamily="2" charset="-78"/>
              </a:rPr>
              <a:t>المهارات </a:t>
            </a:r>
            <a:r>
              <a:rPr lang="en-US" sz="1000" b="1" dirty="0" err="1">
                <a:solidFill>
                  <a:srgbClr val="F5A623"/>
                </a:solidFill>
                <a:latin typeface="Montserrat-Arabic" panose="00000500000000000000" pitchFamily="2" charset="-78"/>
                <a:ea typeface="Arial" pitchFamily="34" charset="-122"/>
                <a:cs typeface="Montserrat-Arabic" panose="00000500000000000000" pitchFamily="2" charset="-78"/>
              </a:rPr>
              <a:t>التقنية</a:t>
            </a:r>
            <a:r>
              <a:rPr lang="en-US" sz="1000" b="1" dirty="0">
                <a:solidFill>
                  <a:srgbClr val="F5A623"/>
                </a:solidFill>
                <a:latin typeface="Montserrat-Arabic" panose="00000500000000000000" pitchFamily="2" charset="-78"/>
                <a:ea typeface="Arial" pitchFamily="34" charset="-122"/>
                <a:cs typeface="Montserrat-Arabic" panose="00000500000000000000" pitchFamily="2" charset="-78"/>
              </a:rPr>
              <a:t> )</a:t>
            </a:r>
            <a:r>
              <a:rPr lang="en-US" sz="1000" b="1" dirty="0" err="1">
                <a:solidFill>
                  <a:srgbClr val="F5A623"/>
                </a:solidFill>
                <a:latin typeface="Montserrat-Arabic" panose="00000500000000000000" pitchFamily="2" charset="-78"/>
                <a:ea typeface="Arial" pitchFamily="34" charset="-122"/>
                <a:cs typeface="Montserrat-Arabic" panose="00000500000000000000" pitchFamily="2" charset="-78"/>
              </a:rPr>
              <a:t>مُستخرجة</a:t>
            </a:r>
            <a:r>
              <a:rPr lang="en-US" sz="1000" b="1" dirty="0">
                <a:solidFill>
                  <a:srgbClr val="F5A623"/>
                </a:solidFill>
                <a:latin typeface="Montserrat-Arabic" panose="00000500000000000000" pitchFamily="2" charset="-78"/>
                <a:ea typeface="Arial" pitchFamily="34" charset="-122"/>
                <a:cs typeface="Montserrat-Arabic" panose="00000500000000000000" pitchFamily="2" charset="-78"/>
              </a:rPr>
              <a:t> </a:t>
            </a:r>
            <a:r>
              <a:rPr lang="en-US" sz="1000" b="1" dirty="0" err="1">
                <a:solidFill>
                  <a:srgbClr val="F5A623"/>
                </a:solidFill>
                <a:latin typeface="Montserrat-Arabic" panose="00000500000000000000" pitchFamily="2" charset="-78"/>
                <a:ea typeface="Arial" pitchFamily="34" charset="-122"/>
                <a:cs typeface="Montserrat-Arabic" panose="00000500000000000000" pitchFamily="2" charset="-78"/>
              </a:rPr>
              <a:t>تلقائياً</a:t>
            </a:r>
            <a:r>
              <a:rPr lang="en-US" sz="1000" b="1" dirty="0">
                <a:solidFill>
                  <a:srgbClr val="F5A623"/>
                </a:solidFill>
                <a:latin typeface="Montserrat-Arabic" panose="00000500000000000000" pitchFamily="2" charset="-78"/>
                <a:ea typeface="Arial" pitchFamily="34" charset="-122"/>
                <a:cs typeface="Montserrat-Arabic" panose="00000500000000000000" pitchFamily="2" charset="-78"/>
              </a:rPr>
              <a:t>(</a:t>
            </a:r>
            <a:endParaRPr lang="en-US" sz="1000" dirty="0">
              <a:latin typeface="Montserrat-Arabic" panose="00000500000000000000" pitchFamily="2" charset="-78"/>
              <a:cs typeface="Montserrat-Arabic" panose="00000500000000000000" pitchFamily="2" charset="-78"/>
            </a:endParaRPr>
          </a:p>
        </p:txBody>
      </p:sp>
      <p:sp>
        <p:nvSpPr>
          <p:cNvPr id="33" name="Shape 31"/>
          <p:cNvSpPr/>
          <p:nvPr/>
        </p:nvSpPr>
        <p:spPr>
          <a:xfrm>
            <a:off x="4919472" y="2395728"/>
            <a:ext cx="3675888" cy="338328"/>
          </a:xfrm>
          <a:prstGeom prst="rect">
            <a:avLst/>
          </a:prstGeom>
          <a:solidFill>
            <a:srgbClr val="1A3055"/>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34" name="Shape 32"/>
          <p:cNvSpPr/>
          <p:nvPr/>
        </p:nvSpPr>
        <p:spPr>
          <a:xfrm>
            <a:off x="8229600" y="2441448"/>
            <a:ext cx="256032" cy="256032"/>
          </a:xfrm>
          <a:prstGeom prst="ellipse">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35" name="Text 33"/>
          <p:cNvSpPr/>
          <p:nvPr/>
        </p:nvSpPr>
        <p:spPr>
          <a:xfrm>
            <a:off x="4956048" y="2414016"/>
            <a:ext cx="3218688" cy="310896"/>
          </a:xfrm>
          <a:prstGeom prst="rect">
            <a:avLst/>
          </a:prstGeom>
          <a:noFill/>
          <a:ln/>
        </p:spPr>
        <p:txBody>
          <a:bodyPr wrap="square" lIns="0" tIns="0" rIns="0" bIns="0" rtlCol="0" anchor="ctr"/>
          <a:lstStyle/>
          <a:p>
            <a:pPr marL="0" indent="0" algn="r">
              <a:buNone/>
            </a:pPr>
            <a:r>
              <a:rPr lang="en-US" sz="900" dirty="0">
                <a:solidFill>
                  <a:srgbClr val="FFFFFF"/>
                </a:solidFill>
                <a:latin typeface="Montserrat-Arabic" panose="00000500000000000000" pitchFamily="2" charset="-78"/>
                <a:ea typeface="Arial" pitchFamily="34" charset="-122"/>
                <a:cs typeface="Montserrat-Arabic" panose="00000500000000000000" pitchFamily="2" charset="-78"/>
              </a:rPr>
              <a:t>PostgreSQL Advanced</a:t>
            </a:r>
            <a:endParaRPr lang="en-US" sz="900" dirty="0">
              <a:latin typeface="Montserrat-Arabic" panose="00000500000000000000" pitchFamily="2" charset="-78"/>
              <a:cs typeface="Montserrat-Arabic" panose="00000500000000000000" pitchFamily="2" charset="-78"/>
            </a:endParaRPr>
          </a:p>
        </p:txBody>
      </p:sp>
      <p:sp>
        <p:nvSpPr>
          <p:cNvPr id="36" name="Shape 34"/>
          <p:cNvSpPr/>
          <p:nvPr/>
        </p:nvSpPr>
        <p:spPr>
          <a:xfrm>
            <a:off x="4919472" y="2798064"/>
            <a:ext cx="3675888" cy="338328"/>
          </a:xfrm>
          <a:prstGeom prst="rect">
            <a:avLst/>
          </a:prstGeom>
          <a:solidFill>
            <a:srgbClr val="1A3055"/>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37" name="Shape 35"/>
          <p:cNvSpPr/>
          <p:nvPr/>
        </p:nvSpPr>
        <p:spPr>
          <a:xfrm>
            <a:off x="8229600" y="2843784"/>
            <a:ext cx="256032" cy="256032"/>
          </a:xfrm>
          <a:prstGeom prst="ellipse">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38" name="Text 36"/>
          <p:cNvSpPr/>
          <p:nvPr/>
        </p:nvSpPr>
        <p:spPr>
          <a:xfrm>
            <a:off x="4956048" y="2816352"/>
            <a:ext cx="3218688" cy="310896"/>
          </a:xfrm>
          <a:prstGeom prst="rect">
            <a:avLst/>
          </a:prstGeom>
          <a:noFill/>
          <a:ln/>
        </p:spPr>
        <p:txBody>
          <a:bodyPr wrap="square" lIns="0" tIns="0" rIns="0" bIns="0" rtlCol="0" anchor="ctr"/>
          <a:lstStyle/>
          <a:p>
            <a:pPr marL="0" indent="0" algn="r">
              <a:buNone/>
            </a:pPr>
            <a:r>
              <a:rPr lang="en-US" sz="900" dirty="0">
                <a:solidFill>
                  <a:srgbClr val="FFFFFF"/>
                </a:solidFill>
                <a:latin typeface="Montserrat-Arabic" panose="00000500000000000000" pitchFamily="2" charset="-78"/>
                <a:ea typeface="Arial" pitchFamily="34" charset="-122"/>
                <a:cs typeface="Montserrat-Arabic" panose="00000500000000000000" pitchFamily="2" charset="-78"/>
              </a:rPr>
              <a:t>Oracle DB Certified</a:t>
            </a:r>
            <a:endParaRPr lang="en-US" sz="900" dirty="0">
              <a:latin typeface="Montserrat-Arabic" panose="00000500000000000000" pitchFamily="2" charset="-78"/>
              <a:cs typeface="Montserrat-Arabic" panose="00000500000000000000" pitchFamily="2" charset="-78"/>
            </a:endParaRPr>
          </a:p>
        </p:txBody>
      </p:sp>
      <p:sp>
        <p:nvSpPr>
          <p:cNvPr id="39" name="Shape 37"/>
          <p:cNvSpPr/>
          <p:nvPr/>
        </p:nvSpPr>
        <p:spPr>
          <a:xfrm>
            <a:off x="4919472" y="3200400"/>
            <a:ext cx="3675888" cy="338328"/>
          </a:xfrm>
          <a:prstGeom prst="rect">
            <a:avLst/>
          </a:prstGeom>
          <a:solidFill>
            <a:srgbClr val="1A3055"/>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40" name="Shape 38"/>
          <p:cNvSpPr/>
          <p:nvPr/>
        </p:nvSpPr>
        <p:spPr>
          <a:xfrm>
            <a:off x="8229600" y="3246120"/>
            <a:ext cx="256032" cy="256032"/>
          </a:xfrm>
          <a:prstGeom prst="ellipse">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41" name="Text 39"/>
          <p:cNvSpPr/>
          <p:nvPr/>
        </p:nvSpPr>
        <p:spPr>
          <a:xfrm>
            <a:off x="4956048" y="3218688"/>
            <a:ext cx="3218688" cy="310896"/>
          </a:xfrm>
          <a:prstGeom prst="rect">
            <a:avLst/>
          </a:prstGeom>
          <a:noFill/>
          <a:ln/>
        </p:spPr>
        <p:txBody>
          <a:bodyPr wrap="square" lIns="0" tIns="0" rIns="0" bIns="0" rtlCol="0" anchor="ctr"/>
          <a:lstStyle/>
          <a:p>
            <a:pPr marL="0" indent="0" algn="r">
              <a:buNone/>
            </a:pPr>
            <a:r>
              <a:rPr lang="en-US" sz="900" dirty="0">
                <a:solidFill>
                  <a:srgbClr val="FFFFFF"/>
                </a:solidFill>
                <a:latin typeface="Montserrat-Arabic" panose="00000500000000000000" pitchFamily="2" charset="-78"/>
                <a:ea typeface="Arial" pitchFamily="34" charset="-122"/>
                <a:cs typeface="Montserrat-Arabic" panose="00000500000000000000" pitchFamily="2" charset="-78"/>
              </a:rPr>
              <a:t>Spring Boot</a:t>
            </a:r>
            <a:endParaRPr lang="en-US" sz="900" dirty="0">
              <a:latin typeface="Montserrat-Arabic" panose="00000500000000000000" pitchFamily="2" charset="-78"/>
              <a:cs typeface="Montserrat-Arabic" panose="00000500000000000000" pitchFamily="2" charset="-78"/>
            </a:endParaRPr>
          </a:p>
        </p:txBody>
      </p:sp>
      <p:sp>
        <p:nvSpPr>
          <p:cNvPr id="42" name="Shape 40"/>
          <p:cNvSpPr/>
          <p:nvPr/>
        </p:nvSpPr>
        <p:spPr>
          <a:xfrm>
            <a:off x="4919472" y="3602736"/>
            <a:ext cx="3675888" cy="338328"/>
          </a:xfrm>
          <a:prstGeom prst="rect">
            <a:avLst/>
          </a:prstGeom>
          <a:solidFill>
            <a:srgbClr val="1A3055"/>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43" name="Shape 41"/>
          <p:cNvSpPr/>
          <p:nvPr/>
        </p:nvSpPr>
        <p:spPr>
          <a:xfrm>
            <a:off x="8229600" y="3648456"/>
            <a:ext cx="256032" cy="256032"/>
          </a:xfrm>
          <a:prstGeom prst="ellipse">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44" name="Text 42"/>
          <p:cNvSpPr/>
          <p:nvPr/>
        </p:nvSpPr>
        <p:spPr>
          <a:xfrm>
            <a:off x="4956048" y="3621024"/>
            <a:ext cx="3218688" cy="310896"/>
          </a:xfrm>
          <a:prstGeom prst="rect">
            <a:avLst/>
          </a:prstGeom>
          <a:noFill/>
          <a:ln/>
        </p:spPr>
        <p:txBody>
          <a:bodyPr wrap="square" lIns="0" tIns="0" rIns="0" bIns="0" rtlCol="0" anchor="ctr"/>
          <a:lstStyle/>
          <a:p>
            <a:pPr marL="0" indent="0" algn="r">
              <a:buNone/>
            </a:pPr>
            <a:r>
              <a:rPr lang="en-US" sz="900" dirty="0">
                <a:solidFill>
                  <a:srgbClr val="FFFFFF"/>
                </a:solidFill>
                <a:latin typeface="Montserrat-Arabic" panose="00000500000000000000" pitchFamily="2" charset="-78"/>
                <a:ea typeface="Arial" pitchFamily="34" charset="-122"/>
                <a:cs typeface="Montserrat-Arabic" panose="00000500000000000000" pitchFamily="2" charset="-78"/>
              </a:rPr>
              <a:t>AWS Cloud Fundamentals</a:t>
            </a:r>
            <a:endParaRPr lang="en-US" sz="900" dirty="0">
              <a:latin typeface="Montserrat-Arabic" panose="00000500000000000000" pitchFamily="2" charset="-78"/>
              <a:cs typeface="Montserrat-Arabic" panose="00000500000000000000" pitchFamily="2" charset="-78"/>
            </a:endParaRPr>
          </a:p>
        </p:txBody>
      </p:sp>
      <p:sp>
        <p:nvSpPr>
          <p:cNvPr id="45" name="Shape 43"/>
          <p:cNvSpPr/>
          <p:nvPr/>
        </p:nvSpPr>
        <p:spPr>
          <a:xfrm>
            <a:off x="4919472" y="4005072"/>
            <a:ext cx="3675888" cy="338328"/>
          </a:xfrm>
          <a:prstGeom prst="rect">
            <a:avLst/>
          </a:prstGeom>
          <a:solidFill>
            <a:srgbClr val="1A3055"/>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46" name="Shape 44"/>
          <p:cNvSpPr/>
          <p:nvPr/>
        </p:nvSpPr>
        <p:spPr>
          <a:xfrm>
            <a:off x="8229600" y="4050792"/>
            <a:ext cx="256032" cy="256032"/>
          </a:xfrm>
          <a:prstGeom prst="ellipse">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47" name="Text 45"/>
          <p:cNvSpPr/>
          <p:nvPr/>
        </p:nvSpPr>
        <p:spPr>
          <a:xfrm>
            <a:off x="4956048" y="4023360"/>
            <a:ext cx="3218688" cy="310896"/>
          </a:xfrm>
          <a:prstGeom prst="rect">
            <a:avLst/>
          </a:prstGeom>
          <a:noFill/>
          <a:ln/>
        </p:spPr>
        <p:txBody>
          <a:bodyPr wrap="square" lIns="0" tIns="0" rIns="0" bIns="0" rtlCol="0" anchor="ctr"/>
          <a:lstStyle/>
          <a:p>
            <a:pPr marL="0" indent="0" algn="r">
              <a:buNone/>
            </a:pPr>
            <a:r>
              <a:rPr lang="en-US" sz="900" dirty="0">
                <a:solidFill>
                  <a:srgbClr val="FFFFFF"/>
                </a:solidFill>
                <a:latin typeface="Montserrat-Arabic" panose="00000500000000000000" pitchFamily="2" charset="-78"/>
                <a:ea typeface="Arial" pitchFamily="34" charset="-122"/>
                <a:cs typeface="Montserrat-Arabic" panose="00000500000000000000" pitchFamily="2" charset="-78"/>
              </a:rPr>
              <a:t>Data Analysis — SDAIA Tools</a:t>
            </a:r>
            <a:endParaRPr lang="en-US" sz="900" dirty="0">
              <a:latin typeface="Montserrat-Arabic" panose="00000500000000000000" pitchFamily="2" charset="-78"/>
              <a:cs typeface="Montserrat-Arabic" panose="00000500000000000000" pitchFamily="2" charset="-78"/>
            </a:endParaRPr>
          </a:p>
        </p:txBody>
      </p:sp>
      <p:sp>
        <p:nvSpPr>
          <p:cNvPr id="48" name="Shape 46"/>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sz="1100">
              <a:latin typeface="Montserrat-Arabic" panose="00000500000000000000" pitchFamily="2" charset="-78"/>
              <a:cs typeface="Montserrat-Arabic" panose="00000500000000000000" pitchFamily="2" charset="-78"/>
            </a:endParaRPr>
          </a:p>
        </p:txBody>
      </p:sp>
      <p:sp>
        <p:nvSpPr>
          <p:cNvPr id="49" name="Text 47"/>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90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900" dirty="0">
              <a:latin typeface="Montserrat-Arabic" panose="00000500000000000000" pitchFamily="2" charset="-78"/>
              <a:cs typeface="Montserrat-Arabic" panose="00000500000000000000" pitchFamily="2" charset="-78"/>
            </a:endParaRPr>
          </a:p>
        </p:txBody>
      </p:sp>
      <p:sp>
        <p:nvSpPr>
          <p:cNvPr id="50" name="Text 48"/>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800" dirty="0">
                <a:solidFill>
                  <a:srgbClr val="607080"/>
                </a:solidFill>
                <a:latin typeface="Montserrat-Arabic" panose="00000500000000000000" pitchFamily="2" charset="-78"/>
                <a:ea typeface="Arial" pitchFamily="34" charset="-122"/>
                <a:cs typeface="Montserrat-Arabic" panose="00000500000000000000" pitchFamily="2" charset="-78"/>
              </a:rPr>
              <a:t>6 / 14</a:t>
            </a:r>
            <a:endParaRPr lang="en-US" sz="800" dirty="0">
              <a:latin typeface="Montserrat-Arabic" panose="00000500000000000000" pitchFamily="2" charset="-78"/>
              <a:cs typeface="Montserrat-Arabic" panose="00000500000000000000" pitchFamily="2" charset="-7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B4D8"/>
          </a:solidFill>
          <a:ln w="12700">
            <a:solidFill>
              <a:srgbClr val="00B4D8"/>
            </a:solidFill>
            <a:prstDash val="solid"/>
          </a:ln>
        </p:spPr>
        <p:txBody>
          <a:bodyPr/>
          <a:lstStyle/>
          <a:p>
            <a:endParaRPr lang="ar-SA"/>
          </a:p>
        </p:txBody>
      </p:sp>
      <p:sp>
        <p:nvSpPr>
          <p:cNvPr id="3" name="Text 1"/>
          <p:cNvSpPr/>
          <p:nvPr/>
        </p:nvSpPr>
        <p:spPr>
          <a:xfrm>
            <a:off x="384048" y="0"/>
            <a:ext cx="8375904" cy="457200"/>
          </a:xfrm>
          <a:prstGeom prst="rect">
            <a:avLst/>
          </a:prstGeom>
          <a:noFill/>
          <a:ln/>
        </p:spPr>
        <p:txBody>
          <a:bodyPr wrap="square" lIns="0" tIns="0" rIns="0" bIns="0" rtlCol="0" anchor="ctr"/>
          <a:lstStyle/>
          <a:p>
            <a:pPr marL="0" indent="0" algn="r" rtl="1">
              <a:buNone/>
            </a:pPr>
            <a:r>
              <a:rPr lang="en-US" sz="2200" b="1" dirty="0">
                <a:solidFill>
                  <a:srgbClr val="0A192F"/>
                </a:solidFill>
                <a:latin typeface="Arial" pitchFamily="34" charset="0"/>
                <a:ea typeface="Arial" pitchFamily="34" charset="-122"/>
                <a:cs typeface="Arial" pitchFamily="34" charset="-120"/>
              </a:rPr>
              <a:t>لوحة قيادة عمداء الكليات — مؤشر الفجوة الأكاديمية</a:t>
            </a:r>
            <a:endParaRPr lang="en-US" sz="2200" dirty="0"/>
          </a:p>
        </p:txBody>
      </p:sp>
      <p:sp>
        <p:nvSpPr>
          <p:cNvPr id="4" name="Text 2"/>
          <p:cNvSpPr/>
          <p:nvPr/>
        </p:nvSpPr>
        <p:spPr>
          <a:xfrm>
            <a:off x="384048" y="0"/>
            <a:ext cx="6400800" cy="457200"/>
          </a:xfrm>
          <a:prstGeom prst="rect">
            <a:avLst/>
          </a:prstGeom>
          <a:noFill/>
          <a:ln/>
        </p:spPr>
        <p:txBody>
          <a:bodyPr wrap="square" lIns="0" tIns="0" rIns="0" bIns="0" rtlCol="0" anchor="ctr"/>
          <a:lstStyle/>
          <a:p>
            <a:pPr marL="0" indent="0" algn="l">
              <a:buNone/>
            </a:pPr>
            <a:r>
              <a:rPr lang="en-US" sz="1300" dirty="0">
                <a:solidFill>
                  <a:srgbClr val="0A192F"/>
                </a:solidFill>
                <a:latin typeface="Arial" pitchFamily="34" charset="0"/>
                <a:ea typeface="Arial" pitchFamily="34" charset="-122"/>
                <a:cs typeface="Arial" pitchFamily="34" charset="-120"/>
              </a:rPr>
              <a:t>Academic Gap Index</a:t>
            </a:r>
            <a:endParaRPr lang="en-US" sz="1300" dirty="0"/>
          </a:p>
        </p:txBody>
      </p:sp>
      <p:sp>
        <p:nvSpPr>
          <p:cNvPr id="5" name="Shape 3"/>
          <p:cNvSpPr/>
          <p:nvPr/>
        </p:nvSpPr>
        <p:spPr>
          <a:xfrm>
            <a:off x="384048" y="566928"/>
            <a:ext cx="5029200" cy="4206240"/>
          </a:xfrm>
          <a:prstGeom prst="rect">
            <a:avLst/>
          </a:prstGeom>
          <a:solidFill>
            <a:srgbClr val="0A192F"/>
          </a:solidFill>
          <a:ln w="25400">
            <a:solidFill>
              <a:srgbClr val="00B4D8"/>
            </a:solidFill>
            <a:prstDash val="solid"/>
          </a:ln>
          <a:effectLst>
            <a:outerShdw blurRad="127000" dist="38100" dir="8100000" algn="bl" rotWithShape="0">
              <a:srgbClr val="000000">
                <a:alpha val="12000"/>
              </a:srgbClr>
            </a:outerShdw>
          </a:effectLst>
        </p:spPr>
        <p:txBody>
          <a:bodyPr/>
          <a:lstStyle/>
          <a:p>
            <a:endParaRPr lang="ar-SA"/>
          </a:p>
        </p:txBody>
      </p:sp>
      <p:sp>
        <p:nvSpPr>
          <p:cNvPr id="6" name="Shape 4"/>
          <p:cNvSpPr/>
          <p:nvPr/>
        </p:nvSpPr>
        <p:spPr>
          <a:xfrm>
            <a:off x="384048" y="566928"/>
            <a:ext cx="5029200" cy="347472"/>
          </a:xfrm>
          <a:prstGeom prst="rect">
            <a:avLst/>
          </a:prstGeom>
          <a:solidFill>
            <a:srgbClr val="1A3055"/>
          </a:solidFill>
          <a:ln w="12700">
            <a:solidFill>
              <a:srgbClr val="1A3055"/>
            </a:solidFill>
            <a:prstDash val="solid"/>
          </a:ln>
        </p:spPr>
        <p:txBody>
          <a:bodyPr/>
          <a:lstStyle/>
          <a:p>
            <a:endParaRPr lang="ar-SA"/>
          </a:p>
        </p:txBody>
      </p:sp>
      <p:sp>
        <p:nvSpPr>
          <p:cNvPr id="7" name="Text 5"/>
          <p:cNvSpPr/>
          <p:nvPr/>
        </p:nvSpPr>
        <p:spPr>
          <a:xfrm>
            <a:off x="475488" y="594360"/>
            <a:ext cx="4846320" cy="292608"/>
          </a:xfrm>
          <a:prstGeom prst="rect">
            <a:avLst/>
          </a:prstGeom>
          <a:noFill/>
          <a:ln/>
        </p:spPr>
        <p:txBody>
          <a:bodyPr wrap="square" lIns="0" tIns="0" rIns="0" bIns="0" rtlCol="0" anchor="ctr"/>
          <a:lstStyle/>
          <a:p>
            <a:pPr marL="0" indent="0" algn="r" rtl="1">
              <a:buNone/>
            </a:pPr>
            <a:r>
              <a:rPr lang="en-US" sz="1100" dirty="0">
                <a:solidFill>
                  <a:srgbClr val="90B4CE"/>
                </a:solidFill>
                <a:latin typeface="Arial" pitchFamily="34" charset="0"/>
                <a:ea typeface="Arial" pitchFamily="34" charset="-122"/>
                <a:cs typeface="Arial" pitchFamily="34" charset="-120"/>
              </a:rPr>
              <a:t>لوحة القيادة — عميد كلية الهندسة وعلوم الحاسب</a:t>
            </a:r>
            <a:endParaRPr lang="en-US" sz="1100" dirty="0"/>
          </a:p>
        </p:txBody>
      </p:sp>
      <p:sp>
        <p:nvSpPr>
          <p:cNvPr id="8" name="Text 6"/>
          <p:cNvSpPr/>
          <p:nvPr/>
        </p:nvSpPr>
        <p:spPr>
          <a:xfrm>
            <a:off x="493776" y="1005840"/>
            <a:ext cx="4828032" cy="320040"/>
          </a:xfrm>
          <a:prstGeom prst="rect">
            <a:avLst/>
          </a:prstGeom>
          <a:noFill/>
          <a:ln/>
        </p:spPr>
        <p:txBody>
          <a:bodyPr wrap="square" lIns="0" tIns="0" rIns="0" bIns="0" rtlCol="0" anchor="ctr"/>
          <a:lstStyle/>
          <a:p>
            <a:pPr marL="0" indent="0" algn="r" rtl="1">
              <a:buNone/>
            </a:pPr>
            <a:r>
              <a:rPr lang="en-US" sz="1300" b="1" dirty="0">
                <a:solidFill>
                  <a:srgbClr val="F5A623"/>
                </a:solidFill>
                <a:latin typeface="Arial" pitchFamily="34" charset="0"/>
                <a:ea typeface="Arial" pitchFamily="34" charset="-122"/>
                <a:cs typeface="Arial" pitchFamily="34" charset="-120"/>
              </a:rPr>
              <a:t>مؤشر الفجوة الأكاديمية — أبرز المهارات المطلوبة</a:t>
            </a:r>
            <a:endParaRPr lang="en-US" sz="1300" dirty="0"/>
          </a:p>
        </p:txBody>
      </p:sp>
      <p:sp>
        <p:nvSpPr>
          <p:cNvPr id="9" name="Text 7"/>
          <p:cNvSpPr/>
          <p:nvPr/>
        </p:nvSpPr>
        <p:spPr>
          <a:xfrm>
            <a:off x="521208" y="1444752"/>
            <a:ext cx="1463040" cy="274320"/>
          </a:xfrm>
          <a:prstGeom prst="rect">
            <a:avLst/>
          </a:prstGeom>
          <a:noFill/>
          <a:ln/>
        </p:spPr>
        <p:txBody>
          <a:bodyPr wrap="square" lIns="0" tIns="0" rIns="0" bIns="0" rtlCol="0" anchor="ctr"/>
          <a:lstStyle/>
          <a:p>
            <a:pPr marL="0" indent="0" algn="l">
              <a:buNone/>
            </a:pPr>
            <a:r>
              <a:rPr lang="en-US" sz="1100" dirty="0">
                <a:solidFill>
                  <a:srgbClr val="90B4CE"/>
                </a:solidFill>
                <a:latin typeface="Arial" pitchFamily="34" charset="0"/>
                <a:ea typeface="Arial" pitchFamily="34" charset="-122"/>
                <a:cs typeface="Arial" pitchFamily="34" charset="-120"/>
              </a:rPr>
              <a:t>Cloud Computing</a:t>
            </a:r>
            <a:endParaRPr lang="en-US" sz="1100" dirty="0"/>
          </a:p>
        </p:txBody>
      </p:sp>
      <p:sp>
        <p:nvSpPr>
          <p:cNvPr id="10" name="Shape 8"/>
          <p:cNvSpPr/>
          <p:nvPr/>
        </p:nvSpPr>
        <p:spPr>
          <a:xfrm>
            <a:off x="2029968" y="1481328"/>
            <a:ext cx="4206240" cy="201168"/>
          </a:xfrm>
          <a:prstGeom prst="rect">
            <a:avLst/>
          </a:prstGeom>
          <a:solidFill>
            <a:srgbClr val="1A3055"/>
          </a:solidFill>
          <a:ln w="12700">
            <a:solidFill>
              <a:srgbClr val="1A3055"/>
            </a:solidFill>
            <a:prstDash val="solid"/>
          </a:ln>
        </p:spPr>
        <p:txBody>
          <a:bodyPr/>
          <a:lstStyle/>
          <a:p>
            <a:endParaRPr lang="ar-SA"/>
          </a:p>
        </p:txBody>
      </p:sp>
      <p:sp>
        <p:nvSpPr>
          <p:cNvPr id="11" name="Shape 9"/>
          <p:cNvSpPr/>
          <p:nvPr/>
        </p:nvSpPr>
        <p:spPr>
          <a:xfrm>
            <a:off x="2029968" y="1481328"/>
            <a:ext cx="3701491" cy="201168"/>
          </a:xfrm>
          <a:prstGeom prst="rect">
            <a:avLst/>
          </a:prstGeom>
          <a:solidFill>
            <a:srgbClr val="EF476F"/>
          </a:solidFill>
          <a:ln w="12700">
            <a:solidFill>
              <a:srgbClr val="EF476F"/>
            </a:solidFill>
            <a:prstDash val="solid"/>
          </a:ln>
        </p:spPr>
        <p:txBody>
          <a:bodyPr/>
          <a:lstStyle/>
          <a:p>
            <a:endParaRPr lang="ar-SA"/>
          </a:p>
        </p:txBody>
      </p:sp>
      <p:sp>
        <p:nvSpPr>
          <p:cNvPr id="12" name="Text 10"/>
          <p:cNvSpPr/>
          <p:nvPr/>
        </p:nvSpPr>
        <p:spPr>
          <a:xfrm>
            <a:off x="5786323" y="1444752"/>
            <a:ext cx="457200" cy="274320"/>
          </a:xfrm>
          <a:prstGeom prst="rect">
            <a:avLst/>
          </a:prstGeom>
          <a:noFill/>
          <a:ln/>
        </p:spPr>
        <p:txBody>
          <a:bodyPr wrap="square" lIns="0" tIns="0" rIns="0" bIns="0" rtlCol="0" anchor="ctr"/>
          <a:lstStyle/>
          <a:p>
            <a:pPr marL="0" indent="0" algn="l">
              <a:buNone/>
            </a:pPr>
            <a:r>
              <a:rPr lang="en-US" sz="1100" b="1" dirty="0">
                <a:solidFill>
                  <a:srgbClr val="EF476F"/>
                </a:solidFill>
                <a:latin typeface="Arial" pitchFamily="34" charset="0"/>
                <a:ea typeface="Arial" pitchFamily="34" charset="-122"/>
                <a:cs typeface="Arial" pitchFamily="34" charset="-120"/>
              </a:rPr>
              <a:t>88%</a:t>
            </a:r>
            <a:endParaRPr lang="en-US" sz="1100" dirty="0"/>
          </a:p>
        </p:txBody>
      </p:sp>
      <p:sp>
        <p:nvSpPr>
          <p:cNvPr id="13" name="Text 11"/>
          <p:cNvSpPr/>
          <p:nvPr/>
        </p:nvSpPr>
        <p:spPr>
          <a:xfrm>
            <a:off x="521208" y="1956816"/>
            <a:ext cx="1463040" cy="274320"/>
          </a:xfrm>
          <a:prstGeom prst="rect">
            <a:avLst/>
          </a:prstGeom>
          <a:noFill/>
          <a:ln/>
        </p:spPr>
        <p:txBody>
          <a:bodyPr wrap="square" lIns="0" tIns="0" rIns="0" bIns="0" rtlCol="0" anchor="ctr"/>
          <a:lstStyle/>
          <a:p>
            <a:pPr marL="0" indent="0" algn="l">
              <a:buNone/>
            </a:pPr>
            <a:r>
              <a:rPr lang="en-US" sz="1100" dirty="0">
                <a:solidFill>
                  <a:srgbClr val="90B4CE"/>
                </a:solidFill>
                <a:latin typeface="Arial" pitchFamily="34" charset="0"/>
                <a:ea typeface="Arial" pitchFamily="34" charset="-122"/>
                <a:cs typeface="Arial" pitchFamily="34" charset="-120"/>
              </a:rPr>
              <a:t>AI / ML Tools</a:t>
            </a:r>
            <a:endParaRPr lang="en-US" sz="1100" dirty="0"/>
          </a:p>
        </p:txBody>
      </p:sp>
      <p:sp>
        <p:nvSpPr>
          <p:cNvPr id="14" name="Shape 12"/>
          <p:cNvSpPr/>
          <p:nvPr/>
        </p:nvSpPr>
        <p:spPr>
          <a:xfrm>
            <a:off x="2029968" y="1993392"/>
            <a:ext cx="4206240" cy="201168"/>
          </a:xfrm>
          <a:prstGeom prst="rect">
            <a:avLst/>
          </a:prstGeom>
          <a:solidFill>
            <a:srgbClr val="1A3055"/>
          </a:solidFill>
          <a:ln w="12700">
            <a:solidFill>
              <a:srgbClr val="1A3055"/>
            </a:solidFill>
            <a:prstDash val="solid"/>
          </a:ln>
        </p:spPr>
        <p:txBody>
          <a:bodyPr/>
          <a:lstStyle/>
          <a:p>
            <a:endParaRPr lang="ar-SA"/>
          </a:p>
        </p:txBody>
      </p:sp>
      <p:sp>
        <p:nvSpPr>
          <p:cNvPr id="15" name="Shape 13"/>
          <p:cNvSpPr/>
          <p:nvPr/>
        </p:nvSpPr>
        <p:spPr>
          <a:xfrm>
            <a:off x="2029968" y="1993392"/>
            <a:ext cx="3449117" cy="201168"/>
          </a:xfrm>
          <a:prstGeom prst="rect">
            <a:avLst/>
          </a:prstGeom>
          <a:solidFill>
            <a:srgbClr val="F5A623"/>
          </a:solidFill>
          <a:ln w="12700">
            <a:solidFill>
              <a:srgbClr val="F5A623"/>
            </a:solidFill>
            <a:prstDash val="solid"/>
          </a:ln>
        </p:spPr>
        <p:txBody>
          <a:bodyPr/>
          <a:lstStyle/>
          <a:p>
            <a:endParaRPr lang="ar-SA"/>
          </a:p>
        </p:txBody>
      </p:sp>
      <p:sp>
        <p:nvSpPr>
          <p:cNvPr id="16" name="Text 14"/>
          <p:cNvSpPr/>
          <p:nvPr/>
        </p:nvSpPr>
        <p:spPr>
          <a:xfrm>
            <a:off x="5533949" y="1956816"/>
            <a:ext cx="457200"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Arial" pitchFamily="34" charset="0"/>
                <a:ea typeface="Arial" pitchFamily="34" charset="-122"/>
                <a:cs typeface="Arial" pitchFamily="34" charset="-120"/>
              </a:rPr>
              <a:t>82%</a:t>
            </a:r>
            <a:endParaRPr lang="en-US" sz="1100" dirty="0"/>
          </a:p>
        </p:txBody>
      </p:sp>
      <p:sp>
        <p:nvSpPr>
          <p:cNvPr id="17" name="Text 15"/>
          <p:cNvSpPr/>
          <p:nvPr/>
        </p:nvSpPr>
        <p:spPr>
          <a:xfrm>
            <a:off x="521208" y="2468880"/>
            <a:ext cx="1463040" cy="274320"/>
          </a:xfrm>
          <a:prstGeom prst="rect">
            <a:avLst/>
          </a:prstGeom>
          <a:noFill/>
          <a:ln/>
        </p:spPr>
        <p:txBody>
          <a:bodyPr wrap="square" lIns="0" tIns="0" rIns="0" bIns="0" rtlCol="0" anchor="ctr"/>
          <a:lstStyle/>
          <a:p>
            <a:pPr marL="0" indent="0" algn="l">
              <a:buNone/>
            </a:pPr>
            <a:r>
              <a:rPr lang="en-US" sz="1100" dirty="0">
                <a:solidFill>
                  <a:srgbClr val="90B4CE"/>
                </a:solidFill>
                <a:latin typeface="Arial" pitchFamily="34" charset="0"/>
                <a:ea typeface="Arial" pitchFamily="34" charset="-122"/>
                <a:cs typeface="Arial" pitchFamily="34" charset="-120"/>
              </a:rPr>
              <a:t>DevOps</a:t>
            </a:r>
            <a:endParaRPr lang="en-US" sz="1100" dirty="0"/>
          </a:p>
        </p:txBody>
      </p:sp>
      <p:sp>
        <p:nvSpPr>
          <p:cNvPr id="18" name="Shape 16"/>
          <p:cNvSpPr/>
          <p:nvPr/>
        </p:nvSpPr>
        <p:spPr>
          <a:xfrm>
            <a:off x="2029968" y="2505456"/>
            <a:ext cx="4206240" cy="201168"/>
          </a:xfrm>
          <a:prstGeom prst="rect">
            <a:avLst/>
          </a:prstGeom>
          <a:solidFill>
            <a:srgbClr val="1A3055"/>
          </a:solidFill>
          <a:ln w="12700">
            <a:solidFill>
              <a:srgbClr val="1A3055"/>
            </a:solidFill>
            <a:prstDash val="solid"/>
          </a:ln>
        </p:spPr>
        <p:txBody>
          <a:bodyPr/>
          <a:lstStyle/>
          <a:p>
            <a:endParaRPr lang="ar-SA"/>
          </a:p>
        </p:txBody>
      </p:sp>
      <p:sp>
        <p:nvSpPr>
          <p:cNvPr id="19" name="Shape 17"/>
          <p:cNvSpPr/>
          <p:nvPr/>
        </p:nvSpPr>
        <p:spPr>
          <a:xfrm>
            <a:off x="2029968" y="2505456"/>
            <a:ext cx="3154680" cy="201168"/>
          </a:xfrm>
          <a:prstGeom prst="rect">
            <a:avLst/>
          </a:prstGeom>
          <a:solidFill>
            <a:srgbClr val="00B4D8"/>
          </a:solidFill>
          <a:ln w="12700">
            <a:solidFill>
              <a:srgbClr val="00B4D8"/>
            </a:solidFill>
            <a:prstDash val="solid"/>
          </a:ln>
        </p:spPr>
        <p:txBody>
          <a:bodyPr/>
          <a:lstStyle/>
          <a:p>
            <a:endParaRPr lang="ar-SA"/>
          </a:p>
        </p:txBody>
      </p:sp>
      <p:sp>
        <p:nvSpPr>
          <p:cNvPr id="20" name="Text 18"/>
          <p:cNvSpPr/>
          <p:nvPr/>
        </p:nvSpPr>
        <p:spPr>
          <a:xfrm>
            <a:off x="5239512" y="2468880"/>
            <a:ext cx="457200" cy="274320"/>
          </a:xfrm>
          <a:prstGeom prst="rect">
            <a:avLst/>
          </a:prstGeom>
          <a:noFill/>
          <a:ln/>
        </p:spPr>
        <p:txBody>
          <a:bodyPr wrap="square" lIns="0" tIns="0" rIns="0" bIns="0" rtlCol="0" anchor="ctr"/>
          <a:lstStyle/>
          <a:p>
            <a:pPr marL="0" indent="0" algn="l">
              <a:buNone/>
            </a:pPr>
            <a:r>
              <a:rPr lang="en-US" sz="1100" b="1" dirty="0">
                <a:solidFill>
                  <a:srgbClr val="00B4D8"/>
                </a:solidFill>
                <a:latin typeface="Arial" pitchFamily="34" charset="0"/>
                <a:ea typeface="Arial" pitchFamily="34" charset="-122"/>
                <a:cs typeface="Arial" pitchFamily="34" charset="-120"/>
              </a:rPr>
              <a:t>75%</a:t>
            </a:r>
            <a:endParaRPr lang="en-US" sz="1100" dirty="0"/>
          </a:p>
        </p:txBody>
      </p:sp>
      <p:sp>
        <p:nvSpPr>
          <p:cNvPr id="21" name="Text 19"/>
          <p:cNvSpPr/>
          <p:nvPr/>
        </p:nvSpPr>
        <p:spPr>
          <a:xfrm>
            <a:off x="521208" y="2980944"/>
            <a:ext cx="1463040" cy="274320"/>
          </a:xfrm>
          <a:prstGeom prst="rect">
            <a:avLst/>
          </a:prstGeom>
          <a:noFill/>
          <a:ln/>
        </p:spPr>
        <p:txBody>
          <a:bodyPr wrap="square" lIns="0" tIns="0" rIns="0" bIns="0" rtlCol="0" anchor="ctr"/>
          <a:lstStyle/>
          <a:p>
            <a:pPr marL="0" indent="0" algn="l">
              <a:buNone/>
            </a:pPr>
            <a:r>
              <a:rPr lang="en-US" sz="1100" dirty="0">
                <a:solidFill>
                  <a:srgbClr val="90B4CE"/>
                </a:solidFill>
                <a:latin typeface="Arial" pitchFamily="34" charset="0"/>
                <a:ea typeface="Arial" pitchFamily="34" charset="-122"/>
                <a:cs typeface="Arial" pitchFamily="34" charset="-120"/>
              </a:rPr>
              <a:t>Cybersecurity</a:t>
            </a:r>
            <a:endParaRPr lang="en-US" sz="1100" dirty="0"/>
          </a:p>
        </p:txBody>
      </p:sp>
      <p:sp>
        <p:nvSpPr>
          <p:cNvPr id="22" name="Shape 20"/>
          <p:cNvSpPr/>
          <p:nvPr/>
        </p:nvSpPr>
        <p:spPr>
          <a:xfrm>
            <a:off x="2029968" y="3017520"/>
            <a:ext cx="4206240" cy="201168"/>
          </a:xfrm>
          <a:prstGeom prst="rect">
            <a:avLst/>
          </a:prstGeom>
          <a:solidFill>
            <a:srgbClr val="1A3055"/>
          </a:solidFill>
          <a:ln w="12700">
            <a:solidFill>
              <a:srgbClr val="1A3055"/>
            </a:solidFill>
            <a:prstDash val="solid"/>
          </a:ln>
        </p:spPr>
        <p:txBody>
          <a:bodyPr/>
          <a:lstStyle/>
          <a:p>
            <a:endParaRPr lang="ar-SA"/>
          </a:p>
        </p:txBody>
      </p:sp>
      <p:sp>
        <p:nvSpPr>
          <p:cNvPr id="23" name="Shape 21"/>
          <p:cNvSpPr/>
          <p:nvPr/>
        </p:nvSpPr>
        <p:spPr>
          <a:xfrm>
            <a:off x="2029968" y="3017520"/>
            <a:ext cx="2860243" cy="201168"/>
          </a:xfrm>
          <a:prstGeom prst="rect">
            <a:avLst/>
          </a:prstGeom>
          <a:solidFill>
            <a:srgbClr val="AA88FF"/>
          </a:solidFill>
          <a:ln w="12700">
            <a:solidFill>
              <a:srgbClr val="AA88FF"/>
            </a:solidFill>
            <a:prstDash val="solid"/>
          </a:ln>
        </p:spPr>
        <p:txBody>
          <a:bodyPr/>
          <a:lstStyle/>
          <a:p>
            <a:endParaRPr lang="ar-SA"/>
          </a:p>
        </p:txBody>
      </p:sp>
      <p:sp>
        <p:nvSpPr>
          <p:cNvPr id="24" name="Text 22"/>
          <p:cNvSpPr/>
          <p:nvPr/>
        </p:nvSpPr>
        <p:spPr>
          <a:xfrm>
            <a:off x="4945075" y="2980944"/>
            <a:ext cx="457200" cy="274320"/>
          </a:xfrm>
          <a:prstGeom prst="rect">
            <a:avLst/>
          </a:prstGeom>
          <a:noFill/>
          <a:ln/>
        </p:spPr>
        <p:txBody>
          <a:bodyPr wrap="square" lIns="0" tIns="0" rIns="0" bIns="0" rtlCol="0" anchor="ctr"/>
          <a:lstStyle/>
          <a:p>
            <a:pPr marL="0" indent="0" algn="l">
              <a:buNone/>
            </a:pPr>
            <a:r>
              <a:rPr lang="en-US" sz="1100" b="1" dirty="0">
                <a:solidFill>
                  <a:srgbClr val="AA88FF"/>
                </a:solidFill>
                <a:latin typeface="Arial" pitchFamily="34" charset="0"/>
                <a:ea typeface="Arial" pitchFamily="34" charset="-122"/>
                <a:cs typeface="Arial" pitchFamily="34" charset="-120"/>
              </a:rPr>
              <a:t>68%</a:t>
            </a:r>
            <a:endParaRPr lang="en-US" sz="1100" dirty="0"/>
          </a:p>
        </p:txBody>
      </p:sp>
      <p:sp>
        <p:nvSpPr>
          <p:cNvPr id="25" name="Text 23"/>
          <p:cNvSpPr/>
          <p:nvPr/>
        </p:nvSpPr>
        <p:spPr>
          <a:xfrm>
            <a:off x="521208" y="3493008"/>
            <a:ext cx="1463040" cy="274320"/>
          </a:xfrm>
          <a:prstGeom prst="rect">
            <a:avLst/>
          </a:prstGeom>
          <a:noFill/>
          <a:ln/>
        </p:spPr>
        <p:txBody>
          <a:bodyPr wrap="square" lIns="0" tIns="0" rIns="0" bIns="0" rtlCol="0" anchor="ctr"/>
          <a:lstStyle/>
          <a:p>
            <a:pPr marL="0" indent="0" algn="l">
              <a:buNone/>
            </a:pPr>
            <a:r>
              <a:rPr lang="en-US" sz="1100" dirty="0">
                <a:solidFill>
                  <a:srgbClr val="90B4CE"/>
                </a:solidFill>
                <a:latin typeface="Arial" pitchFamily="34" charset="0"/>
                <a:ea typeface="Arial" pitchFamily="34" charset="-122"/>
                <a:cs typeface="Arial" pitchFamily="34" charset="-120"/>
              </a:rPr>
              <a:t>Data Science</a:t>
            </a:r>
            <a:endParaRPr lang="en-US" sz="1100" dirty="0"/>
          </a:p>
        </p:txBody>
      </p:sp>
      <p:sp>
        <p:nvSpPr>
          <p:cNvPr id="26" name="Shape 24"/>
          <p:cNvSpPr/>
          <p:nvPr/>
        </p:nvSpPr>
        <p:spPr>
          <a:xfrm>
            <a:off x="2029968" y="3529584"/>
            <a:ext cx="4206240" cy="201168"/>
          </a:xfrm>
          <a:prstGeom prst="rect">
            <a:avLst/>
          </a:prstGeom>
          <a:solidFill>
            <a:srgbClr val="1A3055"/>
          </a:solidFill>
          <a:ln w="12700">
            <a:solidFill>
              <a:srgbClr val="1A3055"/>
            </a:solidFill>
            <a:prstDash val="solid"/>
          </a:ln>
        </p:spPr>
        <p:txBody>
          <a:bodyPr/>
          <a:lstStyle/>
          <a:p>
            <a:endParaRPr lang="ar-SA"/>
          </a:p>
        </p:txBody>
      </p:sp>
      <p:sp>
        <p:nvSpPr>
          <p:cNvPr id="27" name="Shape 25"/>
          <p:cNvSpPr/>
          <p:nvPr/>
        </p:nvSpPr>
        <p:spPr>
          <a:xfrm>
            <a:off x="2029968" y="3529584"/>
            <a:ext cx="2523744" cy="201168"/>
          </a:xfrm>
          <a:prstGeom prst="rect">
            <a:avLst/>
          </a:prstGeom>
          <a:solidFill>
            <a:srgbClr val="06D6A0"/>
          </a:solidFill>
          <a:ln w="12700">
            <a:solidFill>
              <a:srgbClr val="06D6A0"/>
            </a:solidFill>
            <a:prstDash val="solid"/>
          </a:ln>
        </p:spPr>
        <p:txBody>
          <a:bodyPr/>
          <a:lstStyle/>
          <a:p>
            <a:endParaRPr lang="ar-SA"/>
          </a:p>
        </p:txBody>
      </p:sp>
      <p:sp>
        <p:nvSpPr>
          <p:cNvPr id="28" name="Text 26"/>
          <p:cNvSpPr/>
          <p:nvPr/>
        </p:nvSpPr>
        <p:spPr>
          <a:xfrm>
            <a:off x="4608576" y="3493008"/>
            <a:ext cx="457200" cy="274320"/>
          </a:xfrm>
          <a:prstGeom prst="rect">
            <a:avLst/>
          </a:prstGeom>
          <a:noFill/>
          <a:ln/>
        </p:spPr>
        <p:txBody>
          <a:bodyPr wrap="square" lIns="0" tIns="0" rIns="0" bIns="0" rtlCol="0" anchor="ctr"/>
          <a:lstStyle/>
          <a:p>
            <a:pPr marL="0" indent="0" algn="l">
              <a:buNone/>
            </a:pPr>
            <a:r>
              <a:rPr lang="en-US" sz="1100" b="1" dirty="0">
                <a:solidFill>
                  <a:srgbClr val="06D6A0"/>
                </a:solidFill>
                <a:latin typeface="Arial" pitchFamily="34" charset="0"/>
                <a:ea typeface="Arial" pitchFamily="34" charset="-122"/>
                <a:cs typeface="Arial" pitchFamily="34" charset="-120"/>
              </a:rPr>
              <a:t>60%</a:t>
            </a:r>
            <a:endParaRPr lang="en-US" sz="1100" dirty="0"/>
          </a:p>
        </p:txBody>
      </p:sp>
      <p:sp>
        <p:nvSpPr>
          <p:cNvPr id="29" name="Shape 27"/>
          <p:cNvSpPr/>
          <p:nvPr/>
        </p:nvSpPr>
        <p:spPr>
          <a:xfrm>
            <a:off x="521208" y="4041648"/>
            <a:ext cx="1417320" cy="640080"/>
          </a:xfrm>
          <a:prstGeom prst="rect">
            <a:avLst/>
          </a:prstGeom>
          <a:solidFill>
            <a:srgbClr val="112240"/>
          </a:solidFill>
          <a:ln w="12700">
            <a:solidFill>
              <a:srgbClr val="00B4D8"/>
            </a:solidFill>
            <a:prstDash val="solid"/>
          </a:ln>
        </p:spPr>
        <p:txBody>
          <a:bodyPr/>
          <a:lstStyle/>
          <a:p>
            <a:endParaRPr lang="ar-SA"/>
          </a:p>
        </p:txBody>
      </p:sp>
      <p:sp>
        <p:nvSpPr>
          <p:cNvPr id="30" name="Text 28"/>
          <p:cNvSpPr/>
          <p:nvPr/>
        </p:nvSpPr>
        <p:spPr>
          <a:xfrm>
            <a:off x="521208" y="4069080"/>
            <a:ext cx="1417320" cy="347472"/>
          </a:xfrm>
          <a:prstGeom prst="rect">
            <a:avLst/>
          </a:prstGeom>
          <a:noFill/>
          <a:ln/>
        </p:spPr>
        <p:txBody>
          <a:bodyPr wrap="square" lIns="0" tIns="0" rIns="0" bIns="0" rtlCol="0" anchor="ctr"/>
          <a:lstStyle/>
          <a:p>
            <a:pPr marL="0" indent="0" algn="ctr">
              <a:buNone/>
            </a:pPr>
            <a:r>
              <a:rPr lang="en-US" sz="2400" b="1" dirty="0">
                <a:solidFill>
                  <a:srgbClr val="00B4D8"/>
                </a:solidFill>
                <a:latin typeface="Arial" pitchFamily="34" charset="0"/>
                <a:ea typeface="Arial" pitchFamily="34" charset="-122"/>
                <a:cs typeface="Arial" pitchFamily="34" charset="-120"/>
              </a:rPr>
              <a:t>53</a:t>
            </a:r>
            <a:endParaRPr lang="en-US" sz="2400" dirty="0"/>
          </a:p>
        </p:txBody>
      </p:sp>
      <p:sp>
        <p:nvSpPr>
          <p:cNvPr id="31" name="Text 29"/>
          <p:cNvSpPr/>
          <p:nvPr/>
        </p:nvSpPr>
        <p:spPr>
          <a:xfrm>
            <a:off x="521208" y="4425696"/>
            <a:ext cx="1417320" cy="228600"/>
          </a:xfrm>
          <a:prstGeom prst="rect">
            <a:avLst/>
          </a:prstGeom>
          <a:noFill/>
          <a:ln/>
        </p:spPr>
        <p:txBody>
          <a:bodyPr wrap="square" lIns="0" tIns="0" rIns="0" bIns="0" rtlCol="0" anchor="ctr"/>
          <a:lstStyle/>
          <a:p>
            <a:pPr marL="0" indent="0" algn="ctr" rtl="1">
              <a:buNone/>
            </a:pPr>
            <a:r>
              <a:rPr lang="en-US" sz="1100" dirty="0">
                <a:solidFill>
                  <a:srgbClr val="90B4CE"/>
                </a:solidFill>
                <a:latin typeface="Arial" pitchFamily="34" charset="0"/>
                <a:ea typeface="Arial" pitchFamily="34" charset="-122"/>
                <a:cs typeface="Arial" pitchFamily="34" charset="-120"/>
              </a:rPr>
              <a:t>خبيراً محاكياً</a:t>
            </a:r>
            <a:endParaRPr lang="en-US" sz="1100" dirty="0"/>
          </a:p>
        </p:txBody>
      </p:sp>
      <p:sp>
        <p:nvSpPr>
          <p:cNvPr id="32" name="Shape 30"/>
          <p:cNvSpPr/>
          <p:nvPr/>
        </p:nvSpPr>
        <p:spPr>
          <a:xfrm>
            <a:off x="2121408" y="4041648"/>
            <a:ext cx="1417320" cy="640080"/>
          </a:xfrm>
          <a:prstGeom prst="rect">
            <a:avLst/>
          </a:prstGeom>
          <a:solidFill>
            <a:srgbClr val="112240"/>
          </a:solidFill>
          <a:ln w="12700">
            <a:solidFill>
              <a:srgbClr val="00B4D8"/>
            </a:solidFill>
            <a:prstDash val="solid"/>
          </a:ln>
        </p:spPr>
        <p:txBody>
          <a:bodyPr/>
          <a:lstStyle/>
          <a:p>
            <a:endParaRPr lang="ar-SA"/>
          </a:p>
        </p:txBody>
      </p:sp>
      <p:sp>
        <p:nvSpPr>
          <p:cNvPr id="33" name="Text 31"/>
          <p:cNvSpPr/>
          <p:nvPr/>
        </p:nvSpPr>
        <p:spPr>
          <a:xfrm>
            <a:off x="2121408" y="4069080"/>
            <a:ext cx="1417320" cy="347472"/>
          </a:xfrm>
          <a:prstGeom prst="rect">
            <a:avLst/>
          </a:prstGeom>
          <a:noFill/>
          <a:ln/>
        </p:spPr>
        <p:txBody>
          <a:bodyPr wrap="square" lIns="0" tIns="0" rIns="0" bIns="0" rtlCol="0" anchor="ctr"/>
          <a:lstStyle/>
          <a:p>
            <a:pPr marL="0" indent="0" algn="ctr">
              <a:buNone/>
            </a:pPr>
            <a:r>
              <a:rPr lang="en-US" sz="2400" b="1" dirty="0">
                <a:solidFill>
                  <a:srgbClr val="00B4D8"/>
                </a:solidFill>
                <a:latin typeface="Arial" pitchFamily="34" charset="0"/>
                <a:ea typeface="Arial" pitchFamily="34" charset="-122"/>
                <a:cs typeface="Arial" pitchFamily="34" charset="-120"/>
              </a:rPr>
              <a:t>386+</a:t>
            </a:r>
            <a:endParaRPr lang="en-US" sz="2400" dirty="0"/>
          </a:p>
        </p:txBody>
      </p:sp>
      <p:sp>
        <p:nvSpPr>
          <p:cNvPr id="34" name="Text 32"/>
          <p:cNvSpPr/>
          <p:nvPr/>
        </p:nvSpPr>
        <p:spPr>
          <a:xfrm>
            <a:off x="2121408" y="4425696"/>
            <a:ext cx="1417320" cy="228600"/>
          </a:xfrm>
          <a:prstGeom prst="rect">
            <a:avLst/>
          </a:prstGeom>
          <a:noFill/>
          <a:ln/>
        </p:spPr>
        <p:txBody>
          <a:bodyPr wrap="square" lIns="0" tIns="0" rIns="0" bIns="0" rtlCol="0" anchor="ctr"/>
          <a:lstStyle/>
          <a:p>
            <a:pPr marL="0" indent="0" algn="ctr" rtl="1">
              <a:buNone/>
            </a:pPr>
            <a:r>
              <a:rPr lang="en-US" sz="1100" dirty="0">
                <a:solidFill>
                  <a:srgbClr val="90B4CE"/>
                </a:solidFill>
                <a:latin typeface="Arial" pitchFamily="34" charset="0"/>
                <a:ea typeface="Arial" pitchFamily="34" charset="-122"/>
                <a:cs typeface="Arial" pitchFamily="34" charset="-120"/>
              </a:rPr>
              <a:t>إثراء ديناميكي</a:t>
            </a:r>
            <a:endParaRPr lang="en-US" sz="1100" dirty="0"/>
          </a:p>
        </p:txBody>
      </p:sp>
      <p:sp>
        <p:nvSpPr>
          <p:cNvPr id="35" name="Shape 33"/>
          <p:cNvSpPr/>
          <p:nvPr/>
        </p:nvSpPr>
        <p:spPr>
          <a:xfrm>
            <a:off x="3721608" y="4041648"/>
            <a:ext cx="1417320" cy="640080"/>
          </a:xfrm>
          <a:prstGeom prst="rect">
            <a:avLst/>
          </a:prstGeom>
          <a:solidFill>
            <a:srgbClr val="112240"/>
          </a:solidFill>
          <a:ln w="12700">
            <a:solidFill>
              <a:srgbClr val="00B4D8"/>
            </a:solidFill>
            <a:prstDash val="solid"/>
          </a:ln>
        </p:spPr>
        <p:txBody>
          <a:bodyPr/>
          <a:lstStyle/>
          <a:p>
            <a:endParaRPr lang="ar-SA"/>
          </a:p>
        </p:txBody>
      </p:sp>
      <p:sp>
        <p:nvSpPr>
          <p:cNvPr id="36" name="Text 34"/>
          <p:cNvSpPr/>
          <p:nvPr/>
        </p:nvSpPr>
        <p:spPr>
          <a:xfrm>
            <a:off x="3721608" y="4069080"/>
            <a:ext cx="1417320" cy="347472"/>
          </a:xfrm>
          <a:prstGeom prst="rect">
            <a:avLst/>
          </a:prstGeom>
          <a:noFill/>
          <a:ln/>
        </p:spPr>
        <p:txBody>
          <a:bodyPr wrap="square" lIns="0" tIns="0" rIns="0" bIns="0" rtlCol="0" anchor="ctr"/>
          <a:lstStyle/>
          <a:p>
            <a:pPr marL="0" indent="0" algn="ctr">
              <a:buNone/>
            </a:pPr>
            <a:r>
              <a:rPr lang="en-US" sz="2400" b="1" dirty="0">
                <a:solidFill>
                  <a:srgbClr val="00B4D8"/>
                </a:solidFill>
                <a:latin typeface="Arial" pitchFamily="34" charset="0"/>
                <a:ea typeface="Arial" pitchFamily="34" charset="-122"/>
                <a:cs typeface="Arial" pitchFamily="34" charset="-120"/>
              </a:rPr>
              <a:t>12</a:t>
            </a:r>
            <a:endParaRPr lang="en-US" sz="2400" dirty="0"/>
          </a:p>
        </p:txBody>
      </p:sp>
      <p:sp>
        <p:nvSpPr>
          <p:cNvPr id="37" name="Text 35"/>
          <p:cNvSpPr/>
          <p:nvPr/>
        </p:nvSpPr>
        <p:spPr>
          <a:xfrm>
            <a:off x="3721608" y="4425696"/>
            <a:ext cx="1417320" cy="228600"/>
          </a:xfrm>
          <a:prstGeom prst="rect">
            <a:avLst/>
          </a:prstGeom>
          <a:noFill/>
          <a:ln/>
        </p:spPr>
        <p:txBody>
          <a:bodyPr wrap="square" lIns="0" tIns="0" rIns="0" bIns="0" rtlCol="0" anchor="ctr"/>
          <a:lstStyle/>
          <a:p>
            <a:pPr marL="0" indent="0" algn="ctr" rtl="1">
              <a:buNone/>
            </a:pPr>
            <a:r>
              <a:rPr lang="en-US" sz="1100" dirty="0">
                <a:solidFill>
                  <a:srgbClr val="90B4CE"/>
                </a:solidFill>
                <a:latin typeface="Arial" pitchFamily="34" charset="0"/>
                <a:ea typeface="Arial" pitchFamily="34" charset="-122"/>
                <a:cs typeface="Arial" pitchFamily="34" charset="-120"/>
              </a:rPr>
              <a:t>مقرراً مُثرى</a:t>
            </a:r>
            <a:endParaRPr lang="en-US" sz="1100" dirty="0"/>
          </a:p>
        </p:txBody>
      </p:sp>
      <p:sp>
        <p:nvSpPr>
          <p:cNvPr id="38" name="Shape 36"/>
          <p:cNvSpPr/>
          <p:nvPr/>
        </p:nvSpPr>
        <p:spPr>
          <a:xfrm>
            <a:off x="5349240" y="566928"/>
            <a:ext cx="3429000" cy="4206240"/>
          </a:xfrm>
          <a:prstGeom prst="rect">
            <a:avLst/>
          </a:prstGeom>
          <a:solidFill>
            <a:srgbClr val="F0F6FA"/>
          </a:solidFill>
          <a:ln w="12700">
            <a:solidFill>
              <a:srgbClr val="D8E8F0"/>
            </a:solidFill>
            <a:prstDash val="solid"/>
          </a:ln>
        </p:spPr>
        <p:txBody>
          <a:bodyPr/>
          <a:lstStyle/>
          <a:p>
            <a:endParaRPr lang="ar-SA"/>
          </a:p>
        </p:txBody>
      </p:sp>
      <p:sp>
        <p:nvSpPr>
          <p:cNvPr id="39" name="Shape 37"/>
          <p:cNvSpPr/>
          <p:nvPr/>
        </p:nvSpPr>
        <p:spPr>
          <a:xfrm>
            <a:off x="5349240" y="566928"/>
            <a:ext cx="3429000" cy="73152"/>
          </a:xfrm>
          <a:prstGeom prst="rect">
            <a:avLst/>
          </a:prstGeom>
          <a:solidFill>
            <a:srgbClr val="0A192F"/>
          </a:solidFill>
          <a:ln w="12700">
            <a:solidFill>
              <a:srgbClr val="0A192F"/>
            </a:solidFill>
            <a:prstDash val="solid"/>
          </a:ln>
        </p:spPr>
        <p:txBody>
          <a:bodyPr/>
          <a:lstStyle/>
          <a:p>
            <a:endParaRPr lang="ar-SA"/>
          </a:p>
        </p:txBody>
      </p:sp>
      <p:sp>
        <p:nvSpPr>
          <p:cNvPr id="40" name="Text 38"/>
          <p:cNvSpPr/>
          <p:nvPr/>
        </p:nvSpPr>
        <p:spPr>
          <a:xfrm>
            <a:off x="5486400" y="749808"/>
            <a:ext cx="3200400" cy="384048"/>
          </a:xfrm>
          <a:prstGeom prst="rect">
            <a:avLst/>
          </a:prstGeom>
          <a:noFill/>
          <a:ln/>
        </p:spPr>
        <p:txBody>
          <a:bodyPr wrap="square" lIns="0" tIns="0" rIns="0" bIns="0" rtlCol="0" anchor="ctr"/>
          <a:lstStyle/>
          <a:p>
            <a:pPr marL="0" indent="0" algn="r" rtl="1">
              <a:buNone/>
            </a:pPr>
            <a:r>
              <a:rPr lang="en-US" sz="1800" b="1" dirty="0">
                <a:solidFill>
                  <a:srgbClr val="0A192F"/>
                </a:solidFill>
                <a:latin typeface="Arial" pitchFamily="34" charset="0"/>
                <a:ea typeface="Arial" pitchFamily="34" charset="-122"/>
                <a:cs typeface="Arial" pitchFamily="34" charset="-120"/>
              </a:rPr>
              <a:t>ماذا يحصل العميد؟</a:t>
            </a:r>
            <a:endParaRPr lang="en-US" sz="1800" dirty="0"/>
          </a:p>
        </p:txBody>
      </p:sp>
      <p:sp>
        <p:nvSpPr>
          <p:cNvPr id="41" name="Shape 39"/>
          <p:cNvSpPr/>
          <p:nvPr/>
        </p:nvSpPr>
        <p:spPr>
          <a:xfrm>
            <a:off x="5486400" y="1261872"/>
            <a:ext cx="3154680" cy="530352"/>
          </a:xfrm>
          <a:prstGeom prst="rect">
            <a:avLst/>
          </a:prstGeom>
          <a:solidFill>
            <a:srgbClr val="FFFFFF"/>
          </a:solidFill>
          <a:ln w="12700">
            <a:solidFill>
              <a:srgbClr val="C8D8E8"/>
            </a:solidFill>
            <a:prstDash val="solid"/>
          </a:ln>
          <a:effectLst>
            <a:outerShdw blurRad="177800" dist="25400" dir="8100000" algn="bl" rotWithShape="0">
              <a:srgbClr val="000000">
                <a:alpha val="10000"/>
              </a:srgbClr>
            </a:outerShdw>
          </a:effectLst>
        </p:spPr>
        <p:txBody>
          <a:bodyPr/>
          <a:lstStyle/>
          <a:p>
            <a:endParaRPr lang="ar-SA"/>
          </a:p>
        </p:txBody>
      </p:sp>
      <p:sp>
        <p:nvSpPr>
          <p:cNvPr id="42" name="Text 40"/>
          <p:cNvSpPr/>
          <p:nvPr/>
        </p:nvSpPr>
        <p:spPr>
          <a:xfrm>
            <a:off x="8339328" y="1298448"/>
            <a:ext cx="27432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3" name="Text 41"/>
          <p:cNvSpPr/>
          <p:nvPr/>
        </p:nvSpPr>
        <p:spPr>
          <a:xfrm>
            <a:off x="5532120" y="1280160"/>
            <a:ext cx="2743200" cy="512064"/>
          </a:xfrm>
          <a:prstGeom prst="rect">
            <a:avLst/>
          </a:prstGeom>
          <a:noFill/>
          <a:ln/>
        </p:spPr>
        <p:txBody>
          <a:bodyPr wrap="square" lIns="0" tIns="0" rIns="0" bIns="0" rtlCol="0" anchor="ctr"/>
          <a:lstStyle/>
          <a:p>
            <a:pPr marL="0" indent="0" algn="r" rtl="1">
              <a:buNone/>
            </a:pPr>
            <a:r>
              <a:rPr lang="en-US" sz="1200" dirty="0">
                <a:solidFill>
                  <a:srgbClr val="334455"/>
                </a:solidFill>
                <a:latin typeface="Arial" pitchFamily="34" charset="0"/>
                <a:ea typeface="Arial" pitchFamily="34" charset="-122"/>
                <a:cs typeface="Arial" pitchFamily="34" charset="-120"/>
              </a:rPr>
              <a:t>بيانات حقيقية عن الفجوة بين مقرراته ومتطلبات السوق</a:t>
            </a:r>
            <a:endParaRPr lang="en-US" sz="1200" dirty="0"/>
          </a:p>
        </p:txBody>
      </p:sp>
      <p:sp>
        <p:nvSpPr>
          <p:cNvPr id="44" name="Shape 42"/>
          <p:cNvSpPr/>
          <p:nvPr/>
        </p:nvSpPr>
        <p:spPr>
          <a:xfrm>
            <a:off x="5486400" y="1883664"/>
            <a:ext cx="3154680" cy="530352"/>
          </a:xfrm>
          <a:prstGeom prst="rect">
            <a:avLst/>
          </a:prstGeom>
          <a:solidFill>
            <a:srgbClr val="FFFFFF"/>
          </a:solidFill>
          <a:ln w="12700">
            <a:solidFill>
              <a:srgbClr val="C8D8E8"/>
            </a:solidFill>
            <a:prstDash val="solid"/>
          </a:ln>
          <a:effectLst>
            <a:outerShdw blurRad="177800" dist="25400" dir="8100000" algn="bl" rotWithShape="0">
              <a:srgbClr val="000000">
                <a:alpha val="10000"/>
              </a:srgbClr>
            </a:outerShdw>
          </a:effectLst>
        </p:spPr>
        <p:txBody>
          <a:bodyPr/>
          <a:lstStyle/>
          <a:p>
            <a:endParaRPr lang="ar-SA"/>
          </a:p>
        </p:txBody>
      </p:sp>
      <p:sp>
        <p:nvSpPr>
          <p:cNvPr id="45" name="Text 43"/>
          <p:cNvSpPr/>
          <p:nvPr/>
        </p:nvSpPr>
        <p:spPr>
          <a:xfrm>
            <a:off x="8339328" y="1920240"/>
            <a:ext cx="27432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6" name="Text 44"/>
          <p:cNvSpPr/>
          <p:nvPr/>
        </p:nvSpPr>
        <p:spPr>
          <a:xfrm>
            <a:off x="5532120" y="1901952"/>
            <a:ext cx="2743200" cy="512064"/>
          </a:xfrm>
          <a:prstGeom prst="rect">
            <a:avLst/>
          </a:prstGeom>
          <a:noFill/>
          <a:ln/>
        </p:spPr>
        <p:txBody>
          <a:bodyPr wrap="square" lIns="0" tIns="0" rIns="0" bIns="0" rtlCol="0" anchor="ctr"/>
          <a:lstStyle/>
          <a:p>
            <a:pPr marL="0" indent="0" algn="r" rtl="1">
              <a:buNone/>
            </a:pPr>
            <a:r>
              <a:rPr lang="en-US" sz="1200" dirty="0">
                <a:solidFill>
                  <a:srgbClr val="334455"/>
                </a:solidFill>
                <a:latin typeface="Arial" pitchFamily="34" charset="0"/>
                <a:ea typeface="Arial" pitchFamily="34" charset="-122"/>
                <a:cs typeface="Arial" pitchFamily="34" charset="-120"/>
              </a:rPr>
              <a:t>أساس لتحديث الخطط الدراسية وفق نبض السوق الحقيقي</a:t>
            </a:r>
            <a:endParaRPr lang="en-US" sz="1200" dirty="0"/>
          </a:p>
        </p:txBody>
      </p:sp>
      <p:sp>
        <p:nvSpPr>
          <p:cNvPr id="47" name="Shape 45"/>
          <p:cNvSpPr/>
          <p:nvPr/>
        </p:nvSpPr>
        <p:spPr>
          <a:xfrm>
            <a:off x="5486400" y="2505456"/>
            <a:ext cx="3154680" cy="530352"/>
          </a:xfrm>
          <a:prstGeom prst="rect">
            <a:avLst/>
          </a:prstGeom>
          <a:solidFill>
            <a:srgbClr val="FFFFFF"/>
          </a:solidFill>
          <a:ln w="12700">
            <a:solidFill>
              <a:srgbClr val="C8D8E8"/>
            </a:solidFill>
            <a:prstDash val="solid"/>
          </a:ln>
          <a:effectLst>
            <a:outerShdw blurRad="177800" dist="25400" dir="8100000" algn="bl" rotWithShape="0">
              <a:srgbClr val="000000">
                <a:alpha val="10000"/>
              </a:srgbClr>
            </a:outerShdw>
          </a:effectLst>
        </p:spPr>
        <p:txBody>
          <a:bodyPr/>
          <a:lstStyle/>
          <a:p>
            <a:endParaRPr lang="ar-SA"/>
          </a:p>
        </p:txBody>
      </p:sp>
      <p:sp>
        <p:nvSpPr>
          <p:cNvPr id="48" name="Text 46"/>
          <p:cNvSpPr/>
          <p:nvPr/>
        </p:nvSpPr>
        <p:spPr>
          <a:xfrm>
            <a:off x="8339328" y="2542032"/>
            <a:ext cx="27432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9" name="Text 47"/>
          <p:cNvSpPr/>
          <p:nvPr/>
        </p:nvSpPr>
        <p:spPr>
          <a:xfrm>
            <a:off x="5532120" y="2523744"/>
            <a:ext cx="2743200" cy="512064"/>
          </a:xfrm>
          <a:prstGeom prst="rect">
            <a:avLst/>
          </a:prstGeom>
          <a:noFill/>
          <a:ln/>
        </p:spPr>
        <p:txBody>
          <a:bodyPr wrap="square" lIns="0" tIns="0" rIns="0" bIns="0" rtlCol="0" anchor="ctr"/>
          <a:lstStyle/>
          <a:p>
            <a:pPr marL="0" indent="0" algn="r" rtl="1">
              <a:buNone/>
            </a:pPr>
            <a:r>
              <a:rPr lang="en-US" sz="1200" dirty="0">
                <a:solidFill>
                  <a:srgbClr val="334455"/>
                </a:solidFill>
                <a:latin typeface="Arial" pitchFamily="34" charset="0"/>
                <a:ea typeface="Arial" pitchFamily="34" charset="-122"/>
                <a:cs typeface="Arial" pitchFamily="34" charset="-120"/>
              </a:rPr>
              <a:t>مؤشرات أداء مباشرة لكل مقرر ومدى تأثيره على التوظيف</a:t>
            </a:r>
            <a:endParaRPr lang="en-US" sz="1200" dirty="0"/>
          </a:p>
        </p:txBody>
      </p:sp>
      <p:sp>
        <p:nvSpPr>
          <p:cNvPr id="50" name="Shape 48"/>
          <p:cNvSpPr/>
          <p:nvPr/>
        </p:nvSpPr>
        <p:spPr>
          <a:xfrm>
            <a:off x="5486400" y="3127248"/>
            <a:ext cx="3154680" cy="530352"/>
          </a:xfrm>
          <a:prstGeom prst="rect">
            <a:avLst/>
          </a:prstGeom>
          <a:solidFill>
            <a:srgbClr val="FFFFFF"/>
          </a:solidFill>
          <a:ln w="12700">
            <a:solidFill>
              <a:srgbClr val="C8D8E8"/>
            </a:solidFill>
            <a:prstDash val="solid"/>
          </a:ln>
          <a:effectLst>
            <a:outerShdw blurRad="177800" dist="25400" dir="8100000" algn="bl" rotWithShape="0">
              <a:srgbClr val="000000">
                <a:alpha val="10000"/>
              </a:srgbClr>
            </a:outerShdw>
          </a:effectLst>
        </p:spPr>
        <p:txBody>
          <a:bodyPr/>
          <a:lstStyle/>
          <a:p>
            <a:endParaRPr lang="ar-SA"/>
          </a:p>
        </p:txBody>
      </p:sp>
      <p:sp>
        <p:nvSpPr>
          <p:cNvPr id="51" name="Text 49"/>
          <p:cNvSpPr/>
          <p:nvPr/>
        </p:nvSpPr>
        <p:spPr>
          <a:xfrm>
            <a:off x="8339328" y="3163824"/>
            <a:ext cx="27432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2" name="Text 50"/>
          <p:cNvSpPr/>
          <p:nvPr/>
        </p:nvSpPr>
        <p:spPr>
          <a:xfrm>
            <a:off x="5532120" y="3145536"/>
            <a:ext cx="2743200" cy="512064"/>
          </a:xfrm>
          <a:prstGeom prst="rect">
            <a:avLst/>
          </a:prstGeom>
          <a:noFill/>
          <a:ln/>
        </p:spPr>
        <p:txBody>
          <a:bodyPr wrap="square" lIns="0" tIns="0" rIns="0" bIns="0" rtlCol="0" anchor="ctr"/>
          <a:lstStyle/>
          <a:p>
            <a:pPr marL="0" indent="0" algn="r" rtl="1">
              <a:buNone/>
            </a:pPr>
            <a:r>
              <a:rPr lang="en-US" sz="1200" dirty="0">
                <a:solidFill>
                  <a:srgbClr val="334455"/>
                </a:solidFill>
                <a:latin typeface="Arial" pitchFamily="34" charset="0"/>
                <a:ea typeface="Arial" pitchFamily="34" charset="-122"/>
                <a:cs typeface="Arial" pitchFamily="34" charset="-120"/>
              </a:rPr>
              <a:t>قناة تواصل مباشرة مع خبراء الصناعة لبناء شراكات بحثية</a:t>
            </a:r>
            <a:endParaRPr lang="en-US" sz="1200" dirty="0"/>
          </a:p>
        </p:txBody>
      </p:sp>
      <p:sp>
        <p:nvSpPr>
          <p:cNvPr id="53" name="Shape 51"/>
          <p:cNvSpPr/>
          <p:nvPr/>
        </p:nvSpPr>
        <p:spPr>
          <a:xfrm>
            <a:off x="5486400" y="3749040"/>
            <a:ext cx="3154680" cy="530352"/>
          </a:xfrm>
          <a:prstGeom prst="rect">
            <a:avLst/>
          </a:prstGeom>
          <a:solidFill>
            <a:srgbClr val="FFFFFF"/>
          </a:solidFill>
          <a:ln w="12700">
            <a:solidFill>
              <a:srgbClr val="C8D8E8"/>
            </a:solidFill>
            <a:prstDash val="solid"/>
          </a:ln>
          <a:effectLst>
            <a:outerShdw blurRad="177800" dist="25400" dir="8100000" algn="bl" rotWithShape="0">
              <a:srgbClr val="000000">
                <a:alpha val="10000"/>
              </a:srgbClr>
            </a:outerShdw>
          </a:effectLst>
        </p:spPr>
        <p:txBody>
          <a:bodyPr/>
          <a:lstStyle/>
          <a:p>
            <a:endParaRPr lang="ar-SA"/>
          </a:p>
        </p:txBody>
      </p:sp>
      <p:sp>
        <p:nvSpPr>
          <p:cNvPr id="54" name="Text 52"/>
          <p:cNvSpPr/>
          <p:nvPr/>
        </p:nvSpPr>
        <p:spPr>
          <a:xfrm>
            <a:off x="8339328" y="3785616"/>
            <a:ext cx="27432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5" name="Text 53"/>
          <p:cNvSpPr/>
          <p:nvPr/>
        </p:nvSpPr>
        <p:spPr>
          <a:xfrm>
            <a:off x="5532120" y="3767328"/>
            <a:ext cx="2743200" cy="512064"/>
          </a:xfrm>
          <a:prstGeom prst="rect">
            <a:avLst/>
          </a:prstGeom>
          <a:noFill/>
          <a:ln/>
        </p:spPr>
        <p:txBody>
          <a:bodyPr wrap="square" lIns="0" tIns="0" rIns="0" bIns="0" rtlCol="0" anchor="ctr"/>
          <a:lstStyle/>
          <a:p>
            <a:pPr marL="0" indent="0" algn="r" rtl="1">
              <a:buNone/>
            </a:pPr>
            <a:r>
              <a:rPr lang="en-US" sz="1200" dirty="0">
                <a:solidFill>
                  <a:srgbClr val="334455"/>
                </a:solidFill>
                <a:latin typeface="Arial" pitchFamily="34" charset="0"/>
                <a:ea typeface="Arial" pitchFamily="34" charset="-122"/>
                <a:cs typeface="Arial" pitchFamily="34" charset="-120"/>
              </a:rPr>
              <a:t>رفع تصنيف الكلية في مؤشرات التوظيف ومخرجات التعليم</a:t>
            </a:r>
            <a:endParaRPr lang="en-US" sz="1200" dirty="0"/>
          </a:p>
        </p:txBody>
      </p:sp>
      <p:sp>
        <p:nvSpPr>
          <p:cNvPr id="56" name="Text 54"/>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Arial" pitchFamily="34" charset="0"/>
                <a:ea typeface="Arial" pitchFamily="34" charset="-122"/>
                <a:cs typeface="Arial" pitchFamily="34" charset="-120"/>
              </a:rPr>
              <a:t>مقرري+</a:t>
            </a:r>
            <a:endParaRPr lang="en-US" sz="1200" dirty="0"/>
          </a:p>
        </p:txBody>
      </p:sp>
      <p:sp>
        <p:nvSpPr>
          <p:cNvPr id="57" name="Text 55"/>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100" dirty="0">
                <a:solidFill>
                  <a:srgbClr val="AAAAAA"/>
                </a:solidFill>
                <a:latin typeface="Arial" pitchFamily="34" charset="0"/>
                <a:ea typeface="Arial" pitchFamily="34" charset="-122"/>
                <a:cs typeface="Arial" pitchFamily="34" charset="-120"/>
              </a:rPr>
              <a:t>7 / 14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ar-SA"/>
          </a:p>
        </p:txBody>
      </p:sp>
      <p:sp>
        <p:nvSpPr>
          <p:cNvPr id="3" name="Text 1"/>
          <p:cNvSpPr/>
          <p:nvPr/>
        </p:nvSpPr>
        <p:spPr>
          <a:xfrm>
            <a:off x="384048" y="109728"/>
            <a:ext cx="8375904" cy="438912"/>
          </a:xfrm>
          <a:prstGeom prst="rect">
            <a:avLst/>
          </a:prstGeom>
          <a:noFill/>
          <a:ln/>
        </p:spPr>
        <p:txBody>
          <a:bodyPr wrap="square" lIns="0" tIns="0" rIns="0" bIns="0" rtlCol="0" anchor="ctr"/>
          <a:lstStyle/>
          <a:p>
            <a:pPr marL="0" indent="0" algn="r" rtl="1">
              <a:buNone/>
            </a:pPr>
            <a:r>
              <a:rPr lang="en-US" sz="2200" b="1" dirty="0">
                <a:solidFill>
                  <a:srgbClr val="FFFFFF"/>
                </a:solidFill>
                <a:latin typeface="Arial" pitchFamily="34" charset="0"/>
                <a:ea typeface="Arial" pitchFamily="34" charset="-122"/>
                <a:cs typeface="Arial" pitchFamily="34" charset="-120"/>
              </a:rPr>
              <a:t>البنية التقنية — Omni-Shield Architecture</a:t>
            </a:r>
            <a:endParaRPr lang="en-US" sz="2200" dirty="0"/>
          </a:p>
        </p:txBody>
      </p:sp>
      <p:sp>
        <p:nvSpPr>
          <p:cNvPr id="4" name="Text 2"/>
          <p:cNvSpPr/>
          <p:nvPr/>
        </p:nvSpPr>
        <p:spPr>
          <a:xfrm>
            <a:off x="384048" y="109728"/>
            <a:ext cx="4572000" cy="438912"/>
          </a:xfrm>
          <a:prstGeom prst="rect">
            <a:avLst/>
          </a:prstGeom>
          <a:noFill/>
          <a:ln/>
        </p:spPr>
        <p:txBody>
          <a:bodyPr wrap="square" lIns="0" tIns="0" rIns="0" bIns="0" rtlCol="0" anchor="ctr"/>
          <a:lstStyle/>
          <a:p>
            <a:pPr marL="0" indent="0" algn="l">
              <a:buNone/>
            </a:pPr>
            <a:r>
              <a:rPr lang="en-US" sz="1300" dirty="0">
                <a:solidFill>
                  <a:srgbClr val="00B4D8"/>
                </a:solidFill>
                <a:latin typeface="Arial" pitchFamily="34" charset="0"/>
                <a:ea typeface="Arial" pitchFamily="34" charset="-122"/>
                <a:cs typeface="Arial" pitchFamily="34" charset="-120"/>
              </a:rPr>
              <a:t>Zero-Defect Protocol | RBAC Security</a:t>
            </a:r>
            <a:endParaRPr lang="en-US" sz="1300" dirty="0"/>
          </a:p>
        </p:txBody>
      </p:sp>
      <p:sp>
        <p:nvSpPr>
          <p:cNvPr id="5" name="Shape 3"/>
          <p:cNvSpPr/>
          <p:nvPr/>
        </p:nvSpPr>
        <p:spPr>
          <a:xfrm>
            <a:off x="384048" y="658368"/>
            <a:ext cx="4663440" cy="566928"/>
          </a:xfrm>
          <a:prstGeom prst="rect">
            <a:avLst/>
          </a:prstGeom>
          <a:solidFill>
            <a:srgbClr val="1565C0"/>
          </a:solidFill>
          <a:ln w="12700">
            <a:solidFill>
              <a:srgbClr val="1565C0"/>
            </a:solidFill>
            <a:prstDash val="solid"/>
          </a:ln>
          <a:effectLst>
            <a:outerShdw blurRad="127000" dist="38100" dir="8100000" algn="bl" rotWithShape="0">
              <a:srgbClr val="000000">
                <a:alpha val="12000"/>
              </a:srgbClr>
            </a:outerShdw>
          </a:effectLst>
        </p:spPr>
        <p:txBody>
          <a:bodyPr/>
          <a:lstStyle/>
          <a:p>
            <a:endParaRPr lang="ar-SA"/>
          </a:p>
        </p:txBody>
      </p:sp>
      <p:sp>
        <p:nvSpPr>
          <p:cNvPr id="6" name="Text 4"/>
          <p:cNvSpPr/>
          <p:nvPr/>
        </p:nvSpPr>
        <p:spPr>
          <a:xfrm>
            <a:off x="475488" y="658368"/>
            <a:ext cx="1280160" cy="566928"/>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Frontend</a:t>
            </a:r>
            <a:endParaRPr lang="en-US" sz="1400" dirty="0"/>
          </a:p>
        </p:txBody>
      </p:sp>
      <p:sp>
        <p:nvSpPr>
          <p:cNvPr id="7" name="Text 5"/>
          <p:cNvSpPr/>
          <p:nvPr/>
        </p:nvSpPr>
        <p:spPr>
          <a:xfrm>
            <a:off x="1847088" y="658368"/>
            <a:ext cx="3108960" cy="566928"/>
          </a:xfrm>
          <a:prstGeom prst="rect">
            <a:avLst/>
          </a:prstGeom>
          <a:noFill/>
          <a:ln/>
        </p:spPr>
        <p:txBody>
          <a:bodyPr wrap="square" lIns="0" tIns="0" rIns="0" bIns="0" rtlCol="0" anchor="ctr"/>
          <a:lstStyle/>
          <a:p>
            <a:pPr marL="0" indent="0" algn="r" rtl="1">
              <a:buNone/>
            </a:pPr>
            <a:r>
              <a:rPr lang="en-US" sz="1300" dirty="0">
                <a:solidFill>
                  <a:srgbClr val="FFFFFF"/>
                </a:solidFill>
                <a:latin typeface="Arial" pitchFamily="34" charset="0"/>
                <a:ea typeface="Arial" pitchFamily="34" charset="-122"/>
                <a:cs typeface="Arial" pitchFamily="34" charset="-120"/>
              </a:rPr>
              <a:t>Thymeleaf + Bootstrap 5</a:t>
            </a:r>
            <a:endParaRPr lang="en-US" sz="1300" dirty="0"/>
          </a:p>
        </p:txBody>
      </p:sp>
      <p:sp>
        <p:nvSpPr>
          <p:cNvPr id="8" name="Shape 6"/>
          <p:cNvSpPr/>
          <p:nvPr/>
        </p:nvSpPr>
        <p:spPr>
          <a:xfrm>
            <a:off x="2679192" y="1225296"/>
            <a:ext cx="73152" cy="137160"/>
          </a:xfrm>
          <a:prstGeom prst="rect">
            <a:avLst/>
          </a:prstGeom>
          <a:solidFill>
            <a:srgbClr val="00B4D8"/>
          </a:solidFill>
          <a:ln w="12700">
            <a:solidFill>
              <a:srgbClr val="00B4D8"/>
            </a:solidFill>
            <a:prstDash val="solid"/>
          </a:ln>
        </p:spPr>
        <p:txBody>
          <a:bodyPr/>
          <a:lstStyle/>
          <a:p>
            <a:endParaRPr lang="ar-SA"/>
          </a:p>
        </p:txBody>
      </p:sp>
      <p:sp>
        <p:nvSpPr>
          <p:cNvPr id="9" name="Shape 7"/>
          <p:cNvSpPr/>
          <p:nvPr/>
        </p:nvSpPr>
        <p:spPr>
          <a:xfrm>
            <a:off x="384048" y="1362456"/>
            <a:ext cx="4663440" cy="566928"/>
          </a:xfrm>
          <a:prstGeom prst="rect">
            <a:avLst/>
          </a:prstGeom>
          <a:solidFill>
            <a:srgbClr val="1B5E20"/>
          </a:solidFill>
          <a:ln w="12700">
            <a:solidFill>
              <a:srgbClr val="1B5E20"/>
            </a:solidFill>
            <a:prstDash val="solid"/>
          </a:ln>
          <a:effectLst>
            <a:outerShdw blurRad="127000" dist="38100" dir="8100000" algn="bl" rotWithShape="0">
              <a:srgbClr val="000000">
                <a:alpha val="12000"/>
              </a:srgbClr>
            </a:outerShdw>
          </a:effectLst>
        </p:spPr>
        <p:txBody>
          <a:bodyPr/>
          <a:lstStyle/>
          <a:p>
            <a:endParaRPr lang="ar-SA"/>
          </a:p>
        </p:txBody>
      </p:sp>
      <p:sp>
        <p:nvSpPr>
          <p:cNvPr id="10" name="Text 8"/>
          <p:cNvSpPr/>
          <p:nvPr/>
        </p:nvSpPr>
        <p:spPr>
          <a:xfrm>
            <a:off x="475488" y="1362456"/>
            <a:ext cx="1280160" cy="566928"/>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Backend</a:t>
            </a:r>
            <a:endParaRPr lang="en-US" sz="1400" dirty="0"/>
          </a:p>
        </p:txBody>
      </p:sp>
      <p:sp>
        <p:nvSpPr>
          <p:cNvPr id="11" name="Text 9"/>
          <p:cNvSpPr/>
          <p:nvPr/>
        </p:nvSpPr>
        <p:spPr>
          <a:xfrm>
            <a:off x="1847088" y="1362456"/>
            <a:ext cx="3108960" cy="566928"/>
          </a:xfrm>
          <a:prstGeom prst="rect">
            <a:avLst/>
          </a:prstGeom>
          <a:noFill/>
          <a:ln/>
        </p:spPr>
        <p:txBody>
          <a:bodyPr wrap="square" lIns="0" tIns="0" rIns="0" bIns="0" rtlCol="0" anchor="ctr"/>
          <a:lstStyle/>
          <a:p>
            <a:pPr marL="0" indent="0" algn="r" rtl="1">
              <a:buNone/>
            </a:pPr>
            <a:r>
              <a:rPr lang="en-US" sz="1300" dirty="0">
                <a:solidFill>
                  <a:srgbClr val="FFFFFF"/>
                </a:solidFill>
                <a:latin typeface="Arial" pitchFamily="34" charset="0"/>
                <a:ea typeface="Arial" pitchFamily="34" charset="-122"/>
                <a:cs typeface="Arial" pitchFamily="34" charset="-120"/>
              </a:rPr>
              <a:t>Java 17 + Spring Boot 3</a:t>
            </a:r>
            <a:endParaRPr lang="en-US" sz="1300" dirty="0"/>
          </a:p>
        </p:txBody>
      </p:sp>
      <p:sp>
        <p:nvSpPr>
          <p:cNvPr id="12" name="Shape 10"/>
          <p:cNvSpPr/>
          <p:nvPr/>
        </p:nvSpPr>
        <p:spPr>
          <a:xfrm>
            <a:off x="2679192" y="1929384"/>
            <a:ext cx="73152" cy="137160"/>
          </a:xfrm>
          <a:prstGeom prst="rect">
            <a:avLst/>
          </a:prstGeom>
          <a:solidFill>
            <a:srgbClr val="00B4D8"/>
          </a:solidFill>
          <a:ln w="12700">
            <a:solidFill>
              <a:srgbClr val="00B4D8"/>
            </a:solidFill>
            <a:prstDash val="solid"/>
          </a:ln>
        </p:spPr>
        <p:txBody>
          <a:bodyPr/>
          <a:lstStyle/>
          <a:p>
            <a:endParaRPr lang="ar-SA"/>
          </a:p>
        </p:txBody>
      </p:sp>
      <p:sp>
        <p:nvSpPr>
          <p:cNvPr id="13" name="Shape 11"/>
          <p:cNvSpPr/>
          <p:nvPr/>
        </p:nvSpPr>
        <p:spPr>
          <a:xfrm>
            <a:off x="384048" y="2066544"/>
            <a:ext cx="4663440" cy="566928"/>
          </a:xfrm>
          <a:prstGeom prst="rect">
            <a:avLst/>
          </a:prstGeom>
          <a:solidFill>
            <a:srgbClr val="B71C1C"/>
          </a:solidFill>
          <a:ln w="12700">
            <a:solidFill>
              <a:srgbClr val="B71C1C"/>
            </a:solidFill>
            <a:prstDash val="solid"/>
          </a:ln>
          <a:effectLst>
            <a:outerShdw blurRad="127000" dist="38100" dir="8100000" algn="bl" rotWithShape="0">
              <a:srgbClr val="000000">
                <a:alpha val="12000"/>
              </a:srgbClr>
            </a:outerShdw>
          </a:effectLst>
        </p:spPr>
        <p:txBody>
          <a:bodyPr/>
          <a:lstStyle/>
          <a:p>
            <a:endParaRPr lang="ar-SA"/>
          </a:p>
        </p:txBody>
      </p:sp>
      <p:sp>
        <p:nvSpPr>
          <p:cNvPr id="14" name="Text 12"/>
          <p:cNvSpPr/>
          <p:nvPr/>
        </p:nvSpPr>
        <p:spPr>
          <a:xfrm>
            <a:off x="475488" y="2066544"/>
            <a:ext cx="1280160" cy="566928"/>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Security</a:t>
            </a:r>
            <a:endParaRPr lang="en-US" sz="1400" dirty="0"/>
          </a:p>
        </p:txBody>
      </p:sp>
      <p:sp>
        <p:nvSpPr>
          <p:cNvPr id="15" name="Text 13"/>
          <p:cNvSpPr/>
          <p:nvPr/>
        </p:nvSpPr>
        <p:spPr>
          <a:xfrm>
            <a:off x="1847088" y="2066544"/>
            <a:ext cx="3108960" cy="566928"/>
          </a:xfrm>
          <a:prstGeom prst="rect">
            <a:avLst/>
          </a:prstGeom>
          <a:noFill/>
          <a:ln/>
        </p:spPr>
        <p:txBody>
          <a:bodyPr wrap="square" lIns="0" tIns="0" rIns="0" bIns="0" rtlCol="0" anchor="ctr"/>
          <a:lstStyle/>
          <a:p>
            <a:pPr marL="0" indent="0" algn="r" rtl="1">
              <a:buNone/>
            </a:pPr>
            <a:r>
              <a:rPr lang="en-US" sz="1300" dirty="0">
                <a:solidFill>
                  <a:srgbClr val="FFFFFF"/>
                </a:solidFill>
                <a:latin typeface="Arial" pitchFamily="34" charset="0"/>
                <a:ea typeface="Arial" pitchFamily="34" charset="-122"/>
                <a:cs typeface="Arial" pitchFamily="34" charset="-120"/>
              </a:rPr>
              <a:t>Spring Security — Omni-Shield RBAC</a:t>
            </a:r>
            <a:endParaRPr lang="en-US" sz="1300" dirty="0"/>
          </a:p>
        </p:txBody>
      </p:sp>
      <p:sp>
        <p:nvSpPr>
          <p:cNvPr id="16" name="Shape 14"/>
          <p:cNvSpPr/>
          <p:nvPr/>
        </p:nvSpPr>
        <p:spPr>
          <a:xfrm>
            <a:off x="2679192" y="2633472"/>
            <a:ext cx="73152" cy="137160"/>
          </a:xfrm>
          <a:prstGeom prst="rect">
            <a:avLst/>
          </a:prstGeom>
          <a:solidFill>
            <a:srgbClr val="00B4D8"/>
          </a:solidFill>
          <a:ln w="12700">
            <a:solidFill>
              <a:srgbClr val="00B4D8"/>
            </a:solidFill>
            <a:prstDash val="solid"/>
          </a:ln>
        </p:spPr>
        <p:txBody>
          <a:bodyPr/>
          <a:lstStyle/>
          <a:p>
            <a:endParaRPr lang="ar-SA"/>
          </a:p>
        </p:txBody>
      </p:sp>
      <p:sp>
        <p:nvSpPr>
          <p:cNvPr id="17" name="Shape 15"/>
          <p:cNvSpPr/>
          <p:nvPr/>
        </p:nvSpPr>
        <p:spPr>
          <a:xfrm>
            <a:off x="384048" y="2770632"/>
            <a:ext cx="4663440" cy="566928"/>
          </a:xfrm>
          <a:prstGeom prst="rect">
            <a:avLst/>
          </a:prstGeom>
          <a:solidFill>
            <a:srgbClr val="6A1B9A"/>
          </a:solidFill>
          <a:ln w="12700">
            <a:solidFill>
              <a:srgbClr val="6A1B9A"/>
            </a:solidFill>
            <a:prstDash val="solid"/>
          </a:ln>
          <a:effectLst>
            <a:outerShdw blurRad="127000" dist="38100" dir="8100000" algn="bl" rotWithShape="0">
              <a:srgbClr val="000000">
                <a:alpha val="12000"/>
              </a:srgbClr>
            </a:outerShdw>
          </a:effectLst>
        </p:spPr>
        <p:txBody>
          <a:bodyPr/>
          <a:lstStyle/>
          <a:p>
            <a:endParaRPr lang="ar-SA"/>
          </a:p>
        </p:txBody>
      </p:sp>
      <p:sp>
        <p:nvSpPr>
          <p:cNvPr id="18" name="Text 16"/>
          <p:cNvSpPr/>
          <p:nvPr/>
        </p:nvSpPr>
        <p:spPr>
          <a:xfrm>
            <a:off x="475488" y="2770632"/>
            <a:ext cx="1280160" cy="566928"/>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Database</a:t>
            </a:r>
            <a:endParaRPr lang="en-US" sz="1400" dirty="0"/>
          </a:p>
        </p:txBody>
      </p:sp>
      <p:sp>
        <p:nvSpPr>
          <p:cNvPr id="19" name="Text 17"/>
          <p:cNvSpPr/>
          <p:nvPr/>
        </p:nvSpPr>
        <p:spPr>
          <a:xfrm>
            <a:off x="1847088" y="2770632"/>
            <a:ext cx="3108960" cy="566928"/>
          </a:xfrm>
          <a:prstGeom prst="rect">
            <a:avLst/>
          </a:prstGeom>
          <a:noFill/>
          <a:ln/>
        </p:spPr>
        <p:txBody>
          <a:bodyPr wrap="square" lIns="0" tIns="0" rIns="0" bIns="0" rtlCol="0" anchor="ctr"/>
          <a:lstStyle/>
          <a:p>
            <a:pPr marL="0" indent="0" algn="r" rtl="1">
              <a:buNone/>
            </a:pPr>
            <a:r>
              <a:rPr lang="en-US" sz="1300" dirty="0">
                <a:solidFill>
                  <a:srgbClr val="FFFFFF"/>
                </a:solidFill>
                <a:latin typeface="Arial" pitchFamily="34" charset="0"/>
                <a:ea typeface="Arial" pitchFamily="34" charset="-122"/>
                <a:cs typeface="Arial" pitchFamily="34" charset="-120"/>
              </a:rPr>
              <a:t>MySQL — Hierarchical Zero-Defect Engine</a:t>
            </a:r>
            <a:endParaRPr lang="en-US" sz="1300" dirty="0"/>
          </a:p>
        </p:txBody>
      </p:sp>
      <p:sp>
        <p:nvSpPr>
          <p:cNvPr id="20" name="Shape 18"/>
          <p:cNvSpPr/>
          <p:nvPr/>
        </p:nvSpPr>
        <p:spPr>
          <a:xfrm>
            <a:off x="2679192" y="3337560"/>
            <a:ext cx="73152" cy="137160"/>
          </a:xfrm>
          <a:prstGeom prst="rect">
            <a:avLst/>
          </a:prstGeom>
          <a:solidFill>
            <a:srgbClr val="00B4D8"/>
          </a:solidFill>
          <a:ln w="12700">
            <a:solidFill>
              <a:srgbClr val="00B4D8"/>
            </a:solidFill>
            <a:prstDash val="solid"/>
          </a:ln>
        </p:spPr>
        <p:txBody>
          <a:bodyPr/>
          <a:lstStyle/>
          <a:p>
            <a:endParaRPr lang="ar-SA"/>
          </a:p>
        </p:txBody>
      </p:sp>
      <p:sp>
        <p:nvSpPr>
          <p:cNvPr id="21" name="Shape 19"/>
          <p:cNvSpPr/>
          <p:nvPr/>
        </p:nvSpPr>
        <p:spPr>
          <a:xfrm>
            <a:off x="384048" y="3474720"/>
            <a:ext cx="4663440" cy="566928"/>
          </a:xfrm>
          <a:prstGeom prst="rect">
            <a:avLst/>
          </a:prstGeom>
          <a:solidFill>
            <a:srgbClr val="E65100"/>
          </a:solidFill>
          <a:ln w="12700">
            <a:solidFill>
              <a:srgbClr val="E65100"/>
            </a:solidFill>
            <a:prstDash val="solid"/>
          </a:ln>
          <a:effectLst>
            <a:outerShdw blurRad="127000" dist="38100" dir="8100000" algn="bl" rotWithShape="0">
              <a:srgbClr val="000000">
                <a:alpha val="12000"/>
              </a:srgbClr>
            </a:outerShdw>
          </a:effectLst>
        </p:spPr>
        <p:txBody>
          <a:bodyPr/>
          <a:lstStyle/>
          <a:p>
            <a:endParaRPr lang="ar-SA"/>
          </a:p>
        </p:txBody>
      </p:sp>
      <p:sp>
        <p:nvSpPr>
          <p:cNvPr id="22" name="Text 20"/>
          <p:cNvSpPr/>
          <p:nvPr/>
        </p:nvSpPr>
        <p:spPr>
          <a:xfrm>
            <a:off x="475488" y="3474720"/>
            <a:ext cx="1280160" cy="566928"/>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Audit</a:t>
            </a:r>
            <a:endParaRPr lang="en-US" sz="1400" dirty="0"/>
          </a:p>
        </p:txBody>
      </p:sp>
      <p:sp>
        <p:nvSpPr>
          <p:cNvPr id="23" name="Text 21"/>
          <p:cNvSpPr/>
          <p:nvPr/>
        </p:nvSpPr>
        <p:spPr>
          <a:xfrm>
            <a:off x="1847088" y="3474720"/>
            <a:ext cx="3108960" cy="566928"/>
          </a:xfrm>
          <a:prstGeom prst="rect">
            <a:avLst/>
          </a:prstGeom>
          <a:noFill/>
          <a:ln/>
        </p:spPr>
        <p:txBody>
          <a:bodyPr wrap="square" lIns="0" tIns="0" rIns="0" bIns="0" rtlCol="0" anchor="ctr"/>
          <a:lstStyle/>
          <a:p>
            <a:pPr marL="0" indent="0" algn="r" rtl="1">
              <a:buNone/>
            </a:pPr>
            <a:r>
              <a:rPr lang="en-US" sz="1300" dirty="0">
                <a:solidFill>
                  <a:srgbClr val="FFFFFF"/>
                </a:solidFill>
                <a:latin typeface="Arial" pitchFamily="34" charset="0"/>
                <a:ea typeface="Arial" pitchFamily="34" charset="-122"/>
                <a:cs typeface="Arial" pitchFamily="34" charset="-120"/>
              </a:rPr>
              <a:t>Audit Trail + Verification Queue</a:t>
            </a:r>
            <a:endParaRPr lang="en-US" sz="1300" dirty="0"/>
          </a:p>
        </p:txBody>
      </p:sp>
      <p:sp>
        <p:nvSpPr>
          <p:cNvPr id="24" name="Shape 22"/>
          <p:cNvSpPr/>
          <p:nvPr/>
        </p:nvSpPr>
        <p:spPr>
          <a:xfrm>
            <a:off x="5074920" y="658368"/>
            <a:ext cx="3685032" cy="4133088"/>
          </a:xfrm>
          <a:prstGeom prst="rect">
            <a:avLst/>
          </a:prstGeom>
          <a:solidFill>
            <a:srgbClr val="1A3055"/>
          </a:solidFill>
          <a:ln w="12700">
            <a:solidFill>
              <a:srgbClr val="00B4D8"/>
            </a:solidFill>
            <a:prstDash val="solid"/>
          </a:ln>
        </p:spPr>
        <p:txBody>
          <a:bodyPr/>
          <a:lstStyle/>
          <a:p>
            <a:endParaRPr lang="ar-SA"/>
          </a:p>
        </p:txBody>
      </p:sp>
      <p:sp>
        <p:nvSpPr>
          <p:cNvPr id="25" name="Shape 23"/>
          <p:cNvSpPr/>
          <p:nvPr/>
        </p:nvSpPr>
        <p:spPr>
          <a:xfrm>
            <a:off x="5074920" y="658368"/>
            <a:ext cx="3685032" cy="64008"/>
          </a:xfrm>
          <a:prstGeom prst="rect">
            <a:avLst/>
          </a:prstGeom>
          <a:solidFill>
            <a:srgbClr val="00B4D8"/>
          </a:solidFill>
          <a:ln w="12700">
            <a:solidFill>
              <a:srgbClr val="00B4D8"/>
            </a:solidFill>
            <a:prstDash val="solid"/>
          </a:ln>
        </p:spPr>
        <p:txBody>
          <a:bodyPr/>
          <a:lstStyle/>
          <a:p>
            <a:endParaRPr lang="ar-SA"/>
          </a:p>
        </p:txBody>
      </p:sp>
      <p:sp>
        <p:nvSpPr>
          <p:cNvPr id="26" name="Text 24"/>
          <p:cNvSpPr/>
          <p:nvPr/>
        </p:nvSpPr>
        <p:spPr>
          <a:xfrm>
            <a:off x="5166360" y="804672"/>
            <a:ext cx="3502152" cy="365760"/>
          </a:xfrm>
          <a:prstGeom prst="rect">
            <a:avLst/>
          </a:prstGeom>
          <a:noFill/>
          <a:ln/>
        </p:spPr>
        <p:txBody>
          <a:bodyPr wrap="square" lIns="0" tIns="0" rIns="0" bIns="0" rtlCol="0" anchor="ctr"/>
          <a:lstStyle/>
          <a:p>
            <a:pPr marL="0" indent="0" algn="r" rtl="1">
              <a:buNone/>
            </a:pPr>
            <a:r>
              <a:rPr lang="en-US" sz="1500" b="1" dirty="0">
                <a:solidFill>
                  <a:srgbClr val="00B4D8"/>
                </a:solidFill>
                <a:latin typeface="Arial" pitchFamily="34" charset="0"/>
                <a:ea typeface="Arial" pitchFamily="34" charset="-122"/>
                <a:cs typeface="Arial" pitchFamily="34" charset="-120"/>
              </a:rPr>
              <a:t>الميزات الأمنية والتقنية</a:t>
            </a:r>
            <a:endParaRPr lang="en-US" sz="1500" dirty="0"/>
          </a:p>
        </p:txBody>
      </p:sp>
      <p:sp>
        <p:nvSpPr>
          <p:cNvPr id="27" name="Shape 25"/>
          <p:cNvSpPr/>
          <p:nvPr/>
        </p:nvSpPr>
        <p:spPr>
          <a:xfrm>
            <a:off x="5184648" y="1298448"/>
            <a:ext cx="3465576" cy="475488"/>
          </a:xfrm>
          <a:prstGeom prst="rect">
            <a:avLst/>
          </a:prstGeom>
          <a:solidFill>
            <a:srgbClr val="0A192F"/>
          </a:solidFill>
          <a:ln w="12700">
            <a:solidFill>
              <a:srgbClr val="334455"/>
            </a:solidFill>
            <a:prstDash val="solid"/>
          </a:ln>
        </p:spPr>
        <p:txBody>
          <a:bodyPr/>
          <a:lstStyle/>
          <a:p>
            <a:endParaRPr lang="ar-SA"/>
          </a:p>
        </p:txBody>
      </p:sp>
      <p:sp>
        <p:nvSpPr>
          <p:cNvPr id="28" name="Shape 26"/>
          <p:cNvSpPr/>
          <p:nvPr/>
        </p:nvSpPr>
        <p:spPr>
          <a:xfrm>
            <a:off x="5184648" y="1298448"/>
            <a:ext cx="731520" cy="475488"/>
          </a:xfrm>
          <a:prstGeom prst="rect">
            <a:avLst/>
          </a:prstGeom>
          <a:solidFill>
            <a:srgbClr val="00B4D8"/>
          </a:solidFill>
          <a:ln w="12700">
            <a:solidFill>
              <a:srgbClr val="00B4D8"/>
            </a:solidFill>
            <a:prstDash val="solid"/>
          </a:ln>
        </p:spPr>
        <p:txBody>
          <a:bodyPr/>
          <a:lstStyle/>
          <a:p>
            <a:endParaRPr lang="ar-SA"/>
          </a:p>
        </p:txBody>
      </p:sp>
      <p:sp>
        <p:nvSpPr>
          <p:cNvPr id="29" name="Text 27"/>
          <p:cNvSpPr/>
          <p:nvPr/>
        </p:nvSpPr>
        <p:spPr>
          <a:xfrm>
            <a:off x="5184648" y="1298448"/>
            <a:ext cx="731520" cy="475488"/>
          </a:xfrm>
          <a:prstGeom prst="rect">
            <a:avLst/>
          </a:prstGeom>
          <a:noFill/>
          <a:ln/>
        </p:spPr>
        <p:txBody>
          <a:bodyPr wrap="square" lIns="0" tIns="0" rIns="0" bIns="0" rtlCol="0" anchor="ctr"/>
          <a:lstStyle/>
          <a:p>
            <a:pPr marL="0" indent="0" algn="ctr">
              <a:buNone/>
            </a:pPr>
            <a:r>
              <a:rPr lang="en-US" sz="1100" b="1" dirty="0">
                <a:solidFill>
                  <a:srgbClr val="0A192F"/>
                </a:solidFill>
                <a:latin typeface="Arial" pitchFamily="34" charset="0"/>
                <a:ea typeface="Arial" pitchFamily="34" charset="-122"/>
                <a:cs typeface="Arial" pitchFamily="34" charset="-120"/>
              </a:rPr>
              <a:t>RBAC</a:t>
            </a:r>
            <a:endParaRPr lang="en-US" sz="1100" dirty="0"/>
          </a:p>
        </p:txBody>
      </p:sp>
      <p:sp>
        <p:nvSpPr>
          <p:cNvPr id="30" name="Text 28"/>
          <p:cNvSpPr/>
          <p:nvPr/>
        </p:nvSpPr>
        <p:spPr>
          <a:xfrm>
            <a:off x="5971032" y="1298448"/>
            <a:ext cx="2633472" cy="475488"/>
          </a:xfrm>
          <a:prstGeom prst="rect">
            <a:avLst/>
          </a:prstGeom>
          <a:noFill/>
          <a:ln/>
        </p:spPr>
        <p:txBody>
          <a:bodyPr wrap="square" lIns="0" tIns="0" rIns="0" bIns="0" rtlCol="0" anchor="ctr"/>
          <a:lstStyle/>
          <a:p>
            <a:pPr marL="0" indent="0" algn="r" rtl="1">
              <a:buNone/>
            </a:pPr>
            <a:r>
              <a:rPr lang="en-US" sz="1200" dirty="0">
                <a:solidFill>
                  <a:srgbClr val="E8F4F8"/>
                </a:solidFill>
                <a:latin typeface="Arial" pitchFamily="34" charset="0"/>
                <a:ea typeface="Arial" pitchFamily="34" charset="-122"/>
                <a:cs typeface="Arial" pitchFamily="34" charset="-120"/>
              </a:rPr>
              <a:t>صلاحيات متعددة المستويات: طالب، خبير، عميد، مشرف</a:t>
            </a:r>
            <a:endParaRPr lang="en-US" sz="1200" dirty="0"/>
          </a:p>
        </p:txBody>
      </p:sp>
      <p:sp>
        <p:nvSpPr>
          <p:cNvPr id="31" name="Shape 29"/>
          <p:cNvSpPr/>
          <p:nvPr/>
        </p:nvSpPr>
        <p:spPr>
          <a:xfrm>
            <a:off x="5184648" y="1865376"/>
            <a:ext cx="3465576" cy="475488"/>
          </a:xfrm>
          <a:prstGeom prst="rect">
            <a:avLst/>
          </a:prstGeom>
          <a:solidFill>
            <a:srgbClr val="0A192F"/>
          </a:solidFill>
          <a:ln w="12700">
            <a:solidFill>
              <a:srgbClr val="334455"/>
            </a:solidFill>
            <a:prstDash val="solid"/>
          </a:ln>
        </p:spPr>
        <p:txBody>
          <a:bodyPr/>
          <a:lstStyle/>
          <a:p>
            <a:endParaRPr lang="ar-SA"/>
          </a:p>
        </p:txBody>
      </p:sp>
      <p:sp>
        <p:nvSpPr>
          <p:cNvPr id="32" name="Shape 30"/>
          <p:cNvSpPr/>
          <p:nvPr/>
        </p:nvSpPr>
        <p:spPr>
          <a:xfrm>
            <a:off x="5184648" y="1865376"/>
            <a:ext cx="731520" cy="475488"/>
          </a:xfrm>
          <a:prstGeom prst="rect">
            <a:avLst/>
          </a:prstGeom>
          <a:solidFill>
            <a:srgbClr val="00B4D8"/>
          </a:solidFill>
          <a:ln w="12700">
            <a:solidFill>
              <a:srgbClr val="00B4D8"/>
            </a:solidFill>
            <a:prstDash val="solid"/>
          </a:ln>
        </p:spPr>
        <p:txBody>
          <a:bodyPr/>
          <a:lstStyle/>
          <a:p>
            <a:endParaRPr lang="ar-SA"/>
          </a:p>
        </p:txBody>
      </p:sp>
      <p:sp>
        <p:nvSpPr>
          <p:cNvPr id="33" name="Text 31"/>
          <p:cNvSpPr/>
          <p:nvPr/>
        </p:nvSpPr>
        <p:spPr>
          <a:xfrm>
            <a:off x="5184648" y="1865376"/>
            <a:ext cx="731520" cy="475488"/>
          </a:xfrm>
          <a:prstGeom prst="rect">
            <a:avLst/>
          </a:prstGeom>
          <a:noFill/>
          <a:ln/>
        </p:spPr>
        <p:txBody>
          <a:bodyPr wrap="square" lIns="0" tIns="0" rIns="0" bIns="0" rtlCol="0" anchor="ctr"/>
          <a:lstStyle/>
          <a:p>
            <a:pPr marL="0" indent="0" algn="ctr">
              <a:buNone/>
            </a:pPr>
            <a:r>
              <a:rPr lang="en-US" sz="1100" b="1" dirty="0">
                <a:solidFill>
                  <a:srgbClr val="0A192F"/>
                </a:solidFill>
                <a:latin typeface="Arial" pitchFamily="34" charset="0"/>
                <a:ea typeface="Arial" pitchFamily="34" charset="-122"/>
                <a:cs typeface="Arial" pitchFamily="34" charset="-120"/>
              </a:rPr>
              <a:t>VQ</a:t>
            </a:r>
            <a:endParaRPr lang="en-US" sz="1100" dirty="0"/>
          </a:p>
        </p:txBody>
      </p:sp>
      <p:sp>
        <p:nvSpPr>
          <p:cNvPr id="34" name="Text 32"/>
          <p:cNvSpPr/>
          <p:nvPr/>
        </p:nvSpPr>
        <p:spPr>
          <a:xfrm>
            <a:off x="5971032" y="1865376"/>
            <a:ext cx="2633472" cy="475488"/>
          </a:xfrm>
          <a:prstGeom prst="rect">
            <a:avLst/>
          </a:prstGeom>
          <a:noFill/>
          <a:ln/>
        </p:spPr>
        <p:txBody>
          <a:bodyPr wrap="square" lIns="0" tIns="0" rIns="0" bIns="0" rtlCol="0" anchor="ctr"/>
          <a:lstStyle/>
          <a:p>
            <a:pPr marL="0" indent="0" algn="r" rtl="1">
              <a:buNone/>
            </a:pPr>
            <a:r>
              <a:rPr lang="en-US" sz="1200" dirty="0">
                <a:solidFill>
                  <a:srgbClr val="E8F4F8"/>
                </a:solidFill>
                <a:latin typeface="Arial" pitchFamily="34" charset="0"/>
                <a:ea typeface="Arial" pitchFamily="34" charset="-122"/>
                <a:cs typeface="Arial" pitchFamily="34" charset="-120"/>
              </a:rPr>
              <a:t>Verification Queue لتوثيق هوية كل خبير قبل النشر</a:t>
            </a:r>
            <a:endParaRPr lang="en-US" sz="1200" dirty="0"/>
          </a:p>
        </p:txBody>
      </p:sp>
      <p:sp>
        <p:nvSpPr>
          <p:cNvPr id="35" name="Shape 33"/>
          <p:cNvSpPr/>
          <p:nvPr/>
        </p:nvSpPr>
        <p:spPr>
          <a:xfrm>
            <a:off x="5184648" y="2432304"/>
            <a:ext cx="3465576" cy="475488"/>
          </a:xfrm>
          <a:prstGeom prst="rect">
            <a:avLst/>
          </a:prstGeom>
          <a:solidFill>
            <a:srgbClr val="0A192F"/>
          </a:solidFill>
          <a:ln w="12700">
            <a:solidFill>
              <a:srgbClr val="334455"/>
            </a:solidFill>
            <a:prstDash val="solid"/>
          </a:ln>
        </p:spPr>
        <p:txBody>
          <a:bodyPr/>
          <a:lstStyle/>
          <a:p>
            <a:endParaRPr lang="ar-SA"/>
          </a:p>
        </p:txBody>
      </p:sp>
      <p:sp>
        <p:nvSpPr>
          <p:cNvPr id="36" name="Shape 34"/>
          <p:cNvSpPr/>
          <p:nvPr/>
        </p:nvSpPr>
        <p:spPr>
          <a:xfrm>
            <a:off x="5184648" y="2432304"/>
            <a:ext cx="731520" cy="475488"/>
          </a:xfrm>
          <a:prstGeom prst="rect">
            <a:avLst/>
          </a:prstGeom>
          <a:solidFill>
            <a:srgbClr val="00B4D8"/>
          </a:solidFill>
          <a:ln w="12700">
            <a:solidFill>
              <a:srgbClr val="00B4D8"/>
            </a:solidFill>
            <a:prstDash val="solid"/>
          </a:ln>
        </p:spPr>
        <p:txBody>
          <a:bodyPr/>
          <a:lstStyle/>
          <a:p>
            <a:endParaRPr lang="ar-SA"/>
          </a:p>
        </p:txBody>
      </p:sp>
      <p:sp>
        <p:nvSpPr>
          <p:cNvPr id="37" name="Text 35"/>
          <p:cNvSpPr/>
          <p:nvPr/>
        </p:nvSpPr>
        <p:spPr>
          <a:xfrm>
            <a:off x="5184648" y="2432304"/>
            <a:ext cx="731520" cy="475488"/>
          </a:xfrm>
          <a:prstGeom prst="rect">
            <a:avLst/>
          </a:prstGeom>
          <a:noFill/>
          <a:ln/>
        </p:spPr>
        <p:txBody>
          <a:bodyPr wrap="square" lIns="0" tIns="0" rIns="0" bIns="0" rtlCol="0" anchor="ctr"/>
          <a:lstStyle/>
          <a:p>
            <a:pPr marL="0" indent="0" algn="ctr">
              <a:buNone/>
            </a:pPr>
            <a:r>
              <a:rPr lang="en-US" sz="1100" b="1" dirty="0">
                <a:solidFill>
                  <a:srgbClr val="0A192F"/>
                </a:solidFill>
                <a:latin typeface="Arial" pitchFamily="34" charset="0"/>
                <a:ea typeface="Arial" pitchFamily="34" charset="-122"/>
                <a:cs typeface="Arial" pitchFamily="34" charset="-120"/>
              </a:rPr>
              <a:t>ZDP</a:t>
            </a:r>
            <a:endParaRPr lang="en-US" sz="1100" dirty="0"/>
          </a:p>
        </p:txBody>
      </p:sp>
      <p:sp>
        <p:nvSpPr>
          <p:cNvPr id="38" name="Text 36"/>
          <p:cNvSpPr/>
          <p:nvPr/>
        </p:nvSpPr>
        <p:spPr>
          <a:xfrm>
            <a:off x="5971032" y="2432304"/>
            <a:ext cx="2633472" cy="475488"/>
          </a:xfrm>
          <a:prstGeom prst="rect">
            <a:avLst/>
          </a:prstGeom>
          <a:noFill/>
          <a:ln/>
        </p:spPr>
        <p:txBody>
          <a:bodyPr wrap="square" lIns="0" tIns="0" rIns="0" bIns="0" rtlCol="0" anchor="ctr"/>
          <a:lstStyle/>
          <a:p>
            <a:pPr marL="0" indent="0" algn="r" rtl="1">
              <a:buNone/>
            </a:pPr>
            <a:r>
              <a:rPr lang="en-US" sz="1200" dirty="0">
                <a:solidFill>
                  <a:srgbClr val="E8F4F8"/>
                </a:solidFill>
                <a:latin typeface="Arial" pitchFamily="34" charset="0"/>
                <a:ea typeface="Arial" pitchFamily="34" charset="-122"/>
                <a:cs typeface="Arial" pitchFamily="34" charset="-120"/>
              </a:rPr>
              <a:t>Zero-Defect Protocol — يمنع تلوث البيانات بين التخصصات</a:t>
            </a:r>
            <a:endParaRPr lang="en-US" sz="1200" dirty="0"/>
          </a:p>
        </p:txBody>
      </p:sp>
      <p:sp>
        <p:nvSpPr>
          <p:cNvPr id="39" name="Shape 37"/>
          <p:cNvSpPr/>
          <p:nvPr/>
        </p:nvSpPr>
        <p:spPr>
          <a:xfrm>
            <a:off x="5184648" y="2999232"/>
            <a:ext cx="3465576" cy="475488"/>
          </a:xfrm>
          <a:prstGeom prst="rect">
            <a:avLst/>
          </a:prstGeom>
          <a:solidFill>
            <a:srgbClr val="0A192F"/>
          </a:solidFill>
          <a:ln w="12700">
            <a:solidFill>
              <a:srgbClr val="334455"/>
            </a:solidFill>
            <a:prstDash val="solid"/>
          </a:ln>
        </p:spPr>
        <p:txBody>
          <a:bodyPr/>
          <a:lstStyle/>
          <a:p>
            <a:endParaRPr lang="ar-SA"/>
          </a:p>
        </p:txBody>
      </p:sp>
      <p:sp>
        <p:nvSpPr>
          <p:cNvPr id="40" name="Shape 38"/>
          <p:cNvSpPr/>
          <p:nvPr/>
        </p:nvSpPr>
        <p:spPr>
          <a:xfrm>
            <a:off x="5184648" y="2999232"/>
            <a:ext cx="731520" cy="475488"/>
          </a:xfrm>
          <a:prstGeom prst="rect">
            <a:avLst/>
          </a:prstGeom>
          <a:solidFill>
            <a:srgbClr val="00B4D8"/>
          </a:solidFill>
          <a:ln w="12700">
            <a:solidFill>
              <a:srgbClr val="00B4D8"/>
            </a:solidFill>
            <a:prstDash val="solid"/>
          </a:ln>
        </p:spPr>
        <p:txBody>
          <a:bodyPr/>
          <a:lstStyle/>
          <a:p>
            <a:endParaRPr lang="ar-SA"/>
          </a:p>
        </p:txBody>
      </p:sp>
      <p:sp>
        <p:nvSpPr>
          <p:cNvPr id="41" name="Text 39"/>
          <p:cNvSpPr/>
          <p:nvPr/>
        </p:nvSpPr>
        <p:spPr>
          <a:xfrm>
            <a:off x="5184648" y="2999232"/>
            <a:ext cx="731520" cy="475488"/>
          </a:xfrm>
          <a:prstGeom prst="rect">
            <a:avLst/>
          </a:prstGeom>
          <a:noFill/>
          <a:ln/>
        </p:spPr>
        <p:txBody>
          <a:bodyPr wrap="square" lIns="0" tIns="0" rIns="0" bIns="0" rtlCol="0" anchor="ctr"/>
          <a:lstStyle/>
          <a:p>
            <a:pPr marL="0" indent="0" algn="ctr">
              <a:buNone/>
            </a:pPr>
            <a:r>
              <a:rPr lang="en-US" sz="1100" b="1" dirty="0">
                <a:solidFill>
                  <a:srgbClr val="0A192F"/>
                </a:solidFill>
                <a:latin typeface="Arial" pitchFamily="34" charset="0"/>
                <a:ea typeface="Arial" pitchFamily="34" charset="-122"/>
                <a:cs typeface="Arial" pitchFamily="34" charset="-120"/>
              </a:rPr>
              <a:t>UP</a:t>
            </a:r>
            <a:endParaRPr lang="en-US" sz="1100" dirty="0"/>
          </a:p>
        </p:txBody>
      </p:sp>
      <p:sp>
        <p:nvSpPr>
          <p:cNvPr id="42" name="Text 40"/>
          <p:cNvSpPr/>
          <p:nvPr/>
        </p:nvSpPr>
        <p:spPr>
          <a:xfrm>
            <a:off x="5971032" y="2999232"/>
            <a:ext cx="2633472" cy="475488"/>
          </a:xfrm>
          <a:prstGeom prst="rect">
            <a:avLst/>
          </a:prstGeom>
          <a:noFill/>
          <a:ln/>
        </p:spPr>
        <p:txBody>
          <a:bodyPr wrap="square" lIns="0" tIns="0" rIns="0" bIns="0" rtlCol="0" anchor="ctr"/>
          <a:lstStyle/>
          <a:p>
            <a:pPr marL="0" indent="0" algn="r" rtl="1">
              <a:buNone/>
            </a:pPr>
            <a:r>
              <a:rPr lang="en-US" sz="1200" dirty="0">
                <a:solidFill>
                  <a:srgbClr val="E8F4F8"/>
                </a:solidFill>
                <a:latin typeface="Arial" pitchFamily="34" charset="0"/>
                <a:ea typeface="Arial" pitchFamily="34" charset="-122"/>
                <a:cs typeface="Arial" pitchFamily="34" charset="-120"/>
              </a:rPr>
              <a:t>نظام Upvotes لتصعيد أفضل الإثراءات بتقييم الطلاب</a:t>
            </a:r>
            <a:endParaRPr lang="en-US" sz="1200" dirty="0"/>
          </a:p>
        </p:txBody>
      </p:sp>
      <p:sp>
        <p:nvSpPr>
          <p:cNvPr id="43" name="Shape 41"/>
          <p:cNvSpPr/>
          <p:nvPr/>
        </p:nvSpPr>
        <p:spPr>
          <a:xfrm>
            <a:off x="5184648" y="3566160"/>
            <a:ext cx="3465576" cy="475488"/>
          </a:xfrm>
          <a:prstGeom prst="rect">
            <a:avLst/>
          </a:prstGeom>
          <a:solidFill>
            <a:srgbClr val="0A192F"/>
          </a:solidFill>
          <a:ln w="12700">
            <a:solidFill>
              <a:srgbClr val="334455"/>
            </a:solidFill>
            <a:prstDash val="solid"/>
          </a:ln>
        </p:spPr>
        <p:txBody>
          <a:bodyPr/>
          <a:lstStyle/>
          <a:p>
            <a:endParaRPr lang="ar-SA"/>
          </a:p>
        </p:txBody>
      </p:sp>
      <p:sp>
        <p:nvSpPr>
          <p:cNvPr id="44" name="Shape 42"/>
          <p:cNvSpPr/>
          <p:nvPr/>
        </p:nvSpPr>
        <p:spPr>
          <a:xfrm>
            <a:off x="5184648" y="3566160"/>
            <a:ext cx="731520" cy="475488"/>
          </a:xfrm>
          <a:prstGeom prst="rect">
            <a:avLst/>
          </a:prstGeom>
          <a:solidFill>
            <a:srgbClr val="00B4D8"/>
          </a:solidFill>
          <a:ln w="12700">
            <a:solidFill>
              <a:srgbClr val="00B4D8"/>
            </a:solidFill>
            <a:prstDash val="solid"/>
          </a:ln>
        </p:spPr>
        <p:txBody>
          <a:bodyPr/>
          <a:lstStyle/>
          <a:p>
            <a:endParaRPr lang="ar-SA"/>
          </a:p>
        </p:txBody>
      </p:sp>
      <p:sp>
        <p:nvSpPr>
          <p:cNvPr id="45" name="Text 43"/>
          <p:cNvSpPr/>
          <p:nvPr/>
        </p:nvSpPr>
        <p:spPr>
          <a:xfrm>
            <a:off x="5184648" y="3566160"/>
            <a:ext cx="731520" cy="475488"/>
          </a:xfrm>
          <a:prstGeom prst="rect">
            <a:avLst/>
          </a:prstGeom>
          <a:noFill/>
          <a:ln/>
        </p:spPr>
        <p:txBody>
          <a:bodyPr wrap="square" lIns="0" tIns="0" rIns="0" bIns="0" rtlCol="0" anchor="ctr"/>
          <a:lstStyle/>
          <a:p>
            <a:pPr marL="0" indent="0" algn="ctr">
              <a:buNone/>
            </a:pPr>
            <a:r>
              <a:rPr lang="en-US" sz="1100" b="1" dirty="0">
                <a:solidFill>
                  <a:srgbClr val="0A192F"/>
                </a:solidFill>
                <a:latin typeface="Arial" pitchFamily="34" charset="0"/>
                <a:ea typeface="Arial" pitchFamily="34" charset="-122"/>
                <a:cs typeface="Arial" pitchFamily="34" charset="-120"/>
              </a:rPr>
              <a:t>TRAIL</a:t>
            </a:r>
            <a:endParaRPr lang="en-US" sz="1100" dirty="0"/>
          </a:p>
        </p:txBody>
      </p:sp>
      <p:sp>
        <p:nvSpPr>
          <p:cNvPr id="46" name="Text 44"/>
          <p:cNvSpPr/>
          <p:nvPr/>
        </p:nvSpPr>
        <p:spPr>
          <a:xfrm>
            <a:off x="5971032" y="3566160"/>
            <a:ext cx="2633472" cy="475488"/>
          </a:xfrm>
          <a:prstGeom prst="rect">
            <a:avLst/>
          </a:prstGeom>
          <a:noFill/>
          <a:ln/>
        </p:spPr>
        <p:txBody>
          <a:bodyPr wrap="square" lIns="0" tIns="0" rIns="0" bIns="0" rtlCol="0" anchor="ctr"/>
          <a:lstStyle/>
          <a:p>
            <a:pPr marL="0" indent="0" algn="r" rtl="1">
              <a:buNone/>
            </a:pPr>
            <a:r>
              <a:rPr lang="en-US" sz="1200" dirty="0">
                <a:solidFill>
                  <a:srgbClr val="E8F4F8"/>
                </a:solidFill>
                <a:latin typeface="Arial" pitchFamily="34" charset="0"/>
                <a:ea typeface="Arial" pitchFamily="34" charset="-122"/>
                <a:cs typeface="Arial" pitchFamily="34" charset="-120"/>
              </a:rPr>
              <a:t>سجل مراقبة حي لكل العمليات (Audit Trail)</a:t>
            </a:r>
            <a:endParaRPr lang="en-US" sz="1200" dirty="0"/>
          </a:p>
        </p:txBody>
      </p:sp>
      <p:sp>
        <p:nvSpPr>
          <p:cNvPr id="47" name="Shape 45"/>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a:p>
        </p:txBody>
      </p:sp>
      <p:sp>
        <p:nvSpPr>
          <p:cNvPr id="48" name="Text 46"/>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200" b="1" dirty="0">
                <a:solidFill>
                  <a:srgbClr val="00B4D8"/>
                </a:solidFill>
                <a:latin typeface="Arial" pitchFamily="34" charset="0"/>
                <a:ea typeface="Arial" pitchFamily="34" charset="-122"/>
                <a:cs typeface="Arial" pitchFamily="34" charset="-120"/>
              </a:rPr>
              <a:t>مقرري+</a:t>
            </a:r>
            <a:endParaRPr lang="en-US" sz="1200" dirty="0"/>
          </a:p>
        </p:txBody>
      </p:sp>
      <p:sp>
        <p:nvSpPr>
          <p:cNvPr id="49" name="Text 47"/>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100" dirty="0">
                <a:solidFill>
                  <a:srgbClr val="607080"/>
                </a:solidFill>
                <a:latin typeface="Arial" pitchFamily="34" charset="0"/>
                <a:ea typeface="Arial" pitchFamily="34" charset="-122"/>
                <a:cs typeface="Arial" pitchFamily="34" charset="-120"/>
              </a:rPr>
              <a:t>8 / 14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txBody>
          <a:bodyPr/>
          <a:lstStyle/>
          <a:p>
            <a:endParaRPr lang="ar-SA" sz="1050">
              <a:latin typeface="Montserrat-Arabic" panose="00000500000000000000" pitchFamily="2" charset="-78"/>
              <a:cs typeface="Montserrat-Arabic" panose="00000500000000000000" pitchFamily="2" charset="-78"/>
            </a:endParaRPr>
          </a:p>
        </p:txBody>
      </p:sp>
      <p:sp>
        <p:nvSpPr>
          <p:cNvPr id="3" name="Text 1"/>
          <p:cNvSpPr/>
          <p:nvPr/>
        </p:nvSpPr>
        <p:spPr>
          <a:xfrm>
            <a:off x="457200" y="201168"/>
            <a:ext cx="8229600" cy="731520"/>
          </a:xfrm>
          <a:prstGeom prst="rect">
            <a:avLst/>
          </a:prstGeom>
          <a:noFill/>
          <a:ln/>
        </p:spPr>
        <p:txBody>
          <a:bodyPr wrap="square" lIns="0" tIns="0" rIns="0" bIns="0" rtlCol="0" anchor="ctr"/>
          <a:lstStyle/>
          <a:p>
            <a:pPr marL="0" indent="0" algn="ctr" rtl="1">
              <a:buNone/>
            </a:pPr>
            <a:r>
              <a:rPr lang="en-US" sz="2800" b="1" dirty="0">
                <a:solidFill>
                  <a:srgbClr val="FFFFFF"/>
                </a:solidFill>
                <a:latin typeface="Montserrat-Arabic" panose="00000500000000000000" pitchFamily="2" charset="-78"/>
                <a:ea typeface="Arial" pitchFamily="34" charset="-122"/>
                <a:cs typeface="Montserrat-Arabic" panose="00000500000000000000" pitchFamily="2" charset="-78"/>
              </a:rPr>
              <a:t>شاهد مقرري+ وهي تعمل</a:t>
            </a:r>
            <a:endParaRPr lang="en-US" sz="2800" dirty="0">
              <a:latin typeface="Montserrat-Arabic" panose="00000500000000000000" pitchFamily="2" charset="-78"/>
              <a:cs typeface="Montserrat-Arabic" panose="00000500000000000000" pitchFamily="2" charset="-78"/>
            </a:endParaRPr>
          </a:p>
        </p:txBody>
      </p:sp>
      <p:sp>
        <p:nvSpPr>
          <p:cNvPr id="4" name="Text 2"/>
          <p:cNvSpPr/>
          <p:nvPr/>
        </p:nvSpPr>
        <p:spPr>
          <a:xfrm>
            <a:off x="457200" y="914400"/>
            <a:ext cx="8229600" cy="384048"/>
          </a:xfrm>
          <a:prstGeom prst="rect">
            <a:avLst/>
          </a:prstGeom>
          <a:noFill/>
          <a:ln/>
        </p:spPr>
        <p:txBody>
          <a:bodyPr wrap="square" lIns="0" tIns="0" rIns="0" bIns="0" rtlCol="0" anchor="ctr"/>
          <a:lstStyle/>
          <a:p>
            <a:pPr marL="0" indent="0" algn="ctr" rtl="1">
              <a:buNone/>
            </a:pPr>
            <a:r>
              <a:rPr lang="en-US" sz="1200" dirty="0">
                <a:solidFill>
                  <a:srgbClr val="00B4D8"/>
                </a:solidFill>
                <a:latin typeface="Montserrat-Arabic" panose="00000500000000000000" pitchFamily="2" charset="-78"/>
                <a:ea typeface="Arial" pitchFamily="34" charset="-122"/>
                <a:cs typeface="Montserrat-Arabic" panose="00000500000000000000" pitchFamily="2" charset="-78"/>
              </a:rPr>
              <a:t>— عرض حي أمامكم —</a:t>
            </a:r>
            <a:endParaRPr lang="en-US" sz="1200" dirty="0">
              <a:latin typeface="Montserrat-Arabic" panose="00000500000000000000" pitchFamily="2" charset="-78"/>
              <a:cs typeface="Montserrat-Arabic" panose="00000500000000000000" pitchFamily="2" charset="-78"/>
            </a:endParaRPr>
          </a:p>
        </p:txBody>
      </p:sp>
      <p:sp>
        <p:nvSpPr>
          <p:cNvPr id="5" name="Shape 3"/>
          <p:cNvSpPr/>
          <p:nvPr/>
        </p:nvSpPr>
        <p:spPr>
          <a:xfrm>
            <a:off x="704088" y="1965960"/>
            <a:ext cx="7735824" cy="54864"/>
          </a:xfrm>
          <a:prstGeom prst="rect">
            <a:avLst/>
          </a:prstGeom>
          <a:solidFill>
            <a:srgbClr val="F5A623">
              <a:alpha val="40000"/>
            </a:srgbClr>
          </a:solidFill>
          <a:ln w="12700">
            <a:solidFill>
              <a:srgbClr val="F5A623">
                <a:alpha val="40000"/>
              </a:srgbClr>
            </a:solidFill>
            <a:prstDash val="solid"/>
          </a:ln>
        </p:spPr>
        <p:txBody>
          <a:bodyPr/>
          <a:lstStyle/>
          <a:p>
            <a:endParaRPr lang="ar-SA" sz="1050">
              <a:latin typeface="Montserrat-Arabic" panose="00000500000000000000" pitchFamily="2" charset="-78"/>
              <a:cs typeface="Montserrat-Arabic" panose="00000500000000000000" pitchFamily="2" charset="-78"/>
            </a:endParaRPr>
          </a:p>
        </p:txBody>
      </p:sp>
      <p:sp>
        <p:nvSpPr>
          <p:cNvPr id="6" name="Shape 4"/>
          <p:cNvSpPr/>
          <p:nvPr/>
        </p:nvSpPr>
        <p:spPr>
          <a:xfrm>
            <a:off x="892454" y="1664208"/>
            <a:ext cx="658368" cy="658368"/>
          </a:xfrm>
          <a:prstGeom prst="ellipse">
            <a:avLst/>
          </a:prstGeom>
          <a:solidFill>
            <a:srgbClr val="00B4D8"/>
          </a:solidFill>
          <a:ln w="25400">
            <a:solidFill>
              <a:srgbClr val="FFFFFF"/>
            </a:solidFill>
            <a:prstDash val="solid"/>
          </a:ln>
          <a:effectLst>
            <a:outerShdw blurRad="127000" dist="38100" dir="8100000" algn="bl" rotWithShape="0">
              <a:srgbClr val="000000">
                <a:alpha val="12000"/>
              </a:srgbClr>
            </a:outerShdw>
          </a:effectLst>
        </p:spPr>
        <p:txBody>
          <a:bodyPr/>
          <a:lstStyle/>
          <a:p>
            <a:endParaRPr lang="ar-SA" sz="1050">
              <a:latin typeface="Montserrat-Arabic" panose="00000500000000000000" pitchFamily="2" charset="-78"/>
              <a:cs typeface="Montserrat-Arabic" panose="00000500000000000000" pitchFamily="2" charset="-78"/>
            </a:endParaRPr>
          </a:p>
        </p:txBody>
      </p:sp>
      <p:sp>
        <p:nvSpPr>
          <p:cNvPr id="7" name="Text 5"/>
          <p:cNvSpPr/>
          <p:nvPr/>
        </p:nvSpPr>
        <p:spPr>
          <a:xfrm>
            <a:off x="892454" y="1664208"/>
            <a:ext cx="658368" cy="658368"/>
          </a:xfrm>
          <a:prstGeom prst="rect">
            <a:avLst/>
          </a:prstGeom>
          <a:noFill/>
          <a:ln/>
        </p:spPr>
        <p:txBody>
          <a:bodyPr wrap="square" lIns="0" tIns="0" rIns="0" bIns="0" rtlCol="0" anchor="ctr"/>
          <a:lstStyle/>
          <a:p>
            <a:pPr marL="0" indent="0" algn="ctr">
              <a:buNone/>
            </a:pPr>
            <a:r>
              <a:rPr lang="en-US" sz="1200" b="1" dirty="0">
                <a:solidFill>
                  <a:srgbClr val="0A192F"/>
                </a:solidFill>
                <a:latin typeface="Montserrat-Arabic" panose="00000500000000000000" pitchFamily="2" charset="-78"/>
                <a:ea typeface="Arial" pitchFamily="34" charset="-122"/>
                <a:cs typeface="Montserrat-Arabic" panose="00000500000000000000" pitchFamily="2" charset="-78"/>
              </a:rPr>
              <a:t>1</a:t>
            </a:r>
            <a:endParaRPr lang="en-US" sz="1200" dirty="0">
              <a:latin typeface="Montserrat-Arabic" panose="00000500000000000000" pitchFamily="2" charset="-78"/>
              <a:cs typeface="Montserrat-Arabic" panose="00000500000000000000" pitchFamily="2" charset="-78"/>
            </a:endParaRPr>
          </a:p>
        </p:txBody>
      </p:sp>
      <p:sp>
        <p:nvSpPr>
          <p:cNvPr id="8" name="Text 6"/>
          <p:cNvSpPr/>
          <p:nvPr/>
        </p:nvSpPr>
        <p:spPr>
          <a:xfrm>
            <a:off x="618134" y="2423160"/>
            <a:ext cx="1207008" cy="640080"/>
          </a:xfrm>
          <a:prstGeom prst="rect">
            <a:avLst/>
          </a:prstGeom>
          <a:noFill/>
          <a:ln/>
        </p:spPr>
        <p:txBody>
          <a:bodyPr wrap="square" lIns="0" tIns="0" rIns="0" bIns="0" rtlCol="0" anchor="ctr"/>
          <a:lstStyle/>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الطالب يختار</a:t>
            </a:r>
            <a:endParaRPr lang="en-US" sz="1400" dirty="0">
              <a:latin typeface="Montserrat-Arabic" panose="00000500000000000000" pitchFamily="2" charset="-78"/>
              <a:cs typeface="Montserrat-Arabic" panose="00000500000000000000" pitchFamily="2" charset="-78"/>
            </a:endParaRPr>
          </a:p>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الجامعة والتخصص</a:t>
            </a:r>
            <a:endParaRPr lang="en-US" sz="1400" dirty="0">
              <a:latin typeface="Montserrat-Arabic" panose="00000500000000000000" pitchFamily="2" charset="-78"/>
              <a:cs typeface="Montserrat-Arabic" panose="00000500000000000000" pitchFamily="2" charset="-78"/>
            </a:endParaRPr>
          </a:p>
        </p:txBody>
      </p:sp>
      <p:sp>
        <p:nvSpPr>
          <p:cNvPr id="9" name="Shape 7"/>
          <p:cNvSpPr/>
          <p:nvPr/>
        </p:nvSpPr>
        <p:spPr>
          <a:xfrm>
            <a:off x="2567635" y="1664208"/>
            <a:ext cx="658368" cy="658368"/>
          </a:xfrm>
          <a:prstGeom prst="ellipse">
            <a:avLst/>
          </a:prstGeom>
          <a:solidFill>
            <a:srgbClr val="00B4D8"/>
          </a:solidFill>
          <a:ln w="25400">
            <a:solidFill>
              <a:srgbClr val="FFFFFF"/>
            </a:solidFill>
            <a:prstDash val="solid"/>
          </a:ln>
          <a:effectLst>
            <a:outerShdw blurRad="127000" dist="38100" dir="8100000" algn="bl" rotWithShape="0">
              <a:srgbClr val="000000">
                <a:alpha val="12000"/>
              </a:srgbClr>
            </a:outerShdw>
          </a:effectLst>
        </p:spPr>
        <p:txBody>
          <a:bodyPr/>
          <a:lstStyle/>
          <a:p>
            <a:endParaRPr lang="ar-SA" sz="1050">
              <a:latin typeface="Montserrat-Arabic" panose="00000500000000000000" pitchFamily="2" charset="-78"/>
              <a:cs typeface="Montserrat-Arabic" panose="00000500000000000000" pitchFamily="2" charset="-78"/>
            </a:endParaRPr>
          </a:p>
        </p:txBody>
      </p:sp>
      <p:sp>
        <p:nvSpPr>
          <p:cNvPr id="10" name="Text 8"/>
          <p:cNvSpPr/>
          <p:nvPr/>
        </p:nvSpPr>
        <p:spPr>
          <a:xfrm>
            <a:off x="2567635" y="1664208"/>
            <a:ext cx="658368" cy="658368"/>
          </a:xfrm>
          <a:prstGeom prst="rect">
            <a:avLst/>
          </a:prstGeom>
          <a:noFill/>
          <a:ln/>
        </p:spPr>
        <p:txBody>
          <a:bodyPr wrap="square" lIns="0" tIns="0" rIns="0" bIns="0" rtlCol="0" anchor="ctr"/>
          <a:lstStyle/>
          <a:p>
            <a:pPr marL="0" indent="0" algn="ctr">
              <a:buNone/>
            </a:pPr>
            <a:r>
              <a:rPr lang="en-US" sz="1200" b="1" dirty="0">
                <a:solidFill>
                  <a:srgbClr val="0A192F"/>
                </a:solidFill>
                <a:latin typeface="Montserrat-Arabic" panose="00000500000000000000" pitchFamily="2" charset="-78"/>
                <a:ea typeface="Arial" pitchFamily="34" charset="-122"/>
                <a:cs typeface="Montserrat-Arabic" panose="00000500000000000000" pitchFamily="2" charset="-78"/>
              </a:rPr>
              <a:t>2</a:t>
            </a:r>
            <a:endParaRPr lang="en-US" sz="1200" dirty="0">
              <a:latin typeface="Montserrat-Arabic" panose="00000500000000000000" pitchFamily="2" charset="-78"/>
              <a:cs typeface="Montserrat-Arabic" panose="00000500000000000000" pitchFamily="2" charset="-78"/>
            </a:endParaRPr>
          </a:p>
        </p:txBody>
      </p:sp>
      <p:sp>
        <p:nvSpPr>
          <p:cNvPr id="11" name="Text 9"/>
          <p:cNvSpPr/>
          <p:nvPr/>
        </p:nvSpPr>
        <p:spPr>
          <a:xfrm>
            <a:off x="2293315" y="2423160"/>
            <a:ext cx="1207008" cy="640080"/>
          </a:xfrm>
          <a:prstGeom prst="rect">
            <a:avLst/>
          </a:prstGeom>
          <a:noFill/>
          <a:ln/>
        </p:spPr>
        <p:txBody>
          <a:bodyPr wrap="square" lIns="0" tIns="0" rIns="0" bIns="0" rtlCol="0" anchor="ctr"/>
          <a:lstStyle/>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يدخل مقرر</a:t>
            </a:r>
            <a:endParaRPr lang="en-US" sz="1400" dirty="0">
              <a:latin typeface="Montserrat-Arabic" panose="00000500000000000000" pitchFamily="2" charset="-78"/>
              <a:cs typeface="Montserrat-Arabic" panose="00000500000000000000" pitchFamily="2" charset="-78"/>
            </a:endParaRPr>
          </a:p>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قواعد البيانات</a:t>
            </a:r>
            <a:endParaRPr lang="en-US" sz="1400" dirty="0">
              <a:latin typeface="Montserrat-Arabic" panose="00000500000000000000" pitchFamily="2" charset="-78"/>
              <a:cs typeface="Montserrat-Arabic" panose="00000500000000000000" pitchFamily="2" charset="-78"/>
            </a:endParaRPr>
          </a:p>
        </p:txBody>
      </p:sp>
      <p:sp>
        <p:nvSpPr>
          <p:cNvPr id="12" name="Shape 10"/>
          <p:cNvSpPr/>
          <p:nvPr/>
        </p:nvSpPr>
        <p:spPr>
          <a:xfrm>
            <a:off x="4242816" y="1664208"/>
            <a:ext cx="658368" cy="658368"/>
          </a:xfrm>
          <a:prstGeom prst="ellipse">
            <a:avLst/>
          </a:prstGeom>
          <a:solidFill>
            <a:srgbClr val="F5A623"/>
          </a:solidFill>
          <a:ln w="25400">
            <a:solidFill>
              <a:srgbClr val="FFFFFF"/>
            </a:solidFill>
            <a:prstDash val="solid"/>
          </a:ln>
          <a:effectLst>
            <a:outerShdw blurRad="127000" dist="38100" dir="8100000" algn="bl" rotWithShape="0">
              <a:srgbClr val="000000">
                <a:alpha val="12000"/>
              </a:srgbClr>
            </a:outerShdw>
          </a:effectLst>
        </p:spPr>
        <p:txBody>
          <a:bodyPr/>
          <a:lstStyle/>
          <a:p>
            <a:endParaRPr lang="ar-SA" sz="1050">
              <a:latin typeface="Montserrat-Arabic" panose="00000500000000000000" pitchFamily="2" charset="-78"/>
              <a:cs typeface="Montserrat-Arabic" panose="00000500000000000000" pitchFamily="2" charset="-78"/>
            </a:endParaRPr>
          </a:p>
        </p:txBody>
      </p:sp>
      <p:sp>
        <p:nvSpPr>
          <p:cNvPr id="13" name="Text 11"/>
          <p:cNvSpPr/>
          <p:nvPr/>
        </p:nvSpPr>
        <p:spPr>
          <a:xfrm>
            <a:off x="4242816" y="1664208"/>
            <a:ext cx="658368" cy="658368"/>
          </a:xfrm>
          <a:prstGeom prst="rect">
            <a:avLst/>
          </a:prstGeom>
          <a:noFill/>
          <a:ln/>
        </p:spPr>
        <p:txBody>
          <a:bodyPr wrap="square" lIns="0" tIns="0" rIns="0" bIns="0" rtlCol="0" anchor="ctr"/>
          <a:lstStyle/>
          <a:p>
            <a:pPr marL="0" indent="0" algn="ctr">
              <a:buNone/>
            </a:pPr>
            <a:r>
              <a:rPr lang="en-US" sz="1200" b="1" dirty="0">
                <a:solidFill>
                  <a:srgbClr val="0A192F"/>
                </a:solidFill>
                <a:latin typeface="Montserrat-Arabic" panose="00000500000000000000" pitchFamily="2" charset="-78"/>
                <a:ea typeface="Arial" pitchFamily="34" charset="-122"/>
                <a:cs typeface="Montserrat-Arabic" panose="00000500000000000000" pitchFamily="2" charset="-78"/>
              </a:rPr>
              <a:t>3</a:t>
            </a:r>
            <a:endParaRPr lang="en-US" sz="1200" dirty="0">
              <a:latin typeface="Montserrat-Arabic" panose="00000500000000000000" pitchFamily="2" charset="-78"/>
              <a:cs typeface="Montserrat-Arabic" panose="00000500000000000000" pitchFamily="2" charset="-78"/>
            </a:endParaRPr>
          </a:p>
        </p:txBody>
      </p:sp>
      <p:sp>
        <p:nvSpPr>
          <p:cNvPr id="14" name="Text 12"/>
          <p:cNvSpPr/>
          <p:nvPr/>
        </p:nvSpPr>
        <p:spPr>
          <a:xfrm>
            <a:off x="3968496" y="2423160"/>
            <a:ext cx="1207008" cy="640080"/>
          </a:xfrm>
          <a:prstGeom prst="rect">
            <a:avLst/>
          </a:prstGeom>
          <a:noFill/>
          <a:ln/>
        </p:spPr>
        <p:txBody>
          <a:bodyPr wrap="square" lIns="0" tIns="0" rIns="0" bIns="0" rtlCol="0" anchor="ctr"/>
          <a:lstStyle/>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يرى إثراء خبير</a:t>
            </a:r>
            <a:endParaRPr lang="en-US" sz="1400" dirty="0">
              <a:latin typeface="Montserrat-Arabic" panose="00000500000000000000" pitchFamily="2" charset="-78"/>
              <a:cs typeface="Montserrat-Arabic" panose="00000500000000000000" pitchFamily="2" charset="-78"/>
            </a:endParaRPr>
          </a:p>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أرامكو الحي</a:t>
            </a:r>
            <a:endParaRPr lang="en-US" sz="1400" dirty="0">
              <a:latin typeface="Montserrat-Arabic" panose="00000500000000000000" pitchFamily="2" charset="-78"/>
              <a:cs typeface="Montserrat-Arabic" panose="00000500000000000000" pitchFamily="2" charset="-78"/>
            </a:endParaRPr>
          </a:p>
        </p:txBody>
      </p:sp>
      <p:sp>
        <p:nvSpPr>
          <p:cNvPr id="15" name="Shape 13"/>
          <p:cNvSpPr/>
          <p:nvPr/>
        </p:nvSpPr>
        <p:spPr>
          <a:xfrm>
            <a:off x="5917997" y="1664208"/>
            <a:ext cx="658368" cy="658368"/>
          </a:xfrm>
          <a:prstGeom prst="ellipse">
            <a:avLst/>
          </a:prstGeom>
          <a:solidFill>
            <a:srgbClr val="00B4D8"/>
          </a:solidFill>
          <a:ln w="25400">
            <a:solidFill>
              <a:srgbClr val="FFFFFF"/>
            </a:solidFill>
            <a:prstDash val="solid"/>
          </a:ln>
          <a:effectLst>
            <a:outerShdw blurRad="127000" dist="38100" dir="8100000" algn="bl" rotWithShape="0">
              <a:srgbClr val="000000">
                <a:alpha val="12000"/>
              </a:srgbClr>
            </a:outerShdw>
          </a:effectLst>
        </p:spPr>
        <p:txBody>
          <a:bodyPr/>
          <a:lstStyle/>
          <a:p>
            <a:endParaRPr lang="ar-SA" sz="1050">
              <a:latin typeface="Montserrat-Arabic" panose="00000500000000000000" pitchFamily="2" charset="-78"/>
              <a:cs typeface="Montserrat-Arabic" panose="00000500000000000000" pitchFamily="2" charset="-78"/>
            </a:endParaRPr>
          </a:p>
        </p:txBody>
      </p:sp>
      <p:sp>
        <p:nvSpPr>
          <p:cNvPr id="16" name="Text 14"/>
          <p:cNvSpPr/>
          <p:nvPr/>
        </p:nvSpPr>
        <p:spPr>
          <a:xfrm>
            <a:off x="5917997" y="1664208"/>
            <a:ext cx="658368" cy="658368"/>
          </a:xfrm>
          <a:prstGeom prst="rect">
            <a:avLst/>
          </a:prstGeom>
          <a:noFill/>
          <a:ln/>
        </p:spPr>
        <p:txBody>
          <a:bodyPr wrap="square" lIns="0" tIns="0" rIns="0" bIns="0" rtlCol="0" anchor="ctr"/>
          <a:lstStyle/>
          <a:p>
            <a:pPr marL="0" indent="0" algn="ctr">
              <a:buNone/>
            </a:pPr>
            <a:r>
              <a:rPr lang="en-US" sz="1200" b="1" dirty="0">
                <a:solidFill>
                  <a:srgbClr val="0A192F"/>
                </a:solidFill>
                <a:latin typeface="Montserrat-Arabic" panose="00000500000000000000" pitchFamily="2" charset="-78"/>
                <a:ea typeface="Arial" pitchFamily="34" charset="-122"/>
                <a:cs typeface="Montserrat-Arabic" panose="00000500000000000000" pitchFamily="2" charset="-78"/>
              </a:rPr>
              <a:t>4</a:t>
            </a:r>
            <a:endParaRPr lang="en-US" sz="1200" dirty="0">
              <a:latin typeface="Montserrat-Arabic" panose="00000500000000000000" pitchFamily="2" charset="-78"/>
              <a:cs typeface="Montserrat-Arabic" panose="00000500000000000000" pitchFamily="2" charset="-78"/>
            </a:endParaRPr>
          </a:p>
        </p:txBody>
      </p:sp>
      <p:sp>
        <p:nvSpPr>
          <p:cNvPr id="17" name="Text 15"/>
          <p:cNvSpPr/>
          <p:nvPr/>
        </p:nvSpPr>
        <p:spPr>
          <a:xfrm>
            <a:off x="5643677" y="2423160"/>
            <a:ext cx="1207008" cy="640080"/>
          </a:xfrm>
          <a:prstGeom prst="rect">
            <a:avLst/>
          </a:prstGeom>
          <a:noFill/>
          <a:ln/>
        </p:spPr>
        <p:txBody>
          <a:bodyPr wrap="square" lIns="0" tIns="0" rIns="0" bIns="0" rtlCol="0" anchor="ctr"/>
          <a:lstStyle/>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يُكمل تحدياً</a:t>
            </a:r>
            <a:endParaRPr lang="en-US" sz="1400" dirty="0">
              <a:latin typeface="Montserrat-Arabic" panose="00000500000000000000" pitchFamily="2" charset="-78"/>
              <a:cs typeface="Montserrat-Arabic" panose="00000500000000000000" pitchFamily="2" charset="-78"/>
            </a:endParaRPr>
          </a:p>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عملياً تقنياً</a:t>
            </a:r>
            <a:endParaRPr lang="en-US" sz="1400" dirty="0">
              <a:latin typeface="Montserrat-Arabic" panose="00000500000000000000" pitchFamily="2" charset="-78"/>
              <a:cs typeface="Montserrat-Arabic" panose="00000500000000000000" pitchFamily="2" charset="-78"/>
            </a:endParaRPr>
          </a:p>
        </p:txBody>
      </p:sp>
      <p:sp>
        <p:nvSpPr>
          <p:cNvPr id="18" name="Shape 16"/>
          <p:cNvSpPr/>
          <p:nvPr/>
        </p:nvSpPr>
        <p:spPr>
          <a:xfrm>
            <a:off x="7593178" y="1664208"/>
            <a:ext cx="658368" cy="658368"/>
          </a:xfrm>
          <a:prstGeom prst="ellipse">
            <a:avLst/>
          </a:prstGeom>
          <a:solidFill>
            <a:srgbClr val="00B4D8"/>
          </a:solidFill>
          <a:ln w="25400">
            <a:solidFill>
              <a:srgbClr val="FFFFFF"/>
            </a:solidFill>
            <a:prstDash val="solid"/>
          </a:ln>
          <a:effectLst>
            <a:outerShdw blurRad="127000" dist="38100" dir="8100000" algn="bl" rotWithShape="0">
              <a:srgbClr val="000000">
                <a:alpha val="12000"/>
              </a:srgbClr>
            </a:outerShdw>
          </a:effectLst>
        </p:spPr>
        <p:txBody>
          <a:bodyPr/>
          <a:lstStyle/>
          <a:p>
            <a:endParaRPr lang="ar-SA" sz="1050">
              <a:latin typeface="Montserrat-Arabic" panose="00000500000000000000" pitchFamily="2" charset="-78"/>
              <a:cs typeface="Montserrat-Arabic" panose="00000500000000000000" pitchFamily="2" charset="-78"/>
            </a:endParaRPr>
          </a:p>
        </p:txBody>
      </p:sp>
      <p:sp>
        <p:nvSpPr>
          <p:cNvPr id="19" name="Text 17"/>
          <p:cNvSpPr/>
          <p:nvPr/>
        </p:nvSpPr>
        <p:spPr>
          <a:xfrm>
            <a:off x="7593178" y="1664208"/>
            <a:ext cx="658368" cy="658368"/>
          </a:xfrm>
          <a:prstGeom prst="rect">
            <a:avLst/>
          </a:prstGeom>
          <a:noFill/>
          <a:ln/>
        </p:spPr>
        <p:txBody>
          <a:bodyPr wrap="square" lIns="0" tIns="0" rIns="0" bIns="0" rtlCol="0" anchor="ctr"/>
          <a:lstStyle/>
          <a:p>
            <a:pPr marL="0" indent="0" algn="ctr">
              <a:buNone/>
            </a:pPr>
            <a:r>
              <a:rPr lang="en-US" sz="1200" b="1" dirty="0">
                <a:solidFill>
                  <a:srgbClr val="0A192F"/>
                </a:solidFill>
                <a:latin typeface="Montserrat-Arabic" panose="00000500000000000000" pitchFamily="2" charset="-78"/>
                <a:ea typeface="Arial" pitchFamily="34" charset="-122"/>
                <a:cs typeface="Montserrat-Arabic" panose="00000500000000000000" pitchFamily="2" charset="-78"/>
              </a:rPr>
              <a:t>5</a:t>
            </a:r>
            <a:endParaRPr lang="en-US" sz="1200" dirty="0">
              <a:latin typeface="Montserrat-Arabic" panose="00000500000000000000" pitchFamily="2" charset="-78"/>
              <a:cs typeface="Montserrat-Arabic" panose="00000500000000000000" pitchFamily="2" charset="-78"/>
            </a:endParaRPr>
          </a:p>
        </p:txBody>
      </p:sp>
      <p:sp>
        <p:nvSpPr>
          <p:cNvPr id="20" name="Text 18"/>
          <p:cNvSpPr/>
          <p:nvPr/>
        </p:nvSpPr>
        <p:spPr>
          <a:xfrm>
            <a:off x="7318858" y="2423160"/>
            <a:ext cx="1207008" cy="640080"/>
          </a:xfrm>
          <a:prstGeom prst="rect">
            <a:avLst/>
          </a:prstGeom>
          <a:noFill/>
          <a:ln/>
        </p:spPr>
        <p:txBody>
          <a:bodyPr wrap="square" lIns="0" tIns="0" rIns="0" bIns="0" rtlCol="0" anchor="ctr"/>
          <a:lstStyle/>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السيرة الذاتية</a:t>
            </a:r>
            <a:endParaRPr lang="en-US" sz="1400" dirty="0">
              <a:latin typeface="Montserrat-Arabic" panose="00000500000000000000" pitchFamily="2" charset="-78"/>
              <a:cs typeface="Montserrat-Arabic" panose="00000500000000000000" pitchFamily="2" charset="-78"/>
            </a:endParaRPr>
          </a:p>
          <a:p>
            <a:pPr marL="0" indent="0" algn="ctr" rtl="1">
              <a:buNone/>
            </a:pPr>
            <a:r>
              <a:rPr lang="en-US" sz="1400" dirty="0">
                <a:solidFill>
                  <a:srgbClr val="E8F4F8"/>
                </a:solidFill>
                <a:latin typeface="Montserrat-Arabic" panose="00000500000000000000" pitchFamily="2" charset="-78"/>
                <a:ea typeface="Arial" pitchFamily="34" charset="-122"/>
                <a:cs typeface="Montserrat-Arabic" panose="00000500000000000000" pitchFamily="2" charset="-78"/>
              </a:rPr>
              <a:t>تتحدث تلقائياً</a:t>
            </a:r>
            <a:endParaRPr lang="en-US" sz="1400" dirty="0">
              <a:latin typeface="Montserrat-Arabic" panose="00000500000000000000" pitchFamily="2" charset="-78"/>
              <a:cs typeface="Montserrat-Arabic" panose="00000500000000000000" pitchFamily="2" charset="-78"/>
            </a:endParaRPr>
          </a:p>
        </p:txBody>
      </p:sp>
      <p:sp>
        <p:nvSpPr>
          <p:cNvPr id="21" name="Shape 19"/>
          <p:cNvSpPr/>
          <p:nvPr/>
        </p:nvSpPr>
        <p:spPr>
          <a:xfrm>
            <a:off x="408948" y="3122677"/>
            <a:ext cx="8375904" cy="1350253"/>
          </a:xfrm>
          <a:prstGeom prst="rect">
            <a:avLst/>
          </a:prstGeom>
          <a:solidFill>
            <a:srgbClr val="0A192F"/>
          </a:solidFill>
          <a:ln w="25400">
            <a:solidFill>
              <a:srgbClr val="00B4D8"/>
            </a:solidFill>
            <a:prstDash val="solid"/>
          </a:ln>
          <a:effectLst>
            <a:outerShdw blurRad="127000" dist="38100" dir="8100000" algn="bl" rotWithShape="0">
              <a:srgbClr val="000000">
                <a:alpha val="12000"/>
              </a:srgbClr>
            </a:outerShdw>
          </a:effectLst>
        </p:spPr>
        <p:txBody>
          <a:bodyPr/>
          <a:lstStyle/>
          <a:p>
            <a:endParaRPr lang="ar-SA" sz="1050">
              <a:latin typeface="Montserrat-Arabic" panose="00000500000000000000" pitchFamily="2" charset="-78"/>
              <a:cs typeface="Montserrat-Arabic" panose="00000500000000000000" pitchFamily="2" charset="-78"/>
            </a:endParaRPr>
          </a:p>
        </p:txBody>
      </p:sp>
      <p:sp>
        <p:nvSpPr>
          <p:cNvPr id="22" name="Text 20"/>
          <p:cNvSpPr/>
          <p:nvPr/>
        </p:nvSpPr>
        <p:spPr>
          <a:xfrm>
            <a:off x="457200" y="3558530"/>
            <a:ext cx="8010144" cy="438912"/>
          </a:xfrm>
          <a:prstGeom prst="rect">
            <a:avLst/>
          </a:prstGeom>
          <a:noFill/>
          <a:ln/>
        </p:spPr>
        <p:txBody>
          <a:bodyPr wrap="square" lIns="0" tIns="0" rIns="0" bIns="0" rtlCol="0" anchor="ctr"/>
          <a:lstStyle/>
          <a:p>
            <a:pPr marL="0" indent="0" algn="ctr" rtl="1">
              <a:buNone/>
            </a:pPr>
            <a:r>
              <a:rPr lang="en-US" sz="1050" b="1" dirty="0">
                <a:solidFill>
                  <a:srgbClr val="00B4D8"/>
                </a:solidFill>
                <a:latin typeface="Montserrat-Arabic" panose="00000500000000000000" pitchFamily="2" charset="-78"/>
                <a:ea typeface="Arial" pitchFamily="34" charset="-122"/>
                <a:cs typeface="Montserrat-Arabic" panose="00000500000000000000" pitchFamily="2" charset="-78"/>
              </a:rPr>
              <a:t>53 خبيراً محاكياً  |  386+ إثراء </a:t>
            </a:r>
            <a:r>
              <a:rPr lang="en-US" sz="1200" b="1" dirty="0">
                <a:solidFill>
                  <a:srgbClr val="00B4D8"/>
                </a:solidFill>
                <a:latin typeface="Montserrat-Arabic" panose="00000500000000000000" pitchFamily="2" charset="-78"/>
                <a:ea typeface="Arial" pitchFamily="34" charset="-122"/>
                <a:cs typeface="Montserrat-Arabic" panose="00000500000000000000" pitchFamily="2" charset="-78"/>
              </a:rPr>
              <a:t>ديناميكي</a:t>
            </a:r>
            <a:r>
              <a:rPr lang="en-US" sz="1050" b="1" dirty="0">
                <a:solidFill>
                  <a:srgbClr val="00B4D8"/>
                </a:solidFill>
                <a:latin typeface="Montserrat-Arabic" panose="00000500000000000000" pitchFamily="2" charset="-78"/>
                <a:ea typeface="Arial" pitchFamily="34" charset="-122"/>
                <a:cs typeface="Montserrat-Arabic" panose="00000500000000000000" pitchFamily="2" charset="-78"/>
              </a:rPr>
              <a:t>  |  12 مقرراً مُثرى حالياً</a:t>
            </a:r>
            <a:endParaRPr lang="en-US" sz="1050" dirty="0">
              <a:latin typeface="Montserrat-Arabic" panose="00000500000000000000" pitchFamily="2" charset="-78"/>
              <a:cs typeface="Montserrat-Arabic" panose="00000500000000000000" pitchFamily="2" charset="-78"/>
            </a:endParaRPr>
          </a:p>
        </p:txBody>
      </p:sp>
      <p:sp>
        <p:nvSpPr>
          <p:cNvPr id="23" name="Text 21"/>
          <p:cNvSpPr/>
          <p:nvPr/>
        </p:nvSpPr>
        <p:spPr>
          <a:xfrm>
            <a:off x="566928" y="3858768"/>
            <a:ext cx="8010144" cy="365760"/>
          </a:xfrm>
          <a:prstGeom prst="rect">
            <a:avLst/>
          </a:prstGeom>
          <a:noFill/>
          <a:ln/>
        </p:spPr>
        <p:txBody>
          <a:bodyPr wrap="square" lIns="0" tIns="0" rIns="0" bIns="0" rtlCol="0" anchor="ctr"/>
          <a:lstStyle/>
          <a:p>
            <a:pPr marL="0" indent="0" algn="ctr" rtl="1">
              <a:buNone/>
            </a:pPr>
            <a:r>
              <a:rPr lang="en-US" sz="1000" dirty="0">
                <a:solidFill>
                  <a:srgbClr val="F5A623"/>
                </a:solidFill>
                <a:latin typeface="Montserrat-Arabic" panose="00000500000000000000" pitchFamily="2" charset="-78"/>
                <a:ea typeface="Arial" pitchFamily="34" charset="-122"/>
                <a:cs typeface="Montserrat-Arabic" panose="00000500000000000000" pitchFamily="2" charset="-78"/>
              </a:rPr>
              <a:t>المنصة تعمل الآن — جربها بنفسك</a:t>
            </a:r>
            <a:endParaRPr lang="en-US" sz="1000" dirty="0">
              <a:latin typeface="Montserrat-Arabic" panose="00000500000000000000" pitchFamily="2" charset="-78"/>
              <a:cs typeface="Montserrat-Arabic" panose="00000500000000000000" pitchFamily="2" charset="-78"/>
            </a:endParaRPr>
          </a:p>
        </p:txBody>
      </p:sp>
      <p:sp>
        <p:nvSpPr>
          <p:cNvPr id="24" name="Shape 22"/>
          <p:cNvSpPr/>
          <p:nvPr/>
        </p:nvSpPr>
        <p:spPr>
          <a:xfrm>
            <a:off x="0" y="5070348"/>
            <a:ext cx="9144000" cy="73152"/>
          </a:xfrm>
          <a:prstGeom prst="rect">
            <a:avLst/>
          </a:prstGeom>
          <a:solidFill>
            <a:srgbClr val="F5A623"/>
          </a:solidFill>
          <a:ln w="12700">
            <a:solidFill>
              <a:srgbClr val="F5A623"/>
            </a:solidFill>
            <a:prstDash val="solid"/>
          </a:ln>
        </p:spPr>
        <p:txBody>
          <a:bodyPr/>
          <a:lstStyle/>
          <a:p>
            <a:endParaRPr lang="ar-SA" sz="1050">
              <a:latin typeface="Montserrat-Arabic" panose="00000500000000000000" pitchFamily="2" charset="-78"/>
              <a:cs typeface="Montserrat-Arabic" panose="00000500000000000000" pitchFamily="2" charset="-78"/>
            </a:endParaRPr>
          </a:p>
        </p:txBody>
      </p:sp>
      <p:sp>
        <p:nvSpPr>
          <p:cNvPr id="25" name="Text 23"/>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80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800" dirty="0">
              <a:latin typeface="Montserrat-Arabic" panose="00000500000000000000" pitchFamily="2" charset="-78"/>
              <a:cs typeface="Montserrat-Arabic" panose="00000500000000000000" pitchFamily="2" charset="-78"/>
            </a:endParaRPr>
          </a:p>
        </p:txBody>
      </p:sp>
      <p:sp>
        <p:nvSpPr>
          <p:cNvPr id="26" name="Text 24"/>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700" dirty="0">
                <a:solidFill>
                  <a:srgbClr val="607080"/>
                </a:solidFill>
                <a:latin typeface="Montserrat-Arabic" panose="00000500000000000000" pitchFamily="2" charset="-78"/>
                <a:ea typeface="Arial" pitchFamily="34" charset="-122"/>
                <a:cs typeface="Montserrat-Arabic" panose="00000500000000000000" pitchFamily="2" charset="-78"/>
              </a:rPr>
              <a:t>9 / 14</a:t>
            </a:r>
            <a:endParaRPr lang="en-US" sz="700" dirty="0">
              <a:latin typeface="Montserrat-Arabic" panose="00000500000000000000" pitchFamily="2" charset="-78"/>
              <a:cs typeface="Montserrat-Arabic" panose="00000500000000000000" pitchFamily="2" charset="-78"/>
            </a:endParaRPr>
          </a:p>
        </p:txBody>
      </p:sp>
      <p:sp>
        <p:nvSpPr>
          <p:cNvPr id="28" name="TextBox 27">
            <a:extLst>
              <a:ext uri="{FF2B5EF4-FFF2-40B4-BE49-F238E27FC236}">
                <a16:creationId xmlns:a16="http://schemas.microsoft.com/office/drawing/2014/main" id="{7774974B-E597-A579-6CC1-98B93E1CCCAA}"/>
              </a:ext>
            </a:extLst>
          </p:cNvPr>
          <p:cNvSpPr txBox="1"/>
          <p:nvPr/>
        </p:nvSpPr>
        <p:spPr>
          <a:xfrm>
            <a:off x="994479" y="3328523"/>
            <a:ext cx="7204842" cy="461665"/>
          </a:xfrm>
          <a:prstGeom prst="rect">
            <a:avLst/>
          </a:prstGeom>
          <a:noFill/>
        </p:spPr>
        <p:txBody>
          <a:bodyPr wrap="square">
            <a:spAutoFit/>
          </a:bodyPr>
          <a:lstStyle/>
          <a:p>
            <a:pPr algn="ctr"/>
            <a:r>
              <a:rPr lang="en-US" sz="1200" dirty="0">
                <a:solidFill>
                  <a:schemeClr val="bg1"/>
                </a:solidFill>
                <a:latin typeface="Montserrat-Arabic" panose="00000500000000000000" pitchFamily="2" charset="-78"/>
                <a:cs typeface="Montserrat-Arabic" panose="00000500000000000000" pitchFamily="2" charset="-78"/>
              </a:rPr>
              <a:t>👉 </a:t>
            </a:r>
            <a:r>
              <a:rPr lang="ar-SA" sz="1200" b="1" dirty="0">
                <a:solidFill>
                  <a:schemeClr val="bg1"/>
                </a:solidFill>
                <a:latin typeface="Montserrat-Arabic" panose="00000500000000000000" pitchFamily="2" charset="-78"/>
                <a:cs typeface="Montserrat-Arabic" panose="00000500000000000000" pitchFamily="2" charset="-78"/>
              </a:rPr>
              <a:t>مقرري+ لا يعرض لك محتوى عشوائي… بل تجربة مصممة خصيصًا لك</a:t>
            </a:r>
            <a:endParaRPr lang="ar-SA" sz="1200" dirty="0">
              <a:solidFill>
                <a:schemeClr val="bg1"/>
              </a:solidFill>
              <a:latin typeface="Montserrat-Arabic" panose="00000500000000000000" pitchFamily="2" charset="-78"/>
              <a:cs typeface="Montserrat-Arabic" panose="00000500000000000000" pitchFamily="2" charset="-78"/>
            </a:endParaRPr>
          </a:p>
          <a:p>
            <a:pPr algn="ctr"/>
            <a:endParaRPr lang="en-US" sz="1200" dirty="0">
              <a:solidFill>
                <a:schemeClr val="bg1"/>
              </a:solidFill>
              <a:latin typeface="Montserrat-Arabic" panose="00000500000000000000" pitchFamily="2" charset="-78"/>
              <a:cs typeface="Montserrat-Arabic" panose="00000500000000000000" pitchFamily="2" charset="-7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B4D8"/>
          </a:solidFill>
          <a:ln w="12700">
            <a:solidFill>
              <a:srgbClr val="00B4D8"/>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3" name="Text 1"/>
          <p:cNvSpPr/>
          <p:nvPr/>
        </p:nvSpPr>
        <p:spPr>
          <a:xfrm>
            <a:off x="384048" y="0"/>
            <a:ext cx="8375904" cy="457200"/>
          </a:xfrm>
          <a:prstGeom prst="rect">
            <a:avLst/>
          </a:prstGeom>
          <a:noFill/>
          <a:ln/>
        </p:spPr>
        <p:txBody>
          <a:bodyPr wrap="square" lIns="0" tIns="0" rIns="0" bIns="0" rtlCol="0" anchor="ctr"/>
          <a:lstStyle/>
          <a:p>
            <a:pPr marL="0" indent="0" algn="r" rtl="1">
              <a:buNone/>
            </a:pPr>
            <a:r>
              <a:rPr lang="en-US" b="1" dirty="0">
                <a:solidFill>
                  <a:srgbClr val="0A192F"/>
                </a:solidFill>
                <a:latin typeface="Montserrat-Arabic" panose="00000500000000000000" pitchFamily="2" charset="-78"/>
                <a:ea typeface="Arial" pitchFamily="34" charset="-122"/>
                <a:cs typeface="Montserrat-Arabic" panose="00000500000000000000" pitchFamily="2" charset="-78"/>
              </a:rPr>
              <a:t>ارتباطنا بتحديات الهاكاثون — المسار الأول | ارتباط 100%</a:t>
            </a:r>
            <a:endParaRPr lang="en-US" dirty="0">
              <a:latin typeface="Montserrat-Arabic" panose="00000500000000000000" pitchFamily="2" charset="-78"/>
              <a:cs typeface="Montserrat-Arabic" panose="00000500000000000000" pitchFamily="2" charset="-78"/>
            </a:endParaRPr>
          </a:p>
        </p:txBody>
      </p:sp>
      <p:sp>
        <p:nvSpPr>
          <p:cNvPr id="4" name="Shape 2"/>
          <p:cNvSpPr/>
          <p:nvPr/>
        </p:nvSpPr>
        <p:spPr>
          <a:xfrm>
            <a:off x="384048" y="566928"/>
            <a:ext cx="8375904" cy="530352"/>
          </a:xfrm>
          <a:prstGeom prst="rect">
            <a:avLst/>
          </a:prstGeom>
          <a:solidFill>
            <a:srgbClr val="0A192F"/>
          </a:solidFill>
          <a:ln w="12700">
            <a:solidFill>
              <a:srgbClr val="0A192F"/>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5" name="Text 3"/>
          <p:cNvSpPr/>
          <p:nvPr/>
        </p:nvSpPr>
        <p:spPr>
          <a:xfrm>
            <a:off x="2377561" y="566928"/>
            <a:ext cx="8010144" cy="475488"/>
          </a:xfrm>
          <a:prstGeom prst="rect">
            <a:avLst/>
          </a:prstGeom>
          <a:noFill/>
          <a:ln/>
        </p:spPr>
        <p:txBody>
          <a:bodyPr wrap="square" lIns="0" tIns="0" rIns="0" bIns="0" rtlCol="0" anchor="ctr"/>
          <a:lstStyle/>
          <a:p>
            <a:pPr marL="0" indent="0" algn="ctr" rtl="1">
              <a:buNone/>
            </a:pPr>
            <a:r>
              <a:rPr lang="en-US" sz="1400" b="1" dirty="0">
                <a:solidFill>
                  <a:srgbClr val="FFFFFF"/>
                </a:solidFill>
                <a:latin typeface="Montserrat-Arabic" panose="00000500000000000000" pitchFamily="2" charset="-78"/>
                <a:ea typeface="Arial" pitchFamily="34" charset="-122"/>
                <a:cs typeface="Montserrat-Arabic" panose="00000500000000000000" pitchFamily="2" charset="-78"/>
              </a:rPr>
              <a:t>المسار الأول: تجربة تعليمية ذكية قائمة على البيانات</a:t>
            </a:r>
            <a:endParaRPr lang="en-US" sz="1400" dirty="0">
              <a:latin typeface="Montserrat-Arabic" panose="00000500000000000000" pitchFamily="2" charset="-78"/>
              <a:cs typeface="Montserrat-Arabic" panose="00000500000000000000" pitchFamily="2" charset="-78"/>
            </a:endParaRPr>
          </a:p>
        </p:txBody>
      </p:sp>
      <p:sp>
        <p:nvSpPr>
          <p:cNvPr id="6" name="Shape 4"/>
          <p:cNvSpPr/>
          <p:nvPr/>
        </p:nvSpPr>
        <p:spPr>
          <a:xfrm>
            <a:off x="384048" y="1234440"/>
            <a:ext cx="8375904" cy="868680"/>
          </a:xfrm>
          <a:prstGeom prst="rect">
            <a:avLst/>
          </a:prstGeom>
          <a:solidFill>
            <a:srgbClr val="FFFFFF"/>
          </a:solidFill>
          <a:ln w="12700">
            <a:solidFill>
              <a:srgbClr val="E0EAF0"/>
            </a:solidFill>
            <a:prstDash val="solid"/>
          </a:ln>
          <a:effectLst>
            <a:outerShdw blurRad="177800" dist="25400" dir="8100000" algn="bl" rotWithShape="0">
              <a:srgbClr val="000000">
                <a:alpha val="10000"/>
              </a:srgbClr>
            </a:outerShdw>
          </a:effectLst>
        </p:spPr>
        <p:txBody>
          <a:bodyPr/>
          <a:lstStyle/>
          <a:p>
            <a:endParaRPr lang="ar-SA" sz="1400">
              <a:latin typeface="Montserrat-Arabic" panose="00000500000000000000" pitchFamily="2" charset="-78"/>
              <a:cs typeface="Montserrat-Arabic" panose="00000500000000000000" pitchFamily="2" charset="-78"/>
            </a:endParaRPr>
          </a:p>
        </p:txBody>
      </p:sp>
      <p:sp>
        <p:nvSpPr>
          <p:cNvPr id="7" name="Shape 5"/>
          <p:cNvSpPr/>
          <p:nvPr/>
        </p:nvSpPr>
        <p:spPr>
          <a:xfrm>
            <a:off x="384048" y="1234440"/>
            <a:ext cx="91440" cy="868680"/>
          </a:xfrm>
          <a:prstGeom prst="rect">
            <a:avLst/>
          </a:prstGeom>
          <a:solidFill>
            <a:srgbClr val="EF476F"/>
          </a:solidFill>
          <a:ln w="12700">
            <a:solidFill>
              <a:srgbClr val="EF476F"/>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8" name="Text 6"/>
          <p:cNvSpPr/>
          <p:nvPr/>
        </p:nvSpPr>
        <p:spPr>
          <a:xfrm>
            <a:off x="6748272" y="1289304"/>
            <a:ext cx="1828800" cy="320040"/>
          </a:xfrm>
          <a:prstGeom prst="rect">
            <a:avLst/>
          </a:prstGeom>
          <a:noFill/>
          <a:ln/>
        </p:spPr>
        <p:txBody>
          <a:bodyPr wrap="square" lIns="0" tIns="0" rIns="0" bIns="0" rtlCol="0" anchor="ctr"/>
          <a:lstStyle/>
          <a:p>
            <a:pPr marL="0" indent="0" algn="r" rtl="1">
              <a:buNone/>
            </a:pPr>
            <a:r>
              <a:rPr lang="en-US" sz="1100" b="1" dirty="0">
                <a:solidFill>
                  <a:srgbClr val="EF476F"/>
                </a:solidFill>
                <a:latin typeface="Montserrat-Arabic" panose="00000500000000000000" pitchFamily="2" charset="-78"/>
                <a:ea typeface="Arial" pitchFamily="34" charset="-122"/>
                <a:cs typeface="Montserrat-Arabic" panose="00000500000000000000" pitchFamily="2" charset="-78"/>
              </a:rPr>
              <a:t>التحدي الأول</a:t>
            </a:r>
            <a:endParaRPr lang="en-US" sz="1100" dirty="0">
              <a:latin typeface="Montserrat-Arabic" panose="00000500000000000000" pitchFamily="2" charset="-78"/>
              <a:cs typeface="Montserrat-Arabic" panose="00000500000000000000" pitchFamily="2" charset="-78"/>
            </a:endParaRPr>
          </a:p>
        </p:txBody>
      </p:sp>
      <p:sp>
        <p:nvSpPr>
          <p:cNvPr id="9" name="Text 7"/>
          <p:cNvSpPr/>
          <p:nvPr/>
        </p:nvSpPr>
        <p:spPr>
          <a:xfrm>
            <a:off x="548640" y="1289304"/>
            <a:ext cx="5669280" cy="320040"/>
          </a:xfrm>
          <a:prstGeom prst="rect">
            <a:avLst/>
          </a:prstGeom>
          <a:noFill/>
          <a:ln/>
        </p:spPr>
        <p:txBody>
          <a:bodyPr wrap="square" lIns="0" tIns="0" rIns="0" bIns="0" rtlCol="0" anchor="ctr"/>
          <a:lstStyle/>
          <a:p>
            <a:pPr marL="0" indent="0" algn="r" rtl="1">
              <a:buNone/>
            </a:pPr>
            <a:r>
              <a:rPr lang="en-US" sz="1100" dirty="0">
                <a:solidFill>
                  <a:srgbClr val="666666"/>
                </a:solidFill>
                <a:latin typeface="Montserrat-Arabic" panose="00000500000000000000" pitchFamily="2" charset="-78"/>
                <a:ea typeface="Arial" pitchFamily="34" charset="-122"/>
                <a:cs typeface="Montserrat-Arabic" panose="00000500000000000000" pitchFamily="2" charset="-78"/>
              </a:rPr>
              <a:t>تحليل الأداء الأكاديمي وتقديم توصيات مخصصة</a:t>
            </a:r>
            <a:endParaRPr lang="en-US" sz="1100" dirty="0">
              <a:latin typeface="Montserrat-Arabic" panose="00000500000000000000" pitchFamily="2" charset="-78"/>
              <a:cs typeface="Montserrat-Arabic" panose="00000500000000000000" pitchFamily="2" charset="-78"/>
            </a:endParaRPr>
          </a:p>
        </p:txBody>
      </p:sp>
      <p:sp>
        <p:nvSpPr>
          <p:cNvPr id="10" name="Text 8"/>
          <p:cNvSpPr/>
          <p:nvPr/>
        </p:nvSpPr>
        <p:spPr>
          <a:xfrm>
            <a:off x="548640" y="1664208"/>
            <a:ext cx="8101584" cy="365760"/>
          </a:xfrm>
          <a:prstGeom prst="rect">
            <a:avLst/>
          </a:prstGeom>
          <a:noFill/>
          <a:ln/>
        </p:spPr>
        <p:txBody>
          <a:bodyPr wrap="square" lIns="0" tIns="0" rIns="0" bIns="0" rtlCol="0" anchor="ctr"/>
          <a:lstStyle/>
          <a:p>
            <a:pPr marL="0" indent="0" algn="r" rtl="1">
              <a:buNone/>
            </a:pPr>
            <a:r>
              <a:rPr lang="en-US" sz="1100" dirty="0">
                <a:solidFill>
                  <a:srgbClr val="005F73"/>
                </a:solidFill>
                <a:latin typeface="Montserrat-Arabic" panose="00000500000000000000" pitchFamily="2" charset="-78"/>
                <a:ea typeface="Arial" pitchFamily="34" charset="-122"/>
                <a:cs typeface="Montserrat-Arabic" panose="00000500000000000000" pitchFamily="2" charset="-78"/>
              </a:rPr>
              <a:t>استجابة مقرري+: محرك التوصيات في مقرري+ يربط الطالب بمساره المهني بناءً على مقرراته وتفاعله مع الإثراءات</a:t>
            </a:r>
            <a:endParaRPr lang="en-US" sz="1100" dirty="0">
              <a:latin typeface="Montserrat-Arabic" panose="00000500000000000000" pitchFamily="2" charset="-78"/>
              <a:cs typeface="Montserrat-Arabic" panose="00000500000000000000" pitchFamily="2" charset="-78"/>
            </a:endParaRPr>
          </a:p>
        </p:txBody>
      </p:sp>
      <p:sp>
        <p:nvSpPr>
          <p:cNvPr id="11" name="Shape 9"/>
          <p:cNvSpPr/>
          <p:nvPr/>
        </p:nvSpPr>
        <p:spPr>
          <a:xfrm>
            <a:off x="384048" y="2240280"/>
            <a:ext cx="8375904" cy="868680"/>
          </a:xfrm>
          <a:prstGeom prst="rect">
            <a:avLst/>
          </a:prstGeom>
          <a:solidFill>
            <a:srgbClr val="FFFFFF"/>
          </a:solidFill>
          <a:ln w="12700">
            <a:solidFill>
              <a:srgbClr val="E0EAF0"/>
            </a:solidFill>
            <a:prstDash val="solid"/>
          </a:ln>
          <a:effectLst>
            <a:outerShdw blurRad="177800" dist="25400" dir="8100000" algn="bl" rotWithShape="0">
              <a:srgbClr val="000000">
                <a:alpha val="10000"/>
              </a:srgbClr>
            </a:outerShdw>
          </a:effectLst>
        </p:spPr>
        <p:txBody>
          <a:bodyPr/>
          <a:lstStyle/>
          <a:p>
            <a:endParaRPr lang="ar-SA" sz="1400">
              <a:latin typeface="Montserrat-Arabic" panose="00000500000000000000" pitchFamily="2" charset="-78"/>
              <a:cs typeface="Montserrat-Arabic" panose="00000500000000000000" pitchFamily="2" charset="-78"/>
            </a:endParaRPr>
          </a:p>
        </p:txBody>
      </p:sp>
      <p:sp>
        <p:nvSpPr>
          <p:cNvPr id="12" name="Shape 10"/>
          <p:cNvSpPr/>
          <p:nvPr/>
        </p:nvSpPr>
        <p:spPr>
          <a:xfrm>
            <a:off x="384048" y="2240280"/>
            <a:ext cx="91440" cy="868680"/>
          </a:xfrm>
          <a:prstGeom prst="rect">
            <a:avLst/>
          </a:prstGeom>
          <a:solidFill>
            <a:srgbClr val="00B4D8"/>
          </a:solidFill>
          <a:ln w="12700">
            <a:solidFill>
              <a:srgbClr val="00B4D8"/>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13" name="Text 11"/>
          <p:cNvSpPr/>
          <p:nvPr/>
        </p:nvSpPr>
        <p:spPr>
          <a:xfrm>
            <a:off x="6748272" y="2295144"/>
            <a:ext cx="1828800" cy="320040"/>
          </a:xfrm>
          <a:prstGeom prst="rect">
            <a:avLst/>
          </a:prstGeom>
          <a:noFill/>
          <a:ln/>
        </p:spPr>
        <p:txBody>
          <a:bodyPr wrap="square" lIns="0" tIns="0" rIns="0" bIns="0" rtlCol="0" anchor="ctr"/>
          <a:lstStyle/>
          <a:p>
            <a:pPr marL="0" indent="0" algn="r" rtl="1">
              <a:buNone/>
            </a:pPr>
            <a:r>
              <a:rPr lang="en-US" sz="1100" b="1" dirty="0">
                <a:solidFill>
                  <a:srgbClr val="00B4D8"/>
                </a:solidFill>
                <a:latin typeface="Montserrat-Arabic" panose="00000500000000000000" pitchFamily="2" charset="-78"/>
                <a:ea typeface="Arial" pitchFamily="34" charset="-122"/>
                <a:cs typeface="Montserrat-Arabic" panose="00000500000000000000" pitchFamily="2" charset="-78"/>
              </a:rPr>
              <a:t>التحدي الثاني</a:t>
            </a:r>
            <a:endParaRPr lang="en-US" sz="1100" dirty="0">
              <a:latin typeface="Montserrat-Arabic" panose="00000500000000000000" pitchFamily="2" charset="-78"/>
              <a:cs typeface="Montserrat-Arabic" panose="00000500000000000000" pitchFamily="2" charset="-78"/>
            </a:endParaRPr>
          </a:p>
        </p:txBody>
      </p:sp>
      <p:sp>
        <p:nvSpPr>
          <p:cNvPr id="14" name="Text 12"/>
          <p:cNvSpPr/>
          <p:nvPr/>
        </p:nvSpPr>
        <p:spPr>
          <a:xfrm>
            <a:off x="548640" y="2295144"/>
            <a:ext cx="5669280" cy="320040"/>
          </a:xfrm>
          <a:prstGeom prst="rect">
            <a:avLst/>
          </a:prstGeom>
          <a:noFill/>
          <a:ln/>
        </p:spPr>
        <p:txBody>
          <a:bodyPr wrap="square" lIns="0" tIns="0" rIns="0" bIns="0" rtlCol="0" anchor="ctr"/>
          <a:lstStyle/>
          <a:p>
            <a:pPr marL="0" indent="0" algn="r" rtl="1">
              <a:buNone/>
            </a:pPr>
            <a:r>
              <a:rPr lang="en-US" sz="1100" dirty="0">
                <a:solidFill>
                  <a:srgbClr val="666666"/>
                </a:solidFill>
                <a:latin typeface="Montserrat-Arabic" panose="00000500000000000000" pitchFamily="2" charset="-78"/>
                <a:ea typeface="Arial" pitchFamily="34" charset="-122"/>
                <a:cs typeface="Montserrat-Arabic" panose="00000500000000000000" pitchFamily="2" charset="-78"/>
              </a:rPr>
              <a:t>الإرشاد الجامعي الذكي والتوجيه المهني</a:t>
            </a:r>
            <a:endParaRPr lang="en-US" sz="1100" dirty="0">
              <a:latin typeface="Montserrat-Arabic" panose="00000500000000000000" pitchFamily="2" charset="-78"/>
              <a:cs typeface="Montserrat-Arabic" panose="00000500000000000000" pitchFamily="2" charset="-78"/>
            </a:endParaRPr>
          </a:p>
        </p:txBody>
      </p:sp>
      <p:sp>
        <p:nvSpPr>
          <p:cNvPr id="15" name="Text 13"/>
          <p:cNvSpPr/>
          <p:nvPr/>
        </p:nvSpPr>
        <p:spPr>
          <a:xfrm>
            <a:off x="548640" y="2670048"/>
            <a:ext cx="8101584" cy="365760"/>
          </a:xfrm>
          <a:prstGeom prst="rect">
            <a:avLst/>
          </a:prstGeom>
          <a:noFill/>
          <a:ln/>
        </p:spPr>
        <p:txBody>
          <a:bodyPr wrap="square" lIns="0" tIns="0" rIns="0" bIns="0" rtlCol="0" anchor="ctr"/>
          <a:lstStyle/>
          <a:p>
            <a:pPr marL="0" indent="0" algn="r" rtl="1">
              <a:buNone/>
            </a:pPr>
            <a:r>
              <a:rPr lang="en-US" sz="1100" dirty="0">
                <a:solidFill>
                  <a:srgbClr val="005F73"/>
                </a:solidFill>
                <a:latin typeface="Montserrat-Arabic" panose="00000500000000000000" pitchFamily="2" charset="-78"/>
                <a:ea typeface="Arial" pitchFamily="34" charset="-122"/>
                <a:cs typeface="Montserrat-Arabic" panose="00000500000000000000" pitchFamily="2" charset="-78"/>
              </a:rPr>
              <a:t>استجابة مقرري+: المسار المهني الذكي يُظهر للطالب الوظائف المرتبطة بمقرراته ويُعدّه عملياً بشهادات وأدوات صناعية</a:t>
            </a:r>
            <a:endParaRPr lang="en-US" sz="1100" dirty="0">
              <a:latin typeface="Montserrat-Arabic" panose="00000500000000000000" pitchFamily="2" charset="-78"/>
              <a:cs typeface="Montserrat-Arabic" panose="00000500000000000000" pitchFamily="2" charset="-78"/>
            </a:endParaRPr>
          </a:p>
        </p:txBody>
      </p:sp>
      <p:sp>
        <p:nvSpPr>
          <p:cNvPr id="16" name="Shape 14"/>
          <p:cNvSpPr/>
          <p:nvPr/>
        </p:nvSpPr>
        <p:spPr>
          <a:xfrm>
            <a:off x="384048" y="3246120"/>
            <a:ext cx="8375904" cy="868680"/>
          </a:xfrm>
          <a:prstGeom prst="rect">
            <a:avLst/>
          </a:prstGeom>
          <a:solidFill>
            <a:srgbClr val="FFFFFF"/>
          </a:solidFill>
          <a:ln w="12700">
            <a:solidFill>
              <a:srgbClr val="E0EAF0"/>
            </a:solidFill>
            <a:prstDash val="solid"/>
          </a:ln>
          <a:effectLst>
            <a:outerShdw blurRad="177800" dist="25400" dir="8100000" algn="bl" rotWithShape="0">
              <a:srgbClr val="000000">
                <a:alpha val="10000"/>
              </a:srgbClr>
            </a:outerShdw>
          </a:effectLst>
        </p:spPr>
        <p:txBody>
          <a:bodyPr/>
          <a:lstStyle/>
          <a:p>
            <a:endParaRPr lang="ar-SA" sz="1400">
              <a:latin typeface="Montserrat-Arabic" panose="00000500000000000000" pitchFamily="2" charset="-78"/>
              <a:cs typeface="Montserrat-Arabic" panose="00000500000000000000" pitchFamily="2" charset="-78"/>
            </a:endParaRPr>
          </a:p>
        </p:txBody>
      </p:sp>
      <p:sp>
        <p:nvSpPr>
          <p:cNvPr id="17" name="Shape 15"/>
          <p:cNvSpPr/>
          <p:nvPr/>
        </p:nvSpPr>
        <p:spPr>
          <a:xfrm>
            <a:off x="384048" y="3246120"/>
            <a:ext cx="91440" cy="868680"/>
          </a:xfrm>
          <a:prstGeom prst="rect">
            <a:avLst/>
          </a:prstGeom>
          <a:solidFill>
            <a:srgbClr val="F5A623"/>
          </a:solidFill>
          <a:ln w="12700">
            <a:solidFill>
              <a:srgbClr val="F5A623"/>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18" name="Text 16"/>
          <p:cNvSpPr/>
          <p:nvPr/>
        </p:nvSpPr>
        <p:spPr>
          <a:xfrm>
            <a:off x="6748272" y="3300984"/>
            <a:ext cx="1828800" cy="320040"/>
          </a:xfrm>
          <a:prstGeom prst="rect">
            <a:avLst/>
          </a:prstGeom>
          <a:noFill/>
          <a:ln/>
        </p:spPr>
        <p:txBody>
          <a:bodyPr wrap="square" lIns="0" tIns="0" rIns="0" bIns="0" rtlCol="0" anchor="ctr"/>
          <a:lstStyle/>
          <a:p>
            <a:pPr marL="0" indent="0" algn="r" rtl="1">
              <a:buNone/>
            </a:pPr>
            <a:r>
              <a:rPr lang="en-US" sz="1100" b="1" dirty="0">
                <a:solidFill>
                  <a:srgbClr val="F5A623"/>
                </a:solidFill>
                <a:latin typeface="Montserrat-Arabic" panose="00000500000000000000" pitchFamily="2" charset="-78"/>
                <a:ea typeface="Arial" pitchFamily="34" charset="-122"/>
                <a:cs typeface="Montserrat-Arabic" panose="00000500000000000000" pitchFamily="2" charset="-78"/>
              </a:rPr>
              <a:t>التحدي الثالث</a:t>
            </a:r>
            <a:endParaRPr lang="en-US" sz="1100" dirty="0">
              <a:latin typeface="Montserrat-Arabic" panose="00000500000000000000" pitchFamily="2" charset="-78"/>
              <a:cs typeface="Montserrat-Arabic" panose="00000500000000000000" pitchFamily="2" charset="-78"/>
            </a:endParaRPr>
          </a:p>
        </p:txBody>
      </p:sp>
      <p:sp>
        <p:nvSpPr>
          <p:cNvPr id="19" name="Text 17"/>
          <p:cNvSpPr/>
          <p:nvPr/>
        </p:nvSpPr>
        <p:spPr>
          <a:xfrm>
            <a:off x="548640" y="3300984"/>
            <a:ext cx="5669280" cy="320040"/>
          </a:xfrm>
          <a:prstGeom prst="rect">
            <a:avLst/>
          </a:prstGeom>
          <a:noFill/>
          <a:ln/>
        </p:spPr>
        <p:txBody>
          <a:bodyPr wrap="square" lIns="0" tIns="0" rIns="0" bIns="0" rtlCol="0" anchor="ctr"/>
          <a:lstStyle/>
          <a:p>
            <a:pPr marL="0" indent="0" algn="r" rtl="1">
              <a:buNone/>
            </a:pPr>
            <a:r>
              <a:rPr lang="en-US" sz="1100" dirty="0">
                <a:solidFill>
                  <a:srgbClr val="666666"/>
                </a:solidFill>
                <a:latin typeface="Montserrat-Arabic" panose="00000500000000000000" pitchFamily="2" charset="-78"/>
                <a:ea typeface="Arial" pitchFamily="34" charset="-122"/>
                <a:cs typeface="Montserrat-Arabic" panose="00000500000000000000" pitchFamily="2" charset="-78"/>
              </a:rPr>
              <a:t>التعاون بين الطلاب والخريجين وقياس تطور المهارات</a:t>
            </a:r>
            <a:endParaRPr lang="en-US" sz="1100" dirty="0">
              <a:latin typeface="Montserrat-Arabic" panose="00000500000000000000" pitchFamily="2" charset="-78"/>
              <a:cs typeface="Montserrat-Arabic" panose="00000500000000000000" pitchFamily="2" charset="-78"/>
            </a:endParaRPr>
          </a:p>
        </p:txBody>
      </p:sp>
      <p:sp>
        <p:nvSpPr>
          <p:cNvPr id="20" name="Text 18"/>
          <p:cNvSpPr/>
          <p:nvPr/>
        </p:nvSpPr>
        <p:spPr>
          <a:xfrm>
            <a:off x="548640" y="3675888"/>
            <a:ext cx="8101584" cy="365760"/>
          </a:xfrm>
          <a:prstGeom prst="rect">
            <a:avLst/>
          </a:prstGeom>
          <a:noFill/>
          <a:ln/>
        </p:spPr>
        <p:txBody>
          <a:bodyPr wrap="square" lIns="0" tIns="0" rIns="0" bIns="0" rtlCol="0" anchor="ctr"/>
          <a:lstStyle/>
          <a:p>
            <a:pPr marL="0" indent="0" algn="r" rtl="1">
              <a:buNone/>
            </a:pPr>
            <a:r>
              <a:rPr lang="en-US" sz="1100" dirty="0">
                <a:solidFill>
                  <a:srgbClr val="005F73"/>
                </a:solidFill>
                <a:latin typeface="Montserrat-Arabic" panose="00000500000000000000" pitchFamily="2" charset="-78"/>
                <a:ea typeface="Arial" pitchFamily="34" charset="-122"/>
                <a:cs typeface="Montserrat-Arabic" panose="00000500000000000000" pitchFamily="2" charset="-78"/>
              </a:rPr>
              <a:t>استجابة مقرري+: منصة مقرري+ تُمكّن الخبراء والخريجين من الإثراء، والطلاب يكتسبون مهارات موثّقة في سيرتهم الذاتية</a:t>
            </a:r>
            <a:endParaRPr lang="en-US" sz="1100" dirty="0">
              <a:latin typeface="Montserrat-Arabic" panose="00000500000000000000" pitchFamily="2" charset="-78"/>
              <a:cs typeface="Montserrat-Arabic" panose="00000500000000000000" pitchFamily="2" charset="-78"/>
            </a:endParaRPr>
          </a:p>
        </p:txBody>
      </p:sp>
      <p:sp>
        <p:nvSpPr>
          <p:cNvPr id="21" name="Shape 19"/>
          <p:cNvSpPr/>
          <p:nvPr/>
        </p:nvSpPr>
        <p:spPr>
          <a:xfrm>
            <a:off x="384048" y="4251960"/>
            <a:ext cx="8375904" cy="512064"/>
          </a:xfrm>
          <a:prstGeom prst="rect">
            <a:avLst/>
          </a:prstGeom>
          <a:solidFill>
            <a:srgbClr val="0A192F"/>
          </a:solidFill>
          <a:ln w="12700">
            <a:solidFill>
              <a:srgbClr val="00B4D8"/>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22" name="Shape 20"/>
          <p:cNvSpPr/>
          <p:nvPr/>
        </p:nvSpPr>
        <p:spPr>
          <a:xfrm>
            <a:off x="384048" y="4251960"/>
            <a:ext cx="73152" cy="512064"/>
          </a:xfrm>
          <a:prstGeom prst="rect">
            <a:avLst/>
          </a:prstGeom>
          <a:solidFill>
            <a:srgbClr val="F5A623"/>
          </a:solidFill>
          <a:ln w="12700">
            <a:solidFill>
              <a:srgbClr val="F5A623"/>
            </a:solidFill>
            <a:prstDash val="solid"/>
          </a:ln>
        </p:spPr>
        <p:txBody>
          <a:bodyPr/>
          <a:lstStyle/>
          <a:p>
            <a:endParaRPr lang="ar-SA" sz="1400">
              <a:latin typeface="Montserrat-Arabic" panose="00000500000000000000" pitchFamily="2" charset="-78"/>
              <a:cs typeface="Montserrat-Arabic" panose="00000500000000000000" pitchFamily="2" charset="-78"/>
            </a:endParaRPr>
          </a:p>
        </p:txBody>
      </p:sp>
      <p:sp>
        <p:nvSpPr>
          <p:cNvPr id="23" name="Text 21"/>
          <p:cNvSpPr/>
          <p:nvPr/>
        </p:nvSpPr>
        <p:spPr>
          <a:xfrm>
            <a:off x="566928" y="4270248"/>
            <a:ext cx="8101584" cy="475488"/>
          </a:xfrm>
          <a:prstGeom prst="rect">
            <a:avLst/>
          </a:prstGeom>
          <a:noFill/>
          <a:ln/>
        </p:spPr>
        <p:txBody>
          <a:bodyPr wrap="square" lIns="0" tIns="0" rIns="0" bIns="0" rtlCol="0" anchor="ctr"/>
          <a:lstStyle/>
          <a:p>
            <a:pPr marL="0" indent="0" algn="r"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مقرري+ تُجيب على التحديات الثلاثة في آنٍ واحد — وتخدم الطالب والجامعة وسوق العمل معاً</a:t>
            </a:r>
            <a:endParaRPr lang="en-US" sz="1100" dirty="0">
              <a:latin typeface="Montserrat-Arabic" panose="00000500000000000000" pitchFamily="2" charset="-78"/>
              <a:cs typeface="Montserrat-Arabic" panose="00000500000000000000" pitchFamily="2" charset="-78"/>
            </a:endParaRPr>
          </a:p>
        </p:txBody>
      </p:sp>
      <p:sp>
        <p:nvSpPr>
          <p:cNvPr id="24" name="Text 22"/>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05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1050" dirty="0">
              <a:latin typeface="Montserrat-Arabic" panose="00000500000000000000" pitchFamily="2" charset="-78"/>
              <a:cs typeface="Montserrat-Arabic" panose="00000500000000000000" pitchFamily="2" charset="-78"/>
            </a:endParaRPr>
          </a:p>
        </p:txBody>
      </p:sp>
      <p:sp>
        <p:nvSpPr>
          <p:cNvPr id="25" name="Text 23"/>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1000" dirty="0">
                <a:solidFill>
                  <a:srgbClr val="AAAAAA"/>
                </a:solidFill>
                <a:latin typeface="Montserrat-Arabic" panose="00000500000000000000" pitchFamily="2" charset="-78"/>
                <a:ea typeface="Arial" pitchFamily="34" charset="-122"/>
                <a:cs typeface="Montserrat-Arabic" panose="00000500000000000000" pitchFamily="2" charset="-78"/>
              </a:rPr>
              <a:t>10 / 14</a:t>
            </a:r>
            <a:endParaRPr lang="en-US" sz="1000" dirty="0">
              <a:latin typeface="Montserrat-Arabic" panose="00000500000000000000" pitchFamily="2" charset="-78"/>
              <a:cs typeface="Montserrat-Arabic" panose="00000500000000000000" pitchFamily="2" charset="-7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3" name="Text 1"/>
          <p:cNvSpPr/>
          <p:nvPr/>
        </p:nvSpPr>
        <p:spPr>
          <a:xfrm>
            <a:off x="384048" y="109728"/>
            <a:ext cx="8375904" cy="438912"/>
          </a:xfrm>
          <a:prstGeom prst="rect">
            <a:avLst/>
          </a:prstGeom>
          <a:noFill/>
          <a:ln/>
        </p:spPr>
        <p:txBody>
          <a:bodyPr wrap="square" lIns="0" tIns="0" rIns="0" bIns="0" rtlCol="0" anchor="ctr"/>
          <a:lstStyle/>
          <a:p>
            <a:pPr marL="0" indent="0" algn="r" rtl="1">
              <a:buNone/>
            </a:pPr>
            <a:r>
              <a:rPr lang="en-US" sz="1600" b="1" dirty="0">
                <a:solidFill>
                  <a:srgbClr val="FFFFFF"/>
                </a:solidFill>
                <a:latin typeface="Montserrat-Arabic" panose="00000500000000000000" pitchFamily="2" charset="-78"/>
                <a:ea typeface="Arial" pitchFamily="34" charset="-122"/>
                <a:cs typeface="Montserrat-Arabic" panose="00000500000000000000" pitchFamily="2" charset="-78"/>
              </a:rPr>
              <a:t>مقرري+ ومنظومة رؤية المملكة 2030</a:t>
            </a:r>
            <a:endParaRPr lang="en-US" sz="1600" dirty="0">
              <a:latin typeface="Montserrat-Arabic" panose="00000500000000000000" pitchFamily="2" charset="-78"/>
              <a:cs typeface="Montserrat-Arabic" panose="00000500000000000000" pitchFamily="2" charset="-78"/>
            </a:endParaRPr>
          </a:p>
        </p:txBody>
      </p:sp>
      <p:sp>
        <p:nvSpPr>
          <p:cNvPr id="4" name="Shape 2"/>
          <p:cNvSpPr/>
          <p:nvPr/>
        </p:nvSpPr>
        <p:spPr>
          <a:xfrm>
            <a:off x="384048" y="658368"/>
            <a:ext cx="8375904" cy="658368"/>
          </a:xfrm>
          <a:prstGeom prst="rect">
            <a:avLst/>
          </a:prstGeom>
          <a:solidFill>
            <a:srgbClr val="0A5C1E"/>
          </a:solidFill>
          <a:ln w="12700">
            <a:solidFill>
              <a:srgbClr val="0A5C1E"/>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5" name="Shape 3"/>
          <p:cNvSpPr/>
          <p:nvPr/>
        </p:nvSpPr>
        <p:spPr>
          <a:xfrm>
            <a:off x="384048" y="658368"/>
            <a:ext cx="91440" cy="658368"/>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6" name="Text 4"/>
          <p:cNvSpPr/>
          <p:nvPr/>
        </p:nvSpPr>
        <p:spPr>
          <a:xfrm>
            <a:off x="585216" y="676656"/>
            <a:ext cx="8055864" cy="621792"/>
          </a:xfrm>
          <a:prstGeom prst="rect">
            <a:avLst/>
          </a:prstGeom>
          <a:noFill/>
          <a:ln/>
        </p:spPr>
        <p:txBody>
          <a:bodyPr wrap="square" lIns="0" tIns="0" rIns="0" bIns="0" rtlCol="0" anchor="ctr"/>
          <a:lstStyle/>
          <a:p>
            <a:pPr marL="0" indent="0" algn="r" rtl="1">
              <a:buNone/>
            </a:pPr>
            <a:r>
              <a:rPr lang="en-US" sz="1200" b="1" dirty="0">
                <a:solidFill>
                  <a:srgbClr val="FFFFFF"/>
                </a:solidFill>
                <a:latin typeface="Montserrat-Arabic" panose="00000500000000000000" pitchFamily="2" charset="-78"/>
                <a:ea typeface="Arial" pitchFamily="34" charset="-122"/>
                <a:cs typeface="Montserrat-Arabic" panose="00000500000000000000" pitchFamily="2" charset="-78"/>
              </a:rPr>
              <a:t>مقرري+ محرك تنفيذي مباشر لبرنامج تنمية </a:t>
            </a:r>
            <a:r>
              <a:rPr lang="en-US" sz="1200" b="1" dirty="0" err="1">
                <a:solidFill>
                  <a:srgbClr val="FFFFFF"/>
                </a:solidFill>
                <a:latin typeface="Montserrat-Arabic" panose="00000500000000000000" pitchFamily="2" charset="-78"/>
                <a:ea typeface="Arial" pitchFamily="34" charset="-122"/>
                <a:cs typeface="Montserrat-Arabic" panose="00000500000000000000" pitchFamily="2" charset="-78"/>
              </a:rPr>
              <a:t>القدرات</a:t>
            </a:r>
            <a:r>
              <a:rPr lang="en-US" sz="1200" b="1" dirty="0">
                <a:solidFill>
                  <a:srgbClr val="FFFFFF"/>
                </a:solidFill>
                <a:latin typeface="Montserrat-Arabic" panose="00000500000000000000" pitchFamily="2" charset="-78"/>
                <a:ea typeface="Arial" pitchFamily="34" charset="-122"/>
                <a:cs typeface="Montserrat-Arabic" panose="00000500000000000000" pitchFamily="2" charset="-78"/>
              </a:rPr>
              <a:t> </a:t>
            </a:r>
            <a:r>
              <a:rPr lang="en-US" sz="1200" b="1" dirty="0" err="1">
                <a:solidFill>
                  <a:srgbClr val="FFFFFF"/>
                </a:solidFill>
                <a:latin typeface="Montserrat-Arabic" panose="00000500000000000000" pitchFamily="2" charset="-78"/>
                <a:ea typeface="Arial" pitchFamily="34" charset="-122"/>
                <a:cs typeface="Montserrat-Arabic" panose="00000500000000000000" pitchFamily="2" charset="-78"/>
              </a:rPr>
              <a:t>البشرية</a:t>
            </a:r>
            <a:r>
              <a:rPr lang="en-US" sz="1200" b="1" dirty="0">
                <a:solidFill>
                  <a:srgbClr val="FFFFFF"/>
                </a:solidFill>
                <a:latin typeface="Montserrat-Arabic" panose="00000500000000000000" pitchFamily="2" charset="-78"/>
                <a:ea typeface="Arial" pitchFamily="34" charset="-122"/>
                <a:cs typeface="Montserrat-Arabic" panose="00000500000000000000" pitchFamily="2" charset="-78"/>
              </a:rPr>
              <a:t> </a:t>
            </a:r>
            <a:r>
              <a:rPr lang="ar-SA" sz="1200" b="1" dirty="0">
                <a:solidFill>
                  <a:srgbClr val="FFFFFF"/>
                </a:solidFill>
                <a:latin typeface="Montserrat-Arabic" panose="00000500000000000000" pitchFamily="2" charset="-78"/>
                <a:ea typeface="Arial" pitchFamily="34" charset="-122"/>
                <a:cs typeface="Montserrat-Arabic" panose="00000500000000000000" pitchFamily="2" charset="-78"/>
              </a:rPr>
              <a:t>ال</a:t>
            </a:r>
            <a:r>
              <a:rPr lang="en-US" sz="1200" b="1" dirty="0" err="1">
                <a:solidFill>
                  <a:srgbClr val="FFFFFF"/>
                </a:solidFill>
                <a:latin typeface="Montserrat-Arabic" panose="00000500000000000000" pitchFamily="2" charset="-78"/>
                <a:ea typeface="Arial" pitchFamily="34" charset="-122"/>
                <a:cs typeface="Montserrat-Arabic" panose="00000500000000000000" pitchFamily="2" charset="-78"/>
              </a:rPr>
              <a:t>رؤية</a:t>
            </a:r>
            <a:r>
              <a:rPr lang="en-US" sz="1200" b="1" dirty="0">
                <a:solidFill>
                  <a:srgbClr val="FFFFFF"/>
                </a:solidFill>
                <a:latin typeface="Montserrat-Arabic" panose="00000500000000000000" pitchFamily="2" charset="-78"/>
                <a:ea typeface="Arial" pitchFamily="34" charset="-122"/>
                <a:cs typeface="Montserrat-Arabic" panose="00000500000000000000" pitchFamily="2" charset="-78"/>
              </a:rPr>
              <a:t> السعودية 2030</a:t>
            </a:r>
            <a:endParaRPr lang="en-US" sz="1200" dirty="0">
              <a:latin typeface="Montserrat-Arabic" panose="00000500000000000000" pitchFamily="2" charset="-78"/>
              <a:cs typeface="Montserrat-Arabic" panose="00000500000000000000" pitchFamily="2" charset="-78"/>
            </a:endParaRPr>
          </a:p>
        </p:txBody>
      </p:sp>
      <p:sp>
        <p:nvSpPr>
          <p:cNvPr id="7" name="Shape 5"/>
          <p:cNvSpPr/>
          <p:nvPr/>
        </p:nvSpPr>
        <p:spPr>
          <a:xfrm>
            <a:off x="384048" y="1444752"/>
            <a:ext cx="2700528" cy="2944368"/>
          </a:xfrm>
          <a:prstGeom prst="rect">
            <a:avLst/>
          </a:prstGeom>
          <a:solidFill>
            <a:srgbClr val="1B5E20"/>
          </a:solidFill>
          <a:ln w="12700">
            <a:solidFill>
              <a:srgbClr val="1B5E20"/>
            </a:solidFill>
            <a:prstDash val="solid"/>
          </a:ln>
          <a:effectLst>
            <a:outerShdw blurRad="127000" dist="38100" dir="8100000" algn="bl" rotWithShape="0">
              <a:srgbClr val="000000">
                <a:alpha val="12000"/>
              </a:srgbClr>
            </a:outerShdw>
          </a:effectLst>
        </p:spPr>
        <p:txBody>
          <a:bodyPr/>
          <a:lstStyle/>
          <a:p>
            <a:endParaRPr lang="ar-SA" sz="1200">
              <a:latin typeface="Montserrat-Arabic" panose="00000500000000000000" pitchFamily="2" charset="-78"/>
              <a:cs typeface="Montserrat-Arabic" panose="00000500000000000000" pitchFamily="2" charset="-78"/>
            </a:endParaRPr>
          </a:p>
        </p:txBody>
      </p:sp>
      <p:sp>
        <p:nvSpPr>
          <p:cNvPr id="8" name="Shape 6"/>
          <p:cNvSpPr/>
          <p:nvPr/>
        </p:nvSpPr>
        <p:spPr>
          <a:xfrm>
            <a:off x="384048" y="1444752"/>
            <a:ext cx="2700528" cy="54864"/>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9" name="Text 7"/>
          <p:cNvSpPr/>
          <p:nvPr/>
        </p:nvSpPr>
        <p:spPr>
          <a:xfrm>
            <a:off x="384048" y="1572768"/>
            <a:ext cx="2700528" cy="502920"/>
          </a:xfrm>
          <a:prstGeom prst="rect">
            <a:avLst/>
          </a:prstGeom>
          <a:noFill/>
          <a:ln/>
        </p:spPr>
        <p:txBody>
          <a:bodyPr wrap="square" lIns="0" tIns="0" rIns="0" bIns="0" rtlCol="0" anchor="ctr"/>
          <a:lstStyle/>
          <a:p>
            <a:pPr marL="0" indent="0" algn="ctr">
              <a:buNone/>
            </a:pPr>
            <a:r>
              <a:rPr lang="en-US" dirty="0">
                <a:solidFill>
                  <a:srgbClr val="000000"/>
                </a:solidFill>
                <a:latin typeface="Montserrat-Arabic" panose="00000500000000000000" pitchFamily="2" charset="-78"/>
                <a:cs typeface="Montserrat-Arabic" panose="00000500000000000000" pitchFamily="2" charset="-78"/>
              </a:rPr>
              <a:t>🎓</a:t>
            </a:r>
            <a:endParaRPr lang="en-US" dirty="0">
              <a:latin typeface="Montserrat-Arabic" panose="00000500000000000000" pitchFamily="2" charset="-78"/>
              <a:cs typeface="Montserrat-Arabic" panose="00000500000000000000" pitchFamily="2" charset="-78"/>
            </a:endParaRPr>
          </a:p>
        </p:txBody>
      </p:sp>
      <p:sp>
        <p:nvSpPr>
          <p:cNvPr id="10" name="Text 8"/>
          <p:cNvSpPr/>
          <p:nvPr/>
        </p:nvSpPr>
        <p:spPr>
          <a:xfrm>
            <a:off x="475488" y="2121408"/>
            <a:ext cx="2517648" cy="475488"/>
          </a:xfrm>
          <a:prstGeom prst="rect">
            <a:avLst/>
          </a:prstGeom>
          <a:noFill/>
          <a:ln/>
        </p:spPr>
        <p:txBody>
          <a:bodyPr wrap="square" lIns="0" tIns="0" rIns="0" bIns="0" rtlCol="0" anchor="ctr"/>
          <a:lstStyle/>
          <a:p>
            <a:pPr marL="0" indent="0" algn="ctr"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تنمية القدرات البشرية</a:t>
            </a:r>
            <a:endParaRPr lang="en-US" sz="1100" dirty="0">
              <a:latin typeface="Montserrat-Arabic" panose="00000500000000000000" pitchFamily="2" charset="-78"/>
              <a:cs typeface="Montserrat-Arabic" panose="00000500000000000000" pitchFamily="2" charset="-78"/>
            </a:endParaRPr>
          </a:p>
        </p:txBody>
      </p:sp>
      <p:sp>
        <p:nvSpPr>
          <p:cNvPr id="11" name="Shape 9"/>
          <p:cNvSpPr/>
          <p:nvPr/>
        </p:nvSpPr>
        <p:spPr>
          <a:xfrm>
            <a:off x="924154" y="2633472"/>
            <a:ext cx="1620317" cy="27432"/>
          </a:xfrm>
          <a:prstGeom prst="rect">
            <a:avLst/>
          </a:prstGeom>
          <a:solidFill>
            <a:srgbClr val="FFFFFF">
              <a:alpha val="50000"/>
            </a:srgbClr>
          </a:solidFill>
          <a:ln w="12700">
            <a:solidFill>
              <a:srgbClr val="FFFFFF">
                <a:alpha val="5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2" name="Text 10"/>
          <p:cNvSpPr/>
          <p:nvPr/>
        </p:nvSpPr>
        <p:spPr>
          <a:xfrm>
            <a:off x="475488" y="2724912"/>
            <a:ext cx="2517648" cy="384048"/>
          </a:xfrm>
          <a:prstGeom prst="rect">
            <a:avLst/>
          </a:prstGeom>
          <a:noFill/>
          <a:ln/>
        </p:spPr>
        <p:txBody>
          <a:bodyPr wrap="square" lIns="0" tIns="0" rIns="0" bIns="0" rtlCol="0" anchor="ctr"/>
          <a:lstStyle/>
          <a:p>
            <a:pPr marL="0" indent="0" algn="ctr" rtl="1">
              <a:buNone/>
            </a:pPr>
            <a:r>
              <a:rPr lang="en-US" sz="1050" dirty="0">
                <a:solidFill>
                  <a:srgbClr val="FFD166"/>
                </a:solidFill>
                <a:latin typeface="Montserrat-Arabic" panose="00000500000000000000" pitchFamily="2" charset="-78"/>
                <a:ea typeface="Arial" pitchFamily="34" charset="-122"/>
                <a:cs typeface="Montserrat-Arabic" panose="00000500000000000000" pitchFamily="2" charset="-78"/>
              </a:rPr>
              <a:t>الهدف: رفع معدلات التوظيف</a:t>
            </a:r>
            <a:endParaRPr lang="en-US" sz="1050" dirty="0">
              <a:latin typeface="Montserrat-Arabic" panose="00000500000000000000" pitchFamily="2" charset="-78"/>
              <a:cs typeface="Montserrat-Arabic" panose="00000500000000000000" pitchFamily="2" charset="-78"/>
            </a:endParaRPr>
          </a:p>
        </p:txBody>
      </p:sp>
      <p:sp>
        <p:nvSpPr>
          <p:cNvPr id="13" name="Text 11"/>
          <p:cNvSpPr/>
          <p:nvPr/>
        </p:nvSpPr>
        <p:spPr>
          <a:xfrm>
            <a:off x="475488" y="3182112"/>
            <a:ext cx="2517648" cy="1051560"/>
          </a:xfrm>
          <a:prstGeom prst="rect">
            <a:avLst/>
          </a:prstGeom>
          <a:noFill/>
          <a:ln/>
        </p:spPr>
        <p:txBody>
          <a:bodyPr wrap="square" lIns="0" tIns="0" rIns="0" bIns="0" rtlCol="0" anchor="ctr"/>
          <a:lstStyle/>
          <a:p>
            <a:pPr marL="0" indent="0" algn="ctr" rtl="1">
              <a:buNone/>
            </a:pPr>
            <a:r>
              <a:rPr lang="en-US" sz="1050" dirty="0">
                <a:solidFill>
                  <a:srgbClr val="CCDDCC"/>
                </a:solidFill>
                <a:latin typeface="Montserrat-Arabic" panose="00000500000000000000" pitchFamily="2" charset="-78"/>
                <a:ea typeface="Arial" pitchFamily="34" charset="-122"/>
                <a:cs typeface="Montserrat-Arabic" panose="00000500000000000000" pitchFamily="2" charset="-78"/>
              </a:rPr>
              <a:t>مقرري+ تُعدّ الطالب مهنياً قبل التخرج</a:t>
            </a:r>
            <a:endParaRPr lang="en-US" sz="1050" dirty="0">
              <a:latin typeface="Montserrat-Arabic" panose="00000500000000000000" pitchFamily="2" charset="-78"/>
              <a:cs typeface="Montserrat-Arabic" panose="00000500000000000000" pitchFamily="2" charset="-78"/>
            </a:endParaRPr>
          </a:p>
        </p:txBody>
      </p:sp>
      <p:sp>
        <p:nvSpPr>
          <p:cNvPr id="14" name="Shape 12"/>
          <p:cNvSpPr/>
          <p:nvPr/>
        </p:nvSpPr>
        <p:spPr>
          <a:xfrm>
            <a:off x="3221736" y="1444752"/>
            <a:ext cx="2700528" cy="2944368"/>
          </a:xfrm>
          <a:prstGeom prst="rect">
            <a:avLst/>
          </a:prstGeom>
          <a:solidFill>
            <a:srgbClr val="0D47A1"/>
          </a:solidFill>
          <a:ln w="12700">
            <a:solidFill>
              <a:srgbClr val="0D47A1"/>
            </a:solidFill>
            <a:prstDash val="solid"/>
          </a:ln>
          <a:effectLst>
            <a:outerShdw blurRad="127000" dist="38100" dir="8100000" algn="bl" rotWithShape="0">
              <a:srgbClr val="000000">
                <a:alpha val="12000"/>
              </a:srgbClr>
            </a:outerShdw>
          </a:effectLst>
        </p:spPr>
        <p:txBody>
          <a:bodyPr/>
          <a:lstStyle/>
          <a:p>
            <a:endParaRPr lang="ar-SA" sz="1200">
              <a:latin typeface="Montserrat-Arabic" panose="00000500000000000000" pitchFamily="2" charset="-78"/>
              <a:cs typeface="Montserrat-Arabic" panose="00000500000000000000" pitchFamily="2" charset="-78"/>
            </a:endParaRPr>
          </a:p>
        </p:txBody>
      </p:sp>
      <p:sp>
        <p:nvSpPr>
          <p:cNvPr id="15" name="Shape 13"/>
          <p:cNvSpPr/>
          <p:nvPr/>
        </p:nvSpPr>
        <p:spPr>
          <a:xfrm>
            <a:off x="3221736" y="1444752"/>
            <a:ext cx="2700528" cy="54864"/>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6" name="Text 14"/>
          <p:cNvSpPr/>
          <p:nvPr/>
        </p:nvSpPr>
        <p:spPr>
          <a:xfrm>
            <a:off x="3221736" y="1572768"/>
            <a:ext cx="2700528" cy="502920"/>
          </a:xfrm>
          <a:prstGeom prst="rect">
            <a:avLst/>
          </a:prstGeom>
          <a:noFill/>
          <a:ln/>
        </p:spPr>
        <p:txBody>
          <a:bodyPr wrap="square" lIns="0" tIns="0" rIns="0" bIns="0" rtlCol="0" anchor="ctr"/>
          <a:lstStyle/>
          <a:p>
            <a:pPr marL="0" indent="0" algn="ctr">
              <a:buNone/>
            </a:pPr>
            <a:r>
              <a:rPr lang="en-US" dirty="0">
                <a:solidFill>
                  <a:srgbClr val="000000"/>
                </a:solidFill>
                <a:latin typeface="Montserrat-Arabic" panose="00000500000000000000" pitchFamily="2" charset="-78"/>
                <a:cs typeface="Montserrat-Arabic" panose="00000500000000000000" pitchFamily="2" charset="-78"/>
              </a:rPr>
              <a:t>🏭</a:t>
            </a:r>
            <a:endParaRPr lang="en-US" dirty="0">
              <a:latin typeface="Montserrat-Arabic" panose="00000500000000000000" pitchFamily="2" charset="-78"/>
              <a:cs typeface="Montserrat-Arabic" panose="00000500000000000000" pitchFamily="2" charset="-78"/>
            </a:endParaRPr>
          </a:p>
        </p:txBody>
      </p:sp>
      <p:sp>
        <p:nvSpPr>
          <p:cNvPr id="17" name="Text 15"/>
          <p:cNvSpPr/>
          <p:nvPr/>
        </p:nvSpPr>
        <p:spPr>
          <a:xfrm>
            <a:off x="3313176" y="2121408"/>
            <a:ext cx="2517648" cy="475488"/>
          </a:xfrm>
          <a:prstGeom prst="rect">
            <a:avLst/>
          </a:prstGeom>
          <a:noFill/>
          <a:ln/>
        </p:spPr>
        <p:txBody>
          <a:bodyPr wrap="square" lIns="0" tIns="0" rIns="0" bIns="0" rtlCol="0" anchor="ctr"/>
          <a:lstStyle/>
          <a:p>
            <a:pPr marL="0" indent="0" algn="ctr"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تطوير القطاع الخاص</a:t>
            </a:r>
            <a:endParaRPr lang="en-US" sz="1100" dirty="0">
              <a:latin typeface="Montserrat-Arabic" panose="00000500000000000000" pitchFamily="2" charset="-78"/>
              <a:cs typeface="Montserrat-Arabic" panose="00000500000000000000" pitchFamily="2" charset="-78"/>
            </a:endParaRPr>
          </a:p>
        </p:txBody>
      </p:sp>
      <p:sp>
        <p:nvSpPr>
          <p:cNvPr id="18" name="Shape 16"/>
          <p:cNvSpPr/>
          <p:nvPr/>
        </p:nvSpPr>
        <p:spPr>
          <a:xfrm>
            <a:off x="3761842" y="2633472"/>
            <a:ext cx="1620317" cy="27432"/>
          </a:xfrm>
          <a:prstGeom prst="rect">
            <a:avLst/>
          </a:prstGeom>
          <a:solidFill>
            <a:srgbClr val="FFFFFF">
              <a:alpha val="50000"/>
            </a:srgbClr>
          </a:solidFill>
          <a:ln w="12700">
            <a:solidFill>
              <a:srgbClr val="FFFFFF">
                <a:alpha val="5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9" name="Text 17"/>
          <p:cNvSpPr/>
          <p:nvPr/>
        </p:nvSpPr>
        <p:spPr>
          <a:xfrm>
            <a:off x="3313176" y="2724912"/>
            <a:ext cx="2517648" cy="384048"/>
          </a:xfrm>
          <a:prstGeom prst="rect">
            <a:avLst/>
          </a:prstGeom>
          <a:noFill/>
          <a:ln/>
        </p:spPr>
        <p:txBody>
          <a:bodyPr wrap="square" lIns="0" tIns="0" rIns="0" bIns="0" rtlCol="0" anchor="ctr"/>
          <a:lstStyle/>
          <a:p>
            <a:pPr marL="0" indent="0" algn="ctr" rtl="1">
              <a:buNone/>
            </a:pPr>
            <a:r>
              <a:rPr lang="en-US" sz="1050" dirty="0">
                <a:solidFill>
                  <a:srgbClr val="FFD166"/>
                </a:solidFill>
                <a:latin typeface="Montserrat-Arabic" panose="00000500000000000000" pitchFamily="2" charset="-78"/>
                <a:ea typeface="Arial" pitchFamily="34" charset="-122"/>
                <a:cs typeface="Montserrat-Arabic" panose="00000500000000000000" pitchFamily="2" charset="-78"/>
              </a:rPr>
              <a:t>الهدف: كفاءات تقنية سعودية</a:t>
            </a:r>
            <a:endParaRPr lang="en-US" sz="1050" dirty="0">
              <a:latin typeface="Montserrat-Arabic" panose="00000500000000000000" pitchFamily="2" charset="-78"/>
              <a:cs typeface="Montserrat-Arabic" panose="00000500000000000000" pitchFamily="2" charset="-78"/>
            </a:endParaRPr>
          </a:p>
        </p:txBody>
      </p:sp>
      <p:sp>
        <p:nvSpPr>
          <p:cNvPr id="20" name="Text 18"/>
          <p:cNvSpPr/>
          <p:nvPr/>
        </p:nvSpPr>
        <p:spPr>
          <a:xfrm>
            <a:off x="3313176" y="3182112"/>
            <a:ext cx="2517648" cy="1051560"/>
          </a:xfrm>
          <a:prstGeom prst="rect">
            <a:avLst/>
          </a:prstGeom>
          <a:noFill/>
          <a:ln/>
        </p:spPr>
        <p:txBody>
          <a:bodyPr wrap="square" lIns="0" tIns="0" rIns="0" bIns="0" rtlCol="0" anchor="ctr"/>
          <a:lstStyle/>
          <a:p>
            <a:pPr marL="0" indent="0" algn="ctr" rtl="1">
              <a:buNone/>
            </a:pPr>
            <a:r>
              <a:rPr lang="en-US" sz="1050" dirty="0">
                <a:solidFill>
                  <a:srgbClr val="CCDDCC"/>
                </a:solidFill>
                <a:latin typeface="Montserrat-Arabic" panose="00000500000000000000" pitchFamily="2" charset="-78"/>
                <a:ea typeface="Arial" pitchFamily="34" charset="-122"/>
                <a:cs typeface="Montserrat-Arabic" panose="00000500000000000000" pitchFamily="2" charset="-78"/>
              </a:rPr>
              <a:t>مقرري+ تُؤهّل الخريجين بأدوات السوق الفعلية</a:t>
            </a:r>
            <a:endParaRPr lang="en-US" sz="1050" dirty="0">
              <a:latin typeface="Montserrat-Arabic" panose="00000500000000000000" pitchFamily="2" charset="-78"/>
              <a:cs typeface="Montserrat-Arabic" panose="00000500000000000000" pitchFamily="2" charset="-78"/>
            </a:endParaRPr>
          </a:p>
        </p:txBody>
      </p:sp>
      <p:sp>
        <p:nvSpPr>
          <p:cNvPr id="21" name="Shape 19"/>
          <p:cNvSpPr/>
          <p:nvPr/>
        </p:nvSpPr>
        <p:spPr>
          <a:xfrm>
            <a:off x="6059424" y="1444752"/>
            <a:ext cx="2700528" cy="2944368"/>
          </a:xfrm>
          <a:prstGeom prst="rect">
            <a:avLst/>
          </a:prstGeom>
          <a:solidFill>
            <a:srgbClr val="4A148C"/>
          </a:solidFill>
          <a:ln w="12700">
            <a:solidFill>
              <a:srgbClr val="4A148C"/>
            </a:solidFill>
            <a:prstDash val="solid"/>
          </a:ln>
          <a:effectLst>
            <a:outerShdw blurRad="127000" dist="38100" dir="8100000" algn="bl" rotWithShape="0">
              <a:srgbClr val="000000">
                <a:alpha val="12000"/>
              </a:srgbClr>
            </a:outerShdw>
          </a:effectLst>
        </p:spPr>
        <p:txBody>
          <a:bodyPr/>
          <a:lstStyle/>
          <a:p>
            <a:endParaRPr lang="ar-SA" sz="1200">
              <a:latin typeface="Montserrat-Arabic" panose="00000500000000000000" pitchFamily="2" charset="-78"/>
              <a:cs typeface="Montserrat-Arabic" panose="00000500000000000000" pitchFamily="2" charset="-78"/>
            </a:endParaRPr>
          </a:p>
        </p:txBody>
      </p:sp>
      <p:sp>
        <p:nvSpPr>
          <p:cNvPr id="22" name="Shape 20"/>
          <p:cNvSpPr/>
          <p:nvPr/>
        </p:nvSpPr>
        <p:spPr>
          <a:xfrm>
            <a:off x="6059424" y="1444752"/>
            <a:ext cx="2700528" cy="54864"/>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23" name="Text 21"/>
          <p:cNvSpPr/>
          <p:nvPr/>
        </p:nvSpPr>
        <p:spPr>
          <a:xfrm>
            <a:off x="6059424" y="1572768"/>
            <a:ext cx="2700528" cy="502920"/>
          </a:xfrm>
          <a:prstGeom prst="rect">
            <a:avLst/>
          </a:prstGeom>
          <a:noFill/>
          <a:ln/>
        </p:spPr>
        <p:txBody>
          <a:bodyPr wrap="square" lIns="0" tIns="0" rIns="0" bIns="0" rtlCol="0" anchor="ctr"/>
          <a:lstStyle/>
          <a:p>
            <a:pPr marL="0" indent="0" algn="ctr">
              <a:buNone/>
            </a:pPr>
            <a:r>
              <a:rPr lang="en-US" dirty="0">
                <a:solidFill>
                  <a:srgbClr val="000000"/>
                </a:solidFill>
                <a:latin typeface="Montserrat-Arabic" panose="00000500000000000000" pitchFamily="2" charset="-78"/>
                <a:cs typeface="Montserrat-Arabic" panose="00000500000000000000" pitchFamily="2" charset="-78"/>
              </a:rPr>
              <a:t>🔗</a:t>
            </a:r>
            <a:endParaRPr lang="en-US" dirty="0">
              <a:latin typeface="Montserrat-Arabic" panose="00000500000000000000" pitchFamily="2" charset="-78"/>
              <a:cs typeface="Montserrat-Arabic" panose="00000500000000000000" pitchFamily="2" charset="-78"/>
            </a:endParaRPr>
          </a:p>
        </p:txBody>
      </p:sp>
      <p:sp>
        <p:nvSpPr>
          <p:cNvPr id="24" name="Text 22"/>
          <p:cNvSpPr/>
          <p:nvPr/>
        </p:nvSpPr>
        <p:spPr>
          <a:xfrm>
            <a:off x="6150864" y="2121408"/>
            <a:ext cx="2517648" cy="475488"/>
          </a:xfrm>
          <a:prstGeom prst="rect">
            <a:avLst/>
          </a:prstGeom>
          <a:noFill/>
          <a:ln/>
        </p:spPr>
        <p:txBody>
          <a:bodyPr wrap="square" lIns="0" tIns="0" rIns="0" bIns="0" rtlCol="0" anchor="ctr"/>
          <a:lstStyle/>
          <a:p>
            <a:pPr marL="0" indent="0" algn="ctr"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الشراكة بين الأكاديمية والصناعة</a:t>
            </a:r>
            <a:endParaRPr lang="en-US" sz="1100" dirty="0">
              <a:latin typeface="Montserrat-Arabic" panose="00000500000000000000" pitchFamily="2" charset="-78"/>
              <a:cs typeface="Montserrat-Arabic" panose="00000500000000000000" pitchFamily="2" charset="-78"/>
            </a:endParaRPr>
          </a:p>
        </p:txBody>
      </p:sp>
      <p:sp>
        <p:nvSpPr>
          <p:cNvPr id="25" name="Shape 23"/>
          <p:cNvSpPr/>
          <p:nvPr/>
        </p:nvSpPr>
        <p:spPr>
          <a:xfrm>
            <a:off x="6599530" y="2633472"/>
            <a:ext cx="1620317" cy="27432"/>
          </a:xfrm>
          <a:prstGeom prst="rect">
            <a:avLst/>
          </a:prstGeom>
          <a:solidFill>
            <a:srgbClr val="FFFFFF">
              <a:alpha val="50000"/>
            </a:srgbClr>
          </a:solidFill>
          <a:ln w="12700">
            <a:solidFill>
              <a:srgbClr val="FFFFFF">
                <a:alpha val="5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26" name="Text 24"/>
          <p:cNvSpPr/>
          <p:nvPr/>
        </p:nvSpPr>
        <p:spPr>
          <a:xfrm>
            <a:off x="6150864" y="2724912"/>
            <a:ext cx="2517648" cy="384048"/>
          </a:xfrm>
          <a:prstGeom prst="rect">
            <a:avLst/>
          </a:prstGeom>
          <a:noFill/>
          <a:ln/>
        </p:spPr>
        <p:txBody>
          <a:bodyPr wrap="square" lIns="0" tIns="0" rIns="0" bIns="0" rtlCol="0" anchor="ctr"/>
          <a:lstStyle/>
          <a:p>
            <a:pPr marL="0" indent="0" algn="ctr" rtl="1">
              <a:buNone/>
            </a:pPr>
            <a:r>
              <a:rPr lang="en-US" sz="1050" dirty="0">
                <a:solidFill>
                  <a:srgbClr val="FFD166"/>
                </a:solidFill>
                <a:latin typeface="Montserrat-Arabic" panose="00000500000000000000" pitchFamily="2" charset="-78"/>
                <a:ea typeface="Arial" pitchFamily="34" charset="-122"/>
                <a:cs typeface="Montserrat-Arabic" panose="00000500000000000000" pitchFamily="2" charset="-78"/>
              </a:rPr>
              <a:t>الهدف: تواصل مستمر وفعّال</a:t>
            </a:r>
            <a:endParaRPr lang="en-US" sz="1050" dirty="0">
              <a:latin typeface="Montserrat-Arabic" panose="00000500000000000000" pitchFamily="2" charset="-78"/>
              <a:cs typeface="Montserrat-Arabic" panose="00000500000000000000" pitchFamily="2" charset="-78"/>
            </a:endParaRPr>
          </a:p>
        </p:txBody>
      </p:sp>
      <p:sp>
        <p:nvSpPr>
          <p:cNvPr id="27" name="Text 25"/>
          <p:cNvSpPr/>
          <p:nvPr/>
        </p:nvSpPr>
        <p:spPr>
          <a:xfrm>
            <a:off x="6150864" y="3182112"/>
            <a:ext cx="2517648" cy="1051560"/>
          </a:xfrm>
          <a:prstGeom prst="rect">
            <a:avLst/>
          </a:prstGeom>
          <a:noFill/>
          <a:ln/>
        </p:spPr>
        <p:txBody>
          <a:bodyPr wrap="square" lIns="0" tIns="0" rIns="0" bIns="0" rtlCol="0" anchor="ctr"/>
          <a:lstStyle/>
          <a:p>
            <a:pPr marL="0" indent="0" algn="ctr" rtl="1">
              <a:buNone/>
            </a:pPr>
            <a:r>
              <a:rPr lang="en-US" sz="1050" dirty="0">
                <a:solidFill>
                  <a:srgbClr val="CCDDCC"/>
                </a:solidFill>
                <a:latin typeface="Montserrat-Arabic" panose="00000500000000000000" pitchFamily="2" charset="-78"/>
                <a:ea typeface="Arial" pitchFamily="34" charset="-122"/>
                <a:cs typeface="Montserrat-Arabic" panose="00000500000000000000" pitchFamily="2" charset="-78"/>
              </a:rPr>
              <a:t>مقرري+ تبني القناة المباشرة بين الجامعات والشركات</a:t>
            </a:r>
            <a:endParaRPr lang="en-US" sz="1050" dirty="0">
              <a:latin typeface="Montserrat-Arabic" panose="00000500000000000000" pitchFamily="2" charset="-78"/>
              <a:cs typeface="Montserrat-Arabic" panose="00000500000000000000" pitchFamily="2" charset="-78"/>
            </a:endParaRPr>
          </a:p>
        </p:txBody>
      </p:sp>
      <p:sp>
        <p:nvSpPr>
          <p:cNvPr id="28" name="Shape 26"/>
          <p:cNvSpPr/>
          <p:nvPr/>
        </p:nvSpPr>
        <p:spPr>
          <a:xfrm>
            <a:off x="0" y="5070348"/>
            <a:ext cx="9144000" cy="73152"/>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29" name="Text 27"/>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00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1000" dirty="0">
              <a:latin typeface="Montserrat-Arabic" panose="00000500000000000000" pitchFamily="2" charset="-78"/>
              <a:cs typeface="Montserrat-Arabic" panose="00000500000000000000" pitchFamily="2" charset="-78"/>
            </a:endParaRPr>
          </a:p>
        </p:txBody>
      </p:sp>
      <p:sp>
        <p:nvSpPr>
          <p:cNvPr id="30" name="Text 28"/>
          <p:cNvSpPr/>
          <p:nvPr/>
        </p:nvSpPr>
        <p:spPr>
          <a:xfrm>
            <a:off x="8229600" y="4773168"/>
            <a:ext cx="640080" cy="228600"/>
          </a:xfrm>
          <a:prstGeom prst="rect">
            <a:avLst/>
          </a:prstGeom>
          <a:noFill/>
          <a:ln/>
        </p:spPr>
        <p:txBody>
          <a:bodyPr wrap="square" lIns="0" tIns="0" rIns="0" bIns="0" rtlCol="0" anchor="ctr"/>
          <a:lstStyle/>
          <a:p>
            <a:pPr marL="0" indent="0" algn="r">
              <a:buNone/>
            </a:pPr>
            <a:r>
              <a:rPr lang="en-US" sz="900" dirty="0">
                <a:solidFill>
                  <a:srgbClr val="607080"/>
                </a:solidFill>
                <a:latin typeface="Montserrat-Arabic" panose="00000500000000000000" pitchFamily="2" charset="-78"/>
                <a:ea typeface="Arial" pitchFamily="34" charset="-122"/>
                <a:cs typeface="Montserrat-Arabic" panose="00000500000000000000" pitchFamily="2" charset="-78"/>
              </a:rPr>
              <a:t>11 / 14</a:t>
            </a:r>
            <a:endParaRPr lang="en-US" sz="900" dirty="0">
              <a:latin typeface="Montserrat-Arabic" panose="00000500000000000000" pitchFamily="2" charset="-78"/>
              <a:cs typeface="Montserrat-Arabic" panose="00000500000000000000" pitchFamily="2"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14867"/>
            <a:ext cx="9144000" cy="73152"/>
          </a:xfrm>
          <a:prstGeom prst="rect">
            <a:avLst/>
          </a:prstGeom>
          <a:solidFill>
            <a:srgbClr val="00B4D8"/>
          </a:solidFill>
          <a:ln w="12700">
            <a:solidFill>
              <a:srgbClr val="00B4D8"/>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4" name="Text 2"/>
          <p:cNvSpPr/>
          <p:nvPr/>
        </p:nvSpPr>
        <p:spPr>
          <a:xfrm>
            <a:off x="1764368" y="688304"/>
            <a:ext cx="8229600" cy="804672"/>
          </a:xfrm>
          <a:prstGeom prst="rect">
            <a:avLst/>
          </a:prstGeom>
          <a:noFill/>
          <a:ln/>
        </p:spPr>
        <p:txBody>
          <a:bodyPr wrap="square" lIns="0" tIns="0" rIns="0" bIns="0" rtlCol="0" anchor="ctr"/>
          <a:lstStyle/>
          <a:p>
            <a:pPr marL="0" indent="0" algn="ctr" rtl="1">
              <a:buNone/>
            </a:pPr>
            <a:r>
              <a:rPr lang="en-US" sz="3200" b="1" dirty="0">
                <a:solidFill>
                  <a:srgbClr val="FFFFFF"/>
                </a:solidFill>
                <a:latin typeface="Montserrat-Arabic" panose="00000500000000000000" pitchFamily="2" charset="-78"/>
                <a:ea typeface="Arial" pitchFamily="34" charset="-122"/>
                <a:cs typeface="Montserrat-Arabic" panose="00000500000000000000" pitchFamily="2" charset="-78"/>
              </a:rPr>
              <a:t>كل طالب يستحق أن يعرف</a:t>
            </a:r>
            <a:endParaRPr lang="en-US" sz="3200" dirty="0">
              <a:latin typeface="Montserrat-Arabic" panose="00000500000000000000" pitchFamily="2" charset="-78"/>
              <a:cs typeface="Montserrat-Arabic" panose="00000500000000000000" pitchFamily="2" charset="-78"/>
            </a:endParaRPr>
          </a:p>
        </p:txBody>
      </p:sp>
      <p:sp>
        <p:nvSpPr>
          <p:cNvPr id="5" name="Text 3"/>
          <p:cNvSpPr/>
          <p:nvPr/>
        </p:nvSpPr>
        <p:spPr>
          <a:xfrm>
            <a:off x="2087830" y="1417538"/>
            <a:ext cx="8229600" cy="685800"/>
          </a:xfrm>
          <a:prstGeom prst="rect">
            <a:avLst/>
          </a:prstGeom>
          <a:noFill/>
          <a:ln/>
        </p:spPr>
        <p:txBody>
          <a:bodyPr wrap="square" lIns="0" tIns="0" rIns="0" bIns="0" rtlCol="0" anchor="ctr"/>
          <a:lstStyle/>
          <a:p>
            <a:pPr marL="0" indent="0" algn="ctr" rtl="1">
              <a:buNone/>
            </a:pPr>
            <a:r>
              <a:rPr lang="en-US" sz="3200" b="1" dirty="0">
                <a:solidFill>
                  <a:srgbClr val="00B4D8"/>
                </a:solidFill>
                <a:latin typeface="Montserrat-Arabic" panose="00000500000000000000" pitchFamily="2" charset="-78"/>
                <a:ea typeface="Arial" pitchFamily="34" charset="-122"/>
                <a:cs typeface="Montserrat-Arabic" panose="00000500000000000000" pitchFamily="2" charset="-78"/>
              </a:rPr>
              <a:t>لماذا يدرس ما يدرس.</a:t>
            </a:r>
            <a:endParaRPr lang="en-US" sz="3200" dirty="0">
              <a:latin typeface="Montserrat-Arabic" panose="00000500000000000000" pitchFamily="2" charset="-78"/>
              <a:cs typeface="Montserrat-Arabic" panose="00000500000000000000" pitchFamily="2" charset="-78"/>
            </a:endParaRPr>
          </a:p>
        </p:txBody>
      </p:sp>
      <p:sp>
        <p:nvSpPr>
          <p:cNvPr id="6" name="Shape 4"/>
          <p:cNvSpPr/>
          <p:nvPr/>
        </p:nvSpPr>
        <p:spPr>
          <a:xfrm flipV="1">
            <a:off x="3060441" y="2192291"/>
            <a:ext cx="5699511" cy="45719"/>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7" name="Text 5"/>
          <p:cNvSpPr/>
          <p:nvPr/>
        </p:nvSpPr>
        <p:spPr>
          <a:xfrm>
            <a:off x="2911151" y="2345188"/>
            <a:ext cx="9144000" cy="658368"/>
          </a:xfrm>
          <a:prstGeom prst="rect">
            <a:avLst/>
          </a:prstGeom>
          <a:noFill/>
          <a:ln/>
        </p:spPr>
        <p:txBody>
          <a:bodyPr wrap="square" lIns="0" tIns="0" rIns="0" bIns="0" rtlCol="0" anchor="ctr"/>
          <a:lstStyle/>
          <a:p>
            <a:pPr marL="0" indent="0" algn="ctr" rtl="1">
              <a:buNone/>
            </a:pPr>
            <a:r>
              <a:rPr lang="en-US" sz="4000" b="1" dirty="0" err="1">
                <a:solidFill>
                  <a:srgbClr val="FFFFFF"/>
                </a:solidFill>
                <a:latin typeface="Montserrat-Arabic" panose="00000500000000000000" pitchFamily="2" charset="-78"/>
                <a:ea typeface="Arial" pitchFamily="34" charset="-122"/>
                <a:cs typeface="Montserrat-Arabic" panose="00000500000000000000" pitchFamily="2" charset="-78"/>
              </a:rPr>
              <a:t>مقرري</a:t>
            </a:r>
            <a:endParaRPr lang="en-US" sz="4000" dirty="0">
              <a:latin typeface="Montserrat-Arabic" panose="00000500000000000000" pitchFamily="2" charset="-78"/>
              <a:cs typeface="Montserrat-Arabic" panose="00000500000000000000" pitchFamily="2" charset="-78"/>
            </a:endParaRPr>
          </a:p>
        </p:txBody>
      </p:sp>
      <p:sp>
        <p:nvSpPr>
          <p:cNvPr id="8" name="Text 6"/>
          <p:cNvSpPr/>
          <p:nvPr/>
        </p:nvSpPr>
        <p:spPr>
          <a:xfrm>
            <a:off x="6202630" y="2448322"/>
            <a:ext cx="1828800" cy="658368"/>
          </a:xfrm>
          <a:prstGeom prst="rect">
            <a:avLst/>
          </a:prstGeom>
          <a:noFill/>
          <a:ln/>
        </p:spPr>
        <p:txBody>
          <a:bodyPr wrap="square" lIns="0" tIns="0" rIns="0" bIns="0" rtlCol="0" anchor="ctr"/>
          <a:lstStyle/>
          <a:p>
            <a:pPr marL="0" indent="0" algn="l">
              <a:buNone/>
            </a:pPr>
            <a:r>
              <a:rPr lang="en-US" sz="4000" b="1" dirty="0">
                <a:solidFill>
                  <a:srgbClr val="F5A623"/>
                </a:solidFill>
                <a:latin typeface="Montserrat-Arabic" panose="00000500000000000000" pitchFamily="2" charset="-78"/>
                <a:ea typeface="Arial" pitchFamily="34" charset="-122"/>
                <a:cs typeface="Montserrat-Arabic" panose="00000500000000000000" pitchFamily="2" charset="-78"/>
              </a:rPr>
              <a:t>+</a:t>
            </a:r>
            <a:endParaRPr lang="en-US" sz="4000" dirty="0">
              <a:latin typeface="Montserrat-Arabic" panose="00000500000000000000" pitchFamily="2" charset="-78"/>
              <a:cs typeface="Montserrat-Arabic" panose="00000500000000000000" pitchFamily="2" charset="-78"/>
            </a:endParaRPr>
          </a:p>
        </p:txBody>
      </p:sp>
      <p:sp>
        <p:nvSpPr>
          <p:cNvPr id="9" name="Text 7"/>
          <p:cNvSpPr/>
          <p:nvPr/>
        </p:nvSpPr>
        <p:spPr>
          <a:xfrm>
            <a:off x="457200" y="3383280"/>
            <a:ext cx="8229600" cy="411480"/>
          </a:xfrm>
          <a:prstGeom prst="rect">
            <a:avLst/>
          </a:prstGeom>
          <a:noFill/>
          <a:ln/>
        </p:spPr>
        <p:txBody>
          <a:bodyPr wrap="square" lIns="0" tIns="0" rIns="0" bIns="0" rtlCol="0" anchor="ctr"/>
          <a:lstStyle/>
          <a:p>
            <a:pPr marL="0" indent="0" algn="ctr" rtl="1">
              <a:buNone/>
            </a:pPr>
            <a:r>
              <a:rPr lang="en-US" sz="1100" dirty="0">
                <a:solidFill>
                  <a:srgbClr val="90B4CE"/>
                </a:solidFill>
                <a:latin typeface="Montserrat-Arabic" panose="00000500000000000000" pitchFamily="2" charset="-78"/>
                <a:ea typeface="Arial" pitchFamily="34" charset="-122"/>
                <a:cs typeface="Montserrat-Arabic" panose="00000500000000000000" pitchFamily="2" charset="-78"/>
              </a:rPr>
              <a:t>جسر المعرفة بين النظرية الأكاديمية والواقع الصناعي</a:t>
            </a:r>
            <a:endParaRPr lang="en-US" sz="1100" dirty="0">
              <a:latin typeface="Montserrat-Arabic" panose="00000500000000000000" pitchFamily="2" charset="-78"/>
              <a:cs typeface="Montserrat-Arabic" panose="00000500000000000000" pitchFamily="2" charset="-78"/>
            </a:endParaRPr>
          </a:p>
        </p:txBody>
      </p:sp>
      <p:sp>
        <p:nvSpPr>
          <p:cNvPr id="10" name="Shape 8"/>
          <p:cNvSpPr/>
          <p:nvPr/>
        </p:nvSpPr>
        <p:spPr>
          <a:xfrm>
            <a:off x="384048" y="3913632"/>
            <a:ext cx="8375904" cy="621792"/>
          </a:xfrm>
          <a:prstGeom prst="rect">
            <a:avLst/>
          </a:prstGeom>
          <a:solidFill>
            <a:srgbClr val="005F73"/>
          </a:solidFill>
          <a:ln w="12700">
            <a:solidFill>
              <a:srgbClr val="005F7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1" name="Text 9"/>
          <p:cNvSpPr/>
          <p:nvPr/>
        </p:nvSpPr>
        <p:spPr>
          <a:xfrm>
            <a:off x="65836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53 خبيراً</a:t>
            </a:r>
            <a:endParaRPr lang="en-US" sz="1100" dirty="0">
              <a:latin typeface="Montserrat-Arabic" panose="00000500000000000000" pitchFamily="2" charset="-78"/>
              <a:cs typeface="Montserrat-Arabic" panose="00000500000000000000" pitchFamily="2" charset="-78"/>
            </a:endParaRPr>
          </a:p>
        </p:txBody>
      </p:sp>
      <p:sp>
        <p:nvSpPr>
          <p:cNvPr id="12" name="Shape 10"/>
          <p:cNvSpPr/>
          <p:nvPr/>
        </p:nvSpPr>
        <p:spPr>
          <a:xfrm>
            <a:off x="2532888" y="4005072"/>
            <a:ext cx="27432" cy="438912"/>
          </a:xfrm>
          <a:prstGeom prst="rect">
            <a:avLst/>
          </a:prstGeom>
          <a:solidFill>
            <a:srgbClr val="FFFFFF">
              <a:alpha val="40000"/>
            </a:srgbClr>
          </a:solidFill>
          <a:ln w="12700">
            <a:solidFill>
              <a:srgbClr val="FFFFFF">
                <a:alpha val="4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3" name="Text 11"/>
          <p:cNvSpPr/>
          <p:nvPr/>
        </p:nvSpPr>
        <p:spPr>
          <a:xfrm>
            <a:off x="267004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386+ إثراء</a:t>
            </a:r>
            <a:endParaRPr lang="en-US" sz="1100" dirty="0">
              <a:latin typeface="Montserrat-Arabic" panose="00000500000000000000" pitchFamily="2" charset="-78"/>
              <a:cs typeface="Montserrat-Arabic" panose="00000500000000000000" pitchFamily="2" charset="-78"/>
            </a:endParaRPr>
          </a:p>
        </p:txBody>
      </p:sp>
      <p:sp>
        <p:nvSpPr>
          <p:cNvPr id="14" name="Shape 12"/>
          <p:cNvSpPr/>
          <p:nvPr/>
        </p:nvSpPr>
        <p:spPr>
          <a:xfrm>
            <a:off x="4544568" y="4005072"/>
            <a:ext cx="27432" cy="438912"/>
          </a:xfrm>
          <a:prstGeom prst="rect">
            <a:avLst/>
          </a:prstGeom>
          <a:solidFill>
            <a:srgbClr val="FFFFFF">
              <a:alpha val="40000"/>
            </a:srgbClr>
          </a:solidFill>
          <a:ln w="12700">
            <a:solidFill>
              <a:srgbClr val="FFFFFF">
                <a:alpha val="4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5" name="Text 13"/>
          <p:cNvSpPr/>
          <p:nvPr/>
        </p:nvSpPr>
        <p:spPr>
          <a:xfrm>
            <a:off x="468172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12 مقرراً</a:t>
            </a:r>
            <a:endParaRPr lang="en-US" sz="1100" dirty="0">
              <a:latin typeface="Montserrat-Arabic" panose="00000500000000000000" pitchFamily="2" charset="-78"/>
              <a:cs typeface="Montserrat-Arabic" panose="00000500000000000000" pitchFamily="2" charset="-78"/>
            </a:endParaRPr>
          </a:p>
        </p:txBody>
      </p:sp>
      <p:sp>
        <p:nvSpPr>
          <p:cNvPr id="16" name="Shape 14"/>
          <p:cNvSpPr/>
          <p:nvPr/>
        </p:nvSpPr>
        <p:spPr>
          <a:xfrm>
            <a:off x="6556248" y="4005072"/>
            <a:ext cx="27432" cy="438912"/>
          </a:xfrm>
          <a:prstGeom prst="rect">
            <a:avLst/>
          </a:prstGeom>
          <a:solidFill>
            <a:srgbClr val="FFFFFF">
              <a:alpha val="40000"/>
            </a:srgbClr>
          </a:solidFill>
          <a:ln w="12700">
            <a:solidFill>
              <a:srgbClr val="FFFFFF">
                <a:alpha val="4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7" name="Text 15"/>
          <p:cNvSpPr/>
          <p:nvPr/>
        </p:nvSpPr>
        <p:spPr>
          <a:xfrm>
            <a:off x="669340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المنصة تعمل الآن</a:t>
            </a:r>
            <a:endParaRPr lang="en-US" sz="1100" dirty="0">
              <a:latin typeface="Montserrat-Arabic" panose="00000500000000000000" pitchFamily="2" charset="-78"/>
              <a:cs typeface="Montserrat-Arabic" panose="00000500000000000000" pitchFamily="2" charset="-78"/>
            </a:endParaRPr>
          </a:p>
        </p:txBody>
      </p:sp>
      <p:sp>
        <p:nvSpPr>
          <p:cNvPr id="18" name="Text 16"/>
          <p:cNvSpPr/>
          <p:nvPr/>
        </p:nvSpPr>
        <p:spPr>
          <a:xfrm>
            <a:off x="457200" y="4626864"/>
            <a:ext cx="8229600" cy="274320"/>
          </a:xfrm>
          <a:prstGeom prst="rect">
            <a:avLst/>
          </a:prstGeom>
          <a:noFill/>
          <a:ln/>
        </p:spPr>
        <p:txBody>
          <a:bodyPr wrap="square" lIns="0" tIns="0" rIns="0" bIns="0" rtlCol="0" anchor="ctr"/>
          <a:lstStyle/>
          <a:p>
            <a:pPr marL="0" indent="0" algn="ctr" rtl="1">
              <a:buNone/>
            </a:pPr>
            <a:r>
              <a:rPr lang="en-US" sz="1050" dirty="0">
                <a:solidFill>
                  <a:srgbClr val="607080"/>
                </a:solidFill>
                <a:latin typeface="Montserrat-Arabic" panose="00000500000000000000" pitchFamily="2" charset="-78"/>
                <a:ea typeface="Arial" pitchFamily="34" charset="-122"/>
                <a:cs typeface="Montserrat-Arabic" panose="00000500000000000000" pitchFamily="2" charset="-78"/>
              </a:rPr>
              <a:t>شكراً لوقتكم — المنصة جاهزة للتجربة الحية الآن</a:t>
            </a:r>
            <a:endParaRPr lang="en-US" sz="1050" dirty="0">
              <a:latin typeface="Montserrat-Arabic" panose="00000500000000000000" pitchFamily="2" charset="-78"/>
              <a:cs typeface="Montserrat-Arabic" panose="00000500000000000000" pitchFamily="2" charset="-78"/>
            </a:endParaRPr>
          </a:p>
        </p:txBody>
      </p:sp>
      <p:sp>
        <p:nvSpPr>
          <p:cNvPr id="19" name="Shape 17"/>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20" name="Text 18"/>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00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1000" dirty="0">
              <a:latin typeface="Montserrat-Arabic" panose="00000500000000000000" pitchFamily="2" charset="-78"/>
              <a:cs typeface="Montserrat-Arabic" panose="00000500000000000000" pitchFamily="2" charset="-78"/>
            </a:endParaRPr>
          </a:p>
        </p:txBody>
      </p:sp>
      <p:pic>
        <p:nvPicPr>
          <p:cNvPr id="21" name="Picture 20" descr="شعار مقرري+">
            <a:extLst>
              <a:ext uri="{FF2B5EF4-FFF2-40B4-BE49-F238E27FC236}">
                <a16:creationId xmlns:a16="http://schemas.microsoft.com/office/drawing/2014/main" id="{2A4149A1-3EB2-5650-E59C-26A17B0A26A6}"/>
              </a:ext>
            </a:extLst>
          </p:cNvPr>
          <p:cNvPicPr>
            <a:picLocks noChangeAspect="1"/>
          </p:cNvPicPr>
          <p:nvPr/>
        </p:nvPicPr>
        <p:blipFill>
          <a:blip r:embed="rId3"/>
          <a:stretch>
            <a:fillRect/>
          </a:stretch>
        </p:blipFill>
        <p:spPr>
          <a:xfrm>
            <a:off x="106273" y="239251"/>
            <a:ext cx="2954168" cy="1969445"/>
          </a:xfrm>
          <a:prstGeom prst="rect">
            <a:avLst/>
          </a:prstGeom>
          <a:ln>
            <a:noFill/>
          </a:ln>
          <a:effectLst>
            <a:softEdge rad="112500"/>
          </a:effectLst>
        </p:spPr>
      </p:pic>
      <p:pic>
        <p:nvPicPr>
          <p:cNvPr id="23" name="Picture 22">
            <a:extLst>
              <a:ext uri="{FF2B5EF4-FFF2-40B4-BE49-F238E27FC236}">
                <a16:creationId xmlns:a16="http://schemas.microsoft.com/office/drawing/2014/main" id="{F3AB934D-A921-2922-D0BF-86A3BBB9419A}"/>
              </a:ext>
            </a:extLst>
          </p:cNvPr>
          <p:cNvPicPr>
            <a:picLocks noChangeAspect="1"/>
          </p:cNvPicPr>
          <p:nvPr/>
        </p:nvPicPr>
        <p:blipFill>
          <a:blip r:embed="rId4"/>
          <a:stretch>
            <a:fillRect/>
          </a:stretch>
        </p:blipFill>
        <p:spPr>
          <a:xfrm>
            <a:off x="839024" y="2377860"/>
            <a:ext cx="1310790" cy="13107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a:extLst>
            <a:ext uri="{FF2B5EF4-FFF2-40B4-BE49-F238E27FC236}">
              <a16:creationId xmlns:a16="http://schemas.microsoft.com/office/drawing/2014/main" id="{4F856A8A-BC61-60F8-A644-17C696B6927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E340B84-4A29-A15E-D5B8-500ED4A74492}"/>
              </a:ext>
            </a:extLst>
          </p:cNvPr>
          <p:cNvSpPr/>
          <p:nvPr/>
        </p:nvSpPr>
        <p:spPr>
          <a:xfrm>
            <a:off x="0" y="-14867"/>
            <a:ext cx="9144000" cy="73152"/>
          </a:xfrm>
          <a:prstGeom prst="rect">
            <a:avLst/>
          </a:prstGeom>
          <a:solidFill>
            <a:srgbClr val="00B4D8"/>
          </a:solidFill>
          <a:ln w="12700">
            <a:solidFill>
              <a:srgbClr val="00B4D8"/>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4" name="Text 2">
            <a:extLst>
              <a:ext uri="{FF2B5EF4-FFF2-40B4-BE49-F238E27FC236}">
                <a16:creationId xmlns:a16="http://schemas.microsoft.com/office/drawing/2014/main" id="{CDE3BD08-2C15-1127-76B7-E3F2BCB79595}"/>
              </a:ext>
            </a:extLst>
          </p:cNvPr>
          <p:cNvSpPr/>
          <p:nvPr/>
        </p:nvSpPr>
        <p:spPr>
          <a:xfrm>
            <a:off x="1764368" y="688304"/>
            <a:ext cx="8229600" cy="804672"/>
          </a:xfrm>
          <a:prstGeom prst="rect">
            <a:avLst/>
          </a:prstGeom>
          <a:noFill/>
          <a:ln/>
        </p:spPr>
        <p:txBody>
          <a:bodyPr wrap="square" lIns="0" tIns="0" rIns="0" bIns="0" rtlCol="0" anchor="ctr"/>
          <a:lstStyle/>
          <a:p>
            <a:pPr marL="0" indent="0" algn="ctr" rtl="1">
              <a:buNone/>
            </a:pPr>
            <a:r>
              <a:rPr lang="en-US" sz="3200" b="1" dirty="0">
                <a:solidFill>
                  <a:srgbClr val="FFFFFF"/>
                </a:solidFill>
                <a:latin typeface="Montserrat-Arabic" panose="00000500000000000000" pitchFamily="2" charset="-78"/>
                <a:ea typeface="Arial" pitchFamily="34" charset="-122"/>
                <a:cs typeface="Montserrat-Arabic" panose="00000500000000000000" pitchFamily="2" charset="-78"/>
              </a:rPr>
              <a:t>كل طالب يستحق أن يعرف</a:t>
            </a:r>
            <a:endParaRPr lang="en-US" sz="3200" dirty="0">
              <a:latin typeface="Montserrat-Arabic" panose="00000500000000000000" pitchFamily="2" charset="-78"/>
              <a:cs typeface="Montserrat-Arabic" panose="00000500000000000000" pitchFamily="2" charset="-78"/>
            </a:endParaRPr>
          </a:p>
        </p:txBody>
      </p:sp>
      <p:sp>
        <p:nvSpPr>
          <p:cNvPr id="5" name="Text 3">
            <a:extLst>
              <a:ext uri="{FF2B5EF4-FFF2-40B4-BE49-F238E27FC236}">
                <a16:creationId xmlns:a16="http://schemas.microsoft.com/office/drawing/2014/main" id="{6553B41D-326D-0738-FBB0-61AEFE14126D}"/>
              </a:ext>
            </a:extLst>
          </p:cNvPr>
          <p:cNvSpPr/>
          <p:nvPr/>
        </p:nvSpPr>
        <p:spPr>
          <a:xfrm>
            <a:off x="2087830" y="1417538"/>
            <a:ext cx="8229600" cy="685800"/>
          </a:xfrm>
          <a:prstGeom prst="rect">
            <a:avLst/>
          </a:prstGeom>
          <a:noFill/>
          <a:ln/>
        </p:spPr>
        <p:txBody>
          <a:bodyPr wrap="square" lIns="0" tIns="0" rIns="0" bIns="0" rtlCol="0" anchor="ctr"/>
          <a:lstStyle/>
          <a:p>
            <a:pPr marL="0" indent="0" algn="ctr" rtl="1">
              <a:buNone/>
            </a:pPr>
            <a:r>
              <a:rPr lang="en-US" sz="3200" b="1" dirty="0">
                <a:solidFill>
                  <a:srgbClr val="00B4D8"/>
                </a:solidFill>
                <a:latin typeface="Montserrat-Arabic" panose="00000500000000000000" pitchFamily="2" charset="-78"/>
                <a:ea typeface="Arial" pitchFamily="34" charset="-122"/>
                <a:cs typeface="Montserrat-Arabic" panose="00000500000000000000" pitchFamily="2" charset="-78"/>
              </a:rPr>
              <a:t>لماذا يدرس ما يدرس.</a:t>
            </a:r>
            <a:endParaRPr lang="en-US" sz="3200" dirty="0">
              <a:latin typeface="Montserrat-Arabic" panose="00000500000000000000" pitchFamily="2" charset="-78"/>
              <a:cs typeface="Montserrat-Arabic" panose="00000500000000000000" pitchFamily="2" charset="-78"/>
            </a:endParaRPr>
          </a:p>
        </p:txBody>
      </p:sp>
      <p:sp>
        <p:nvSpPr>
          <p:cNvPr id="6" name="Shape 4">
            <a:extLst>
              <a:ext uri="{FF2B5EF4-FFF2-40B4-BE49-F238E27FC236}">
                <a16:creationId xmlns:a16="http://schemas.microsoft.com/office/drawing/2014/main" id="{2AB9918C-2766-7BDB-81B4-76D452BFB448}"/>
              </a:ext>
            </a:extLst>
          </p:cNvPr>
          <p:cNvSpPr/>
          <p:nvPr/>
        </p:nvSpPr>
        <p:spPr>
          <a:xfrm flipV="1">
            <a:off x="3060441" y="2192291"/>
            <a:ext cx="5699511" cy="45719"/>
          </a:xfrm>
          <a:prstGeom prst="rect">
            <a:avLst/>
          </a:prstGeom>
          <a:solidFill>
            <a:srgbClr val="F5A623"/>
          </a:solidFill>
          <a:ln w="12700">
            <a:solidFill>
              <a:srgbClr val="F5A62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7" name="Text 5">
            <a:extLst>
              <a:ext uri="{FF2B5EF4-FFF2-40B4-BE49-F238E27FC236}">
                <a16:creationId xmlns:a16="http://schemas.microsoft.com/office/drawing/2014/main" id="{B69A8EBC-6F7C-A324-E87B-11FFFD2CFC1C}"/>
              </a:ext>
            </a:extLst>
          </p:cNvPr>
          <p:cNvSpPr/>
          <p:nvPr/>
        </p:nvSpPr>
        <p:spPr>
          <a:xfrm>
            <a:off x="2911151" y="2345188"/>
            <a:ext cx="9144000" cy="658368"/>
          </a:xfrm>
          <a:prstGeom prst="rect">
            <a:avLst/>
          </a:prstGeom>
          <a:noFill/>
          <a:ln/>
        </p:spPr>
        <p:txBody>
          <a:bodyPr wrap="square" lIns="0" tIns="0" rIns="0" bIns="0" rtlCol="0" anchor="ctr"/>
          <a:lstStyle/>
          <a:p>
            <a:pPr marL="0" indent="0" algn="ctr" rtl="1">
              <a:buNone/>
            </a:pPr>
            <a:r>
              <a:rPr lang="en-US" sz="4000" b="1" dirty="0" err="1">
                <a:solidFill>
                  <a:srgbClr val="FFFFFF"/>
                </a:solidFill>
                <a:latin typeface="Montserrat-Arabic" panose="00000500000000000000" pitchFamily="2" charset="-78"/>
                <a:ea typeface="Arial" pitchFamily="34" charset="-122"/>
                <a:cs typeface="Montserrat-Arabic" panose="00000500000000000000" pitchFamily="2" charset="-78"/>
              </a:rPr>
              <a:t>مقرري</a:t>
            </a:r>
            <a:endParaRPr lang="en-US" sz="4000" dirty="0">
              <a:latin typeface="Montserrat-Arabic" panose="00000500000000000000" pitchFamily="2" charset="-78"/>
              <a:cs typeface="Montserrat-Arabic" panose="00000500000000000000" pitchFamily="2" charset="-78"/>
            </a:endParaRPr>
          </a:p>
        </p:txBody>
      </p:sp>
      <p:sp>
        <p:nvSpPr>
          <p:cNvPr id="8" name="Text 6">
            <a:extLst>
              <a:ext uri="{FF2B5EF4-FFF2-40B4-BE49-F238E27FC236}">
                <a16:creationId xmlns:a16="http://schemas.microsoft.com/office/drawing/2014/main" id="{8D664009-47A9-B31D-F61F-0A1B15FF634D}"/>
              </a:ext>
            </a:extLst>
          </p:cNvPr>
          <p:cNvSpPr/>
          <p:nvPr/>
        </p:nvSpPr>
        <p:spPr>
          <a:xfrm>
            <a:off x="6202630" y="2448322"/>
            <a:ext cx="1828800" cy="658368"/>
          </a:xfrm>
          <a:prstGeom prst="rect">
            <a:avLst/>
          </a:prstGeom>
          <a:noFill/>
          <a:ln/>
        </p:spPr>
        <p:txBody>
          <a:bodyPr wrap="square" lIns="0" tIns="0" rIns="0" bIns="0" rtlCol="0" anchor="ctr"/>
          <a:lstStyle/>
          <a:p>
            <a:pPr marL="0" indent="0" algn="l">
              <a:buNone/>
            </a:pPr>
            <a:r>
              <a:rPr lang="en-US" sz="4000" b="1" dirty="0">
                <a:solidFill>
                  <a:srgbClr val="F5A623"/>
                </a:solidFill>
                <a:latin typeface="Montserrat-Arabic" panose="00000500000000000000" pitchFamily="2" charset="-78"/>
                <a:ea typeface="Arial" pitchFamily="34" charset="-122"/>
                <a:cs typeface="Montserrat-Arabic" panose="00000500000000000000" pitchFamily="2" charset="-78"/>
              </a:rPr>
              <a:t>+</a:t>
            </a:r>
            <a:endParaRPr lang="en-US" sz="4000" dirty="0">
              <a:latin typeface="Montserrat-Arabic" panose="00000500000000000000" pitchFamily="2" charset="-78"/>
              <a:cs typeface="Montserrat-Arabic" panose="00000500000000000000" pitchFamily="2" charset="-78"/>
            </a:endParaRPr>
          </a:p>
        </p:txBody>
      </p:sp>
      <p:sp>
        <p:nvSpPr>
          <p:cNvPr id="9" name="Text 7">
            <a:extLst>
              <a:ext uri="{FF2B5EF4-FFF2-40B4-BE49-F238E27FC236}">
                <a16:creationId xmlns:a16="http://schemas.microsoft.com/office/drawing/2014/main" id="{EFF4C82C-A490-F853-23BD-5CF8F39A3CC6}"/>
              </a:ext>
            </a:extLst>
          </p:cNvPr>
          <p:cNvSpPr/>
          <p:nvPr/>
        </p:nvSpPr>
        <p:spPr>
          <a:xfrm>
            <a:off x="457200" y="3383280"/>
            <a:ext cx="8229600" cy="411480"/>
          </a:xfrm>
          <a:prstGeom prst="rect">
            <a:avLst/>
          </a:prstGeom>
          <a:noFill/>
          <a:ln/>
        </p:spPr>
        <p:txBody>
          <a:bodyPr wrap="square" lIns="0" tIns="0" rIns="0" bIns="0" rtlCol="0" anchor="ctr"/>
          <a:lstStyle/>
          <a:p>
            <a:pPr marL="0" indent="0" algn="ctr" rtl="1">
              <a:buNone/>
            </a:pPr>
            <a:r>
              <a:rPr lang="en-US" sz="1100" dirty="0">
                <a:solidFill>
                  <a:srgbClr val="90B4CE"/>
                </a:solidFill>
                <a:latin typeface="Montserrat-Arabic" panose="00000500000000000000" pitchFamily="2" charset="-78"/>
                <a:ea typeface="Arial" pitchFamily="34" charset="-122"/>
                <a:cs typeface="Montserrat-Arabic" panose="00000500000000000000" pitchFamily="2" charset="-78"/>
              </a:rPr>
              <a:t>جسر المعرفة بين النظرية الأكاديمية والواقع الصناعي</a:t>
            </a:r>
            <a:endParaRPr lang="en-US" sz="1100" dirty="0">
              <a:latin typeface="Montserrat-Arabic" panose="00000500000000000000" pitchFamily="2" charset="-78"/>
              <a:cs typeface="Montserrat-Arabic" panose="00000500000000000000" pitchFamily="2" charset="-78"/>
            </a:endParaRPr>
          </a:p>
        </p:txBody>
      </p:sp>
      <p:sp>
        <p:nvSpPr>
          <p:cNvPr id="10" name="Shape 8">
            <a:extLst>
              <a:ext uri="{FF2B5EF4-FFF2-40B4-BE49-F238E27FC236}">
                <a16:creationId xmlns:a16="http://schemas.microsoft.com/office/drawing/2014/main" id="{0F5B5F19-1B4C-BC51-B1FE-749AB083ACDA}"/>
              </a:ext>
            </a:extLst>
          </p:cNvPr>
          <p:cNvSpPr/>
          <p:nvPr/>
        </p:nvSpPr>
        <p:spPr>
          <a:xfrm>
            <a:off x="384048" y="3913632"/>
            <a:ext cx="8375904" cy="621792"/>
          </a:xfrm>
          <a:prstGeom prst="rect">
            <a:avLst/>
          </a:prstGeom>
          <a:solidFill>
            <a:srgbClr val="005F73"/>
          </a:solidFill>
          <a:ln w="12700">
            <a:solidFill>
              <a:srgbClr val="005F73"/>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1" name="Text 9">
            <a:extLst>
              <a:ext uri="{FF2B5EF4-FFF2-40B4-BE49-F238E27FC236}">
                <a16:creationId xmlns:a16="http://schemas.microsoft.com/office/drawing/2014/main" id="{B9B406FC-3492-FD19-D5D1-965B5E1FA643}"/>
              </a:ext>
            </a:extLst>
          </p:cNvPr>
          <p:cNvSpPr/>
          <p:nvPr/>
        </p:nvSpPr>
        <p:spPr>
          <a:xfrm>
            <a:off x="65836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53 خبيراً</a:t>
            </a:r>
            <a:endParaRPr lang="en-US" sz="1100" dirty="0">
              <a:latin typeface="Montserrat-Arabic" panose="00000500000000000000" pitchFamily="2" charset="-78"/>
              <a:cs typeface="Montserrat-Arabic" panose="00000500000000000000" pitchFamily="2" charset="-78"/>
            </a:endParaRPr>
          </a:p>
        </p:txBody>
      </p:sp>
      <p:sp>
        <p:nvSpPr>
          <p:cNvPr id="12" name="Shape 10">
            <a:extLst>
              <a:ext uri="{FF2B5EF4-FFF2-40B4-BE49-F238E27FC236}">
                <a16:creationId xmlns:a16="http://schemas.microsoft.com/office/drawing/2014/main" id="{65E3E147-C154-F1B3-D12B-4D10DFC0DAAF}"/>
              </a:ext>
            </a:extLst>
          </p:cNvPr>
          <p:cNvSpPr/>
          <p:nvPr/>
        </p:nvSpPr>
        <p:spPr>
          <a:xfrm>
            <a:off x="2532888" y="4005072"/>
            <a:ext cx="27432" cy="438912"/>
          </a:xfrm>
          <a:prstGeom prst="rect">
            <a:avLst/>
          </a:prstGeom>
          <a:solidFill>
            <a:srgbClr val="FFFFFF">
              <a:alpha val="40000"/>
            </a:srgbClr>
          </a:solidFill>
          <a:ln w="12700">
            <a:solidFill>
              <a:srgbClr val="FFFFFF">
                <a:alpha val="4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3" name="Text 11">
            <a:extLst>
              <a:ext uri="{FF2B5EF4-FFF2-40B4-BE49-F238E27FC236}">
                <a16:creationId xmlns:a16="http://schemas.microsoft.com/office/drawing/2014/main" id="{5B5600B3-C2D7-9500-D4EA-9F33C28C9F12}"/>
              </a:ext>
            </a:extLst>
          </p:cNvPr>
          <p:cNvSpPr/>
          <p:nvPr/>
        </p:nvSpPr>
        <p:spPr>
          <a:xfrm>
            <a:off x="267004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386+ إثراء</a:t>
            </a:r>
            <a:endParaRPr lang="en-US" sz="1100" dirty="0">
              <a:latin typeface="Montserrat-Arabic" panose="00000500000000000000" pitchFamily="2" charset="-78"/>
              <a:cs typeface="Montserrat-Arabic" panose="00000500000000000000" pitchFamily="2" charset="-78"/>
            </a:endParaRPr>
          </a:p>
        </p:txBody>
      </p:sp>
      <p:sp>
        <p:nvSpPr>
          <p:cNvPr id="14" name="Shape 12">
            <a:extLst>
              <a:ext uri="{FF2B5EF4-FFF2-40B4-BE49-F238E27FC236}">
                <a16:creationId xmlns:a16="http://schemas.microsoft.com/office/drawing/2014/main" id="{DA7303B2-44B9-C681-577A-44275CDF4E73}"/>
              </a:ext>
            </a:extLst>
          </p:cNvPr>
          <p:cNvSpPr/>
          <p:nvPr/>
        </p:nvSpPr>
        <p:spPr>
          <a:xfrm>
            <a:off x="4544568" y="4005072"/>
            <a:ext cx="27432" cy="438912"/>
          </a:xfrm>
          <a:prstGeom prst="rect">
            <a:avLst/>
          </a:prstGeom>
          <a:solidFill>
            <a:srgbClr val="FFFFFF">
              <a:alpha val="40000"/>
            </a:srgbClr>
          </a:solidFill>
          <a:ln w="12700">
            <a:solidFill>
              <a:srgbClr val="FFFFFF">
                <a:alpha val="4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5" name="Text 13">
            <a:extLst>
              <a:ext uri="{FF2B5EF4-FFF2-40B4-BE49-F238E27FC236}">
                <a16:creationId xmlns:a16="http://schemas.microsoft.com/office/drawing/2014/main" id="{63CD2D44-149E-D675-04AC-09A4E9114E01}"/>
              </a:ext>
            </a:extLst>
          </p:cNvPr>
          <p:cNvSpPr/>
          <p:nvPr/>
        </p:nvSpPr>
        <p:spPr>
          <a:xfrm>
            <a:off x="468172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12 مقرراً</a:t>
            </a:r>
            <a:endParaRPr lang="en-US" sz="1100" dirty="0">
              <a:latin typeface="Montserrat-Arabic" panose="00000500000000000000" pitchFamily="2" charset="-78"/>
              <a:cs typeface="Montserrat-Arabic" panose="00000500000000000000" pitchFamily="2" charset="-78"/>
            </a:endParaRPr>
          </a:p>
        </p:txBody>
      </p:sp>
      <p:sp>
        <p:nvSpPr>
          <p:cNvPr id="16" name="Shape 14">
            <a:extLst>
              <a:ext uri="{FF2B5EF4-FFF2-40B4-BE49-F238E27FC236}">
                <a16:creationId xmlns:a16="http://schemas.microsoft.com/office/drawing/2014/main" id="{00BB9EB3-451E-7FFF-F553-D17E58B034EC}"/>
              </a:ext>
            </a:extLst>
          </p:cNvPr>
          <p:cNvSpPr/>
          <p:nvPr/>
        </p:nvSpPr>
        <p:spPr>
          <a:xfrm>
            <a:off x="6556248" y="4005072"/>
            <a:ext cx="27432" cy="438912"/>
          </a:xfrm>
          <a:prstGeom prst="rect">
            <a:avLst/>
          </a:prstGeom>
          <a:solidFill>
            <a:srgbClr val="FFFFFF">
              <a:alpha val="40000"/>
            </a:srgbClr>
          </a:solidFill>
          <a:ln w="12700">
            <a:solidFill>
              <a:srgbClr val="FFFFFF">
                <a:alpha val="40000"/>
              </a:srgbClr>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17" name="Text 15">
            <a:extLst>
              <a:ext uri="{FF2B5EF4-FFF2-40B4-BE49-F238E27FC236}">
                <a16:creationId xmlns:a16="http://schemas.microsoft.com/office/drawing/2014/main" id="{45924C0D-DAD6-39DC-0392-309AC8A8EEB3}"/>
              </a:ext>
            </a:extLst>
          </p:cNvPr>
          <p:cNvSpPr/>
          <p:nvPr/>
        </p:nvSpPr>
        <p:spPr>
          <a:xfrm>
            <a:off x="6693408" y="3931920"/>
            <a:ext cx="1828800" cy="585216"/>
          </a:xfrm>
          <a:prstGeom prst="rect">
            <a:avLst/>
          </a:prstGeom>
          <a:noFill/>
          <a:ln/>
        </p:spPr>
        <p:txBody>
          <a:bodyPr wrap="square" lIns="0" tIns="0" rIns="0" bIns="0" rtlCol="0" anchor="ctr"/>
          <a:lstStyle/>
          <a:p>
            <a:pPr marL="0" indent="0" algn="l" rtl="1">
              <a:buNone/>
            </a:pPr>
            <a:r>
              <a:rPr lang="en-US" sz="1100" b="1" dirty="0">
                <a:solidFill>
                  <a:srgbClr val="FFFFFF"/>
                </a:solidFill>
                <a:latin typeface="Montserrat-Arabic" panose="00000500000000000000" pitchFamily="2" charset="-78"/>
                <a:ea typeface="Arial" pitchFamily="34" charset="-122"/>
                <a:cs typeface="Montserrat-Arabic" panose="00000500000000000000" pitchFamily="2" charset="-78"/>
              </a:rPr>
              <a:t>المنصة تعمل الآن</a:t>
            </a:r>
            <a:endParaRPr lang="en-US" sz="1100" dirty="0">
              <a:latin typeface="Montserrat-Arabic" panose="00000500000000000000" pitchFamily="2" charset="-78"/>
              <a:cs typeface="Montserrat-Arabic" panose="00000500000000000000" pitchFamily="2" charset="-78"/>
            </a:endParaRPr>
          </a:p>
        </p:txBody>
      </p:sp>
      <p:sp>
        <p:nvSpPr>
          <p:cNvPr id="18" name="Text 16">
            <a:extLst>
              <a:ext uri="{FF2B5EF4-FFF2-40B4-BE49-F238E27FC236}">
                <a16:creationId xmlns:a16="http://schemas.microsoft.com/office/drawing/2014/main" id="{5A430FB1-5320-F0A7-A7EA-882D5FFC0743}"/>
              </a:ext>
            </a:extLst>
          </p:cNvPr>
          <p:cNvSpPr/>
          <p:nvPr/>
        </p:nvSpPr>
        <p:spPr>
          <a:xfrm>
            <a:off x="457200" y="4626864"/>
            <a:ext cx="8229600" cy="274320"/>
          </a:xfrm>
          <a:prstGeom prst="rect">
            <a:avLst/>
          </a:prstGeom>
          <a:noFill/>
          <a:ln/>
        </p:spPr>
        <p:txBody>
          <a:bodyPr wrap="square" lIns="0" tIns="0" rIns="0" bIns="0" rtlCol="0" anchor="ctr"/>
          <a:lstStyle/>
          <a:p>
            <a:pPr marL="0" indent="0" algn="ctr" rtl="1">
              <a:buNone/>
            </a:pPr>
            <a:r>
              <a:rPr lang="en-US" sz="1050" dirty="0">
                <a:solidFill>
                  <a:srgbClr val="607080"/>
                </a:solidFill>
                <a:latin typeface="Montserrat-Arabic" panose="00000500000000000000" pitchFamily="2" charset="-78"/>
                <a:ea typeface="Arial" pitchFamily="34" charset="-122"/>
                <a:cs typeface="Montserrat-Arabic" panose="00000500000000000000" pitchFamily="2" charset="-78"/>
              </a:rPr>
              <a:t>شكراً لوقتكم — المنصة جاهزة للتجربة الحية الآن</a:t>
            </a:r>
            <a:endParaRPr lang="en-US" sz="1050" dirty="0">
              <a:latin typeface="Montserrat-Arabic" panose="00000500000000000000" pitchFamily="2" charset="-78"/>
              <a:cs typeface="Montserrat-Arabic" panose="00000500000000000000" pitchFamily="2" charset="-78"/>
            </a:endParaRPr>
          </a:p>
        </p:txBody>
      </p:sp>
      <p:sp>
        <p:nvSpPr>
          <p:cNvPr id="19" name="Shape 17">
            <a:extLst>
              <a:ext uri="{FF2B5EF4-FFF2-40B4-BE49-F238E27FC236}">
                <a16:creationId xmlns:a16="http://schemas.microsoft.com/office/drawing/2014/main" id="{20E4A6D0-09CF-5048-9B6A-DCD2251F998A}"/>
              </a:ext>
            </a:extLst>
          </p:cNvPr>
          <p:cNvSpPr/>
          <p:nvPr/>
        </p:nvSpPr>
        <p:spPr>
          <a:xfrm>
            <a:off x="0" y="5070348"/>
            <a:ext cx="9144000" cy="73152"/>
          </a:xfrm>
          <a:prstGeom prst="rect">
            <a:avLst/>
          </a:prstGeom>
          <a:solidFill>
            <a:srgbClr val="00B4D8"/>
          </a:solidFill>
          <a:ln w="12700">
            <a:solidFill>
              <a:srgbClr val="00B4D8"/>
            </a:solidFill>
            <a:prstDash val="solid"/>
          </a:ln>
        </p:spPr>
        <p:txBody>
          <a:bodyPr/>
          <a:lstStyle/>
          <a:p>
            <a:endParaRPr lang="ar-SA" sz="1200">
              <a:latin typeface="Montserrat-Arabic" panose="00000500000000000000" pitchFamily="2" charset="-78"/>
              <a:cs typeface="Montserrat-Arabic" panose="00000500000000000000" pitchFamily="2" charset="-78"/>
            </a:endParaRPr>
          </a:p>
        </p:txBody>
      </p:sp>
      <p:sp>
        <p:nvSpPr>
          <p:cNvPr id="20" name="Text 18">
            <a:extLst>
              <a:ext uri="{FF2B5EF4-FFF2-40B4-BE49-F238E27FC236}">
                <a16:creationId xmlns:a16="http://schemas.microsoft.com/office/drawing/2014/main" id="{36D846E8-5309-7FB9-EB0E-CD4D9B2B3D28}"/>
              </a:ext>
            </a:extLst>
          </p:cNvPr>
          <p:cNvSpPr/>
          <p:nvPr/>
        </p:nvSpPr>
        <p:spPr>
          <a:xfrm>
            <a:off x="384048" y="4773168"/>
            <a:ext cx="1097280" cy="228600"/>
          </a:xfrm>
          <a:prstGeom prst="rect">
            <a:avLst/>
          </a:prstGeom>
          <a:noFill/>
          <a:ln/>
        </p:spPr>
        <p:txBody>
          <a:bodyPr wrap="square" lIns="0" tIns="0" rIns="0" bIns="0" rtlCol="0" anchor="ctr"/>
          <a:lstStyle/>
          <a:p>
            <a:pPr marL="0" indent="0" algn="l">
              <a:buNone/>
            </a:pPr>
            <a:r>
              <a:rPr lang="en-US" sz="1000" b="1" dirty="0">
                <a:solidFill>
                  <a:srgbClr val="00B4D8"/>
                </a:solidFill>
                <a:latin typeface="Montserrat-Arabic" panose="00000500000000000000" pitchFamily="2" charset="-78"/>
                <a:ea typeface="Arial" pitchFamily="34" charset="-122"/>
                <a:cs typeface="Montserrat-Arabic" panose="00000500000000000000" pitchFamily="2" charset="-78"/>
              </a:rPr>
              <a:t>مقرري+</a:t>
            </a:r>
            <a:endParaRPr lang="en-US" sz="1000" dirty="0">
              <a:latin typeface="Montserrat-Arabic" panose="00000500000000000000" pitchFamily="2" charset="-78"/>
              <a:cs typeface="Montserrat-Arabic" panose="00000500000000000000" pitchFamily="2" charset="-78"/>
            </a:endParaRPr>
          </a:p>
        </p:txBody>
      </p:sp>
      <p:pic>
        <p:nvPicPr>
          <p:cNvPr id="23" name="Picture 22">
            <a:extLst>
              <a:ext uri="{FF2B5EF4-FFF2-40B4-BE49-F238E27FC236}">
                <a16:creationId xmlns:a16="http://schemas.microsoft.com/office/drawing/2014/main" id="{258C5077-7B01-B85F-B8A0-3B927AA3C0C0}"/>
              </a:ext>
            </a:extLst>
          </p:cNvPr>
          <p:cNvPicPr>
            <a:picLocks noChangeAspect="1"/>
          </p:cNvPicPr>
          <p:nvPr/>
        </p:nvPicPr>
        <p:blipFill>
          <a:blip r:embed="rId3"/>
          <a:stretch>
            <a:fillRect/>
          </a:stretch>
        </p:blipFill>
        <p:spPr>
          <a:xfrm>
            <a:off x="242479" y="885238"/>
            <a:ext cx="1064600" cy="1064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26" name="Picture 2" descr="شعار مقرري+">
            <a:extLst>
              <a:ext uri="{FF2B5EF4-FFF2-40B4-BE49-F238E27FC236}">
                <a16:creationId xmlns:a16="http://schemas.microsoft.com/office/drawing/2014/main" id="{F10ABFDA-CFA7-6843-AD08-EC5E6F6B5D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1720" y="1064904"/>
            <a:ext cx="1099880" cy="73325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1028" name="Picture 4" descr="‪Git &amp; Github‬‏">
            <a:extLst>
              <a:ext uri="{FF2B5EF4-FFF2-40B4-BE49-F238E27FC236}">
                <a16:creationId xmlns:a16="http://schemas.microsoft.com/office/drawing/2014/main" id="{EFA44F16-BF13-2874-E8B5-A9A455A368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5448" y="2328181"/>
            <a:ext cx="1139170" cy="63793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3A4D4EA-8C4C-204C-3BBF-F1A824FCD8C2}"/>
              </a:ext>
            </a:extLst>
          </p:cNvPr>
          <p:cNvPicPr>
            <a:picLocks noChangeAspect="1"/>
          </p:cNvPicPr>
          <p:nvPr/>
        </p:nvPicPr>
        <p:blipFill>
          <a:blip r:embed="rId3"/>
          <a:stretch>
            <a:fillRect/>
          </a:stretch>
        </p:blipFill>
        <p:spPr>
          <a:xfrm flipH="1">
            <a:off x="242479" y="2287457"/>
            <a:ext cx="1004383" cy="1004383"/>
          </a:xfrm>
          <a:prstGeom prst="rect">
            <a:avLst/>
          </a:prstGeom>
        </p:spPr>
      </p:pic>
    </p:spTree>
    <p:extLst>
      <p:ext uri="{BB962C8B-B14F-4D97-AF65-F5344CB8AC3E}">
        <p14:creationId xmlns:p14="http://schemas.microsoft.com/office/powerpoint/2010/main" val="1984314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1007</Words>
  <Application>Microsoft Office PowerPoint</Application>
  <PresentationFormat>On-screen Show (16:9)</PresentationFormat>
  <Paragraphs>258</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Montserrat-Arabic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مقرري+ — جسر المعرفة بين الأكاديمية والصناعة</dc:title>
  <dc:subject>PptxGenJS Presentation</dc:subject>
  <dc:creator>فريق مقرري+</dc:creator>
  <cp:lastModifiedBy>Mohamed Amar</cp:lastModifiedBy>
  <cp:revision>4</cp:revision>
  <dcterms:created xsi:type="dcterms:W3CDTF">2026-04-02T17:48:25Z</dcterms:created>
  <dcterms:modified xsi:type="dcterms:W3CDTF">2026-04-02T20:41:44Z</dcterms:modified>
</cp:coreProperties>
</file>